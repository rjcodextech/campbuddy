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hamma Ghani" id="{31d6c764-61e8-6439-3173-cb2888edda37}">
          <p14:sldIdLst>
            <p14:sldId id="256"/>
            <p14:sldId id="257"/>
            <p14:sldId id="258"/>
          </p14:sldIdLst>
        </p14:section>
        <p14:section name="Multisite 101" id="{d366f9a9-f9b3-1764-53e6-28b6d0063e0f}">
          <p14:sldIdLst>
            <p14:sldId id="259"/>
            <p14:sldId id="260"/>
          </p14:sldIdLst>
        </p14:section>
        <p14:section name="Kab use karein" id="{51c015d9-f9c8-efcc-350b-694ba446be7b}">
          <p14:sldIdLst>
            <p14:sldId id="261"/>
            <p14:sldId id="262"/>
            <p14:sldId id="263"/>
          </p14:sldIdLst>
        </p14:section>
        <p14:section name="Setup" id="{fe452d8e-1e91-4d7a-5b45-37b5ec7994b1}">
          <p14:sldIdLst>
            <p14:sldId id="264"/>
            <p14:sldId id="265"/>
            <p14:sldId id="266"/>
          </p14:sldIdLst>
        </p14:section>
        <p14:section name="Dard aur Dawa" id="{6e3cd54e-58b1-0d79-fed6-47c6e6959961}">
          <p14:sldIdLst>
            <p14:sldId id="267"/>
            <p14:sldId id="268"/>
            <p14:sldId id="269"/>
          </p14:sldIdLst>
        </p14:section>
        <p14:section name="Dhanyavaad" id="{2b1c04e5-a438-0de6-3ce3-6f763cca4d64}">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Khamma Ghani Jaipur! Padharo mhare desh — aur aaj padharo mhare network mein. Main Prathamesh, aur aaj hum baat karenge us feature ki jiske baare mein sab sunte hain par koi poochta nahi: WordPress Multisite. Ek install, hazaar sites. Seatbelt baandh lo, camel ki sawari shuru.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CampusPress aur Edublogs pe hum education ke liye bahut bade Multisite networks chalate hain — migrations, SSO, plugin governance, performance, incidents. To jo bhi aaj bolunga, woh production ke zakhmon se seekha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interactive menu hai — Slide Show mode mein kisi bhi tile pe click karo. Audience se poochho: kaunsa pehle khaayein? (Spoiler: hum order mein hi chalenge.)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Multisite WordPress core ka built-in feature hai, koi plugin nahi. Ek install, ek database, lekin har site ki apni posts/options tables. Users aur plugins/themes poore network mein shared. Super Admin = Thakur Sa — sab unke haath mein.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sabse bada stereotype hai: 'Multisite? Woh koi use karta hai kya?' WordPress.com khud Multisite pe chalta hai. Edublogs aur CampusPress education ke liye bade networks chalate hain. Newsrooms, franchises, sarkari vibhaag — sab. Audience se poochho: kitne logon ne kabhi Multisite banaya hai? Haath uthao! Ab kitne logon ne use production mein chalaya? ... Dekha, yahi farak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Multisite ka decision technical se zyada organisational hai. Agar sites ek hi team chalati hai aur ek jaisi hain, Multisite jadoo hai. Agar agency ke 25 alag clients hain jinke apne hosts aur apne plugins hain, Multisite unhe ek hi ghar mein zabardasti bithana hai — roz jhagda hoga.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part! Har case padho, audience se haath uthwao: Multisite wale ek taraf, Single wale doosri taraf. Phir 'Jawab dekho' pe click karo.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Jisne D ke liye Multisite bola — aapko main personally ek dal-baati free mein dunga, par Multisite nahi. Rule simple hai: shared ownership + shared stack = Multisite.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asaan hai, taiyari zaroori hai. Step 1: wp-config mein WP_ALLOW_MULTISITE. Step 2: Tools &gt; Network Setup, subdomain ya subdirectory chuno. Step 3: jo code WordPress de, wp-config aur .htaccess mein paste karo, dobara login karo. Ya WP-CLI se ek line: wp core multisite-convert.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 fact: agar aapki WordPress install ek mahine se purani hai, Network Setup subdirectory option disable kar deta hai, taaki purane permalinks se takraav na ho. Domain mapping ab core mein hai, plugin ki zaroorat nahi — bas DNS aur SSL sahi rakho.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site mein sab ek jagah. Multisite mein files wahi rehti hain, lekin wp-config mein constants, .htaccess mein naye rewrite rules, uploads har site ke liye uploads/sites/&lt;id&gt;/ mein. Database mein main site wp_ prefix rakhti hai, baaki wp_2_, wp_3_ ... Plus global tables: wp_blogs, wp_site, wp_sitemeta, wp_blogmeta, wp_signups, wp_registration_log. Users sab ke common. Isiliye 1000 sites = 10,000 se zyada tables. Yaad rakhna, agle slide mein yahi dard banega.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woh problems hain jo 10 sites pe nahi dikhti, 1000 pe neend uda deti hain. Object cache must hai. Bahut badi networks mein DB ko multiple servers pe baanto. Plugin ko network-activate karne se pehle staging network pe test karo — ek fatal error, poori haveli andhere mein. Cron ko traffic ke bharose mat chhodo.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se zyada process ki problems. Site ko network se nikaalna ya laana — table prefix, blog_id, uploads path sab badalte hain, isliye WP-CLI aur Multisite-aware migration tools. Developers ke liye: network options aur site options alag hain, switch_to_blog ke baad restore_current_blog bhoolna mat. Aur Super Admin ka role sirf 2-3 logon ko — sabko Thakur Sa mat banao.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ka time ho to yahan 2-3 commands chala ke dikhao. --url flag Multisite ka jaadu hai: kisi bhi WP-CLI command ko kisi ek site pe target karo. --network flag poore network 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Multisite parivaar hai — pyaar bhi, jhagde bhi; management sahi ho to maza hi maza. Dhanyavaad WordCamp Rajasthan! Q&amp;A ke dauraan koi bhi topic chahiye to Menu se wahin jump kar sakte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CR_CONTENT">
    <p:bg>
      <p:bgPr>
        <a:solidFill>
          <a:schemeClr val="bg2"/>
        </a:solidFill>
      </p:bgPr>
    </p:bg>
    <p:spTree>
      <p:nvGrpSpPr>
        <p:cNvPr id="1" name=""/>
        <p:cNvGrpSpPr/>
        <p:nvPr/>
      </p:nvGrpSpPr>
      <p:grpSpPr>
        <a:xfrm>
          <a:off x="0" y="0"/>
          <a:ext cx="0" cy="0"/>
          <a:chOff x="0" y="0"/>
          <a:chExt cx="0" cy="0"/>
        </a:xfrm>
      </p:grpSpPr>
      <p:pic>
        <p:nvPicPr>
          <p:cNvPr id="2" name="Image 0" descr="/home/user/campbuddy/talks/multisite-wcr-2026/assets/logo-h.png">    </p:cNvPr>
          <p:cNvPicPr>
            <a:picLocks noChangeAspect="1"/>
          </p:cNvPicPr>
          <p:nvPr/>
        </p:nvPicPr>
        <p:blipFill>
          <a:blip r:embed="rId1"/>
          <a:stretch>
            <a:fillRect/>
          </a:stretch>
        </p:blipFill>
        <p:spPr>
          <a:xfrm>
            <a:off x="10378440" y="292608"/>
            <a:ext cx="1325880" cy="523951"/>
          </a:xfrm>
          <a:prstGeom prst="rect">
            <a:avLst/>
          </a:prstGeom>
        </p:spPr>
      </p:pic>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WordCamp Rajasthan 2026  ·  #wcrajasthan  ·  @prathameshp</a:t>
            </a:r>
            <a:endParaRPr lang="en-US" sz="1000" dirty="0"/>
          </a:p>
        </p:txBody>
      </p:sp>
      <p:sp>
        <p:nvSpPr>
          <p:cNvPr id="4" name="Text 1"/>
          <p:cNvSpPr/>
          <p:nvPr>
            <p:ph idx="102" type="title" hasCustomPrompt="1"/>
          </p:nvPr>
        </p:nvSpPr>
        <p:spPr>
          <a:xfrm>
            <a:off x="548640" y="320040"/>
            <a:ext cx="9601200" cy="777240"/>
          </a:xfrm>
          <a:prstGeom prst="rect">
            <a:avLst/>
          </a:prstGeom>
          <a:noFill/>
          <a:ln/>
        </p:spPr>
        <p:txBody>
          <a:bodyPr wrap="square" rtlCol="0"/>
          <a:lstStyle>
            <a:lvl1pPr algn="l" indent="0" marL="0">
              <a:buNone/>
              <a:defRPr lang="en-US" sz="3400" b="1" dirty="0">
                <a:solidFill>
                  <a:schemeClr val="tx2"/>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CR_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2"/>
                </a:solidFill>
              </a:rPr>
              <a:t>WordCamp Rajasthan 2026  ·  #wcrajasthan  ·  @prathameshp</a:t>
            </a:r>
            <a:endParaRPr lang="en-US" sz="1000" dirty="0"/>
          </a:p>
        </p:txBody>
      </p:sp>
      <p:sp>
        <p:nvSpPr>
          <p:cNvPr id="3" name="Text 1"/>
          <p:cNvSpPr/>
          <p:nvPr>
            <p:ph idx="101" type="title" hasCustomPrompt="1"/>
          </p:nvPr>
        </p:nvSpPr>
        <p:spPr>
          <a:xfrm>
            <a:off x="548640" y="320040"/>
            <a:ext cx="9601200" cy="777240"/>
          </a:xfrm>
          <a:prstGeom prst="rect">
            <a:avLst/>
          </a:prstGeom>
          <a:noFill/>
          <a:ln/>
        </p:spPr>
        <p:txBody>
          <a:bodyPr wrap="square" rtlCol="0"/>
          <a:lstStyle>
            <a:lvl1pPr algn="l" indent="0" marL="0">
              <a:buNone/>
              <a:defRPr lang="en-US" sz="3400" b="1" dirty="0">
                <a:solidFill>
                  <a:schemeClr val="bg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CR_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6" Type="http://schemas.openxmlformats.org/officeDocument/2006/relationships/slide" Target="slide3.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4.xml"/><Relationship Id="rId4" Type="http://schemas.openxmlformats.org/officeDocument/2006/relationships/slide" Target="slide5.xml"/><Relationship Id="rId6" Type="http://schemas.openxmlformats.org/officeDocument/2006/relationships/slide" Target="slide6.xml"/><Relationship Id="rId8" Type="http://schemas.openxmlformats.org/officeDocument/2006/relationships/slide" Target="slide9.xml"/><Relationship Id="rId10" Type="http://schemas.openxmlformats.org/officeDocument/2006/relationships/slide" Target="slide11.xml"/><Relationship Id="rId12" Type="http://schemas.openxmlformats.org/officeDocument/2006/relationships/slide" Target="slide12.xml"/><Relationship Id="rId1" Type="http://schemas.openxmlformats.org/officeDocument/2006/relationships/image" Target="../media/image-3-1.png"/><Relationship Id="rId3" Type="http://schemas.openxmlformats.org/officeDocument/2006/relationships/image" Target="../media/image-3-2.png"/><Relationship Id="rId5" Type="http://schemas.openxmlformats.org/officeDocument/2006/relationships/image" Target="../media/image-3-3.png"/><Relationship Id="rId7" Type="http://schemas.openxmlformats.org/officeDocument/2006/relationships/image" Target="../media/image-3-4.png"/><Relationship Id="rId9" Type="http://schemas.openxmlformats.org/officeDocument/2006/relationships/image" Target="../media/image-3-5.png"/><Relationship Id="rId11" Type="http://schemas.openxmlformats.org/officeDocument/2006/relationships/image" Target="../media/image-3-6.pn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slide" Target="slide3.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7" Type="http://schemas.openxmlformats.org/officeDocument/2006/relationships/slide" Target="slide3.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8.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 Target="slide3.xml"/><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 Target="slide7.xml"/><Relationship Id="rId6" Type="http://schemas.openxmlformats.org/officeDocument/2006/relationships/slide" Target="slide3.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6" Type="http://schemas.openxmlformats.org/officeDocument/2006/relationships/slide" Target="slide3.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slide" Target="slide3.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9" Type="http://schemas.openxmlformats.org/officeDocument/2006/relationships/slide" Target="slide3.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9" Type="http://schemas.openxmlformats.org/officeDocument/2006/relationships/slide" Target="slide3.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10" Type="http://schemas.openxmlformats.org/officeDocument/2006/relationships/slideLayout" Target="../slideLayouts/slideLayout2.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profiles.wordpress.org/prathameshp/" TargetMode="External"/><Relationship Id="rId3" Type="http://schemas.openxmlformats.org/officeDocument/2006/relationships/hyperlink" Target="https://rajasthan.wordcamp.org/2026/" TargetMode="External"/><Relationship Id="rId4" Type="http://schemas.openxmlformats.org/officeDocument/2006/relationships/slide" Target="slide3.xml"/><Relationship Id="rId1" Type="http://schemas.openxmlformats.org/officeDocument/2006/relationships/image" Target="../media/image-15-1.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ream circle"/>
          <p:cNvSpPr/>
          <p:nvPr/>
        </p:nvSpPr>
        <p:spPr>
          <a:xfrm>
            <a:off x="6720840" y="640080"/>
            <a:ext cx="5120640" cy="5120640"/>
          </a:xfrm>
          <a:prstGeom prst="ellipse">
            <a:avLst/>
          </a:prstGeom>
          <a:solidFill>
            <a:schemeClr val="bg2"/>
          </a:solidFill>
          <a:ln w="38100">
            <a:solidFill>
              <a:schemeClr val="accent2"/>
            </a:solidFill>
            <a:prstDash val="dash"/>
          </a:ln>
        </p:spPr>
      </p:sp>
      <p:pic>
        <p:nvPicPr>
          <p:cNvPr id="3" name="Wapuu camel" descr="Rajasthani Wapuu with a camel">    </p:cNvPr>
          <p:cNvPicPr>
            <a:picLocks noChangeAspect="1"/>
          </p:cNvPicPr>
          <p:nvPr/>
        </p:nvPicPr>
        <p:blipFill>
          <a:blip r:embed="rId1"/>
          <a:stretch>
            <a:fillRect/>
          </a:stretch>
        </p:blipFill>
        <p:spPr>
          <a:xfrm>
            <a:off x="6446520" y="1234440"/>
            <a:ext cx="5669280" cy="4005072"/>
          </a:xfrm>
          <a:prstGeom prst="rect">
            <a:avLst/>
          </a:prstGeom>
        </p:spPr>
      </p:pic>
      <p:sp>
        <p:nvSpPr>
          <p:cNvPr id="4" name="Logo plate"/>
          <p:cNvSpPr/>
          <p:nvPr/>
        </p:nvSpPr>
        <p:spPr>
          <a:xfrm>
            <a:off x="548640" y="502920"/>
            <a:ext cx="1920240" cy="758952"/>
          </a:xfrm>
          <a:prstGeom prst="roundRect">
            <a:avLst>
              <a:gd name="adj" fmla="val 14458"/>
            </a:avLst>
          </a:prstGeom>
          <a:solidFill>
            <a:schemeClr val="bg2"/>
          </a:solidFill>
          <a:ln w="12700">
            <a:solidFill>
              <a:schemeClr val="bg2"/>
            </a:solidFill>
            <a:prstDash val="solid"/>
          </a:ln>
        </p:spPr>
      </p:sp>
      <p:pic>
        <p:nvPicPr>
          <p:cNvPr id="5" name="Logo" descr="WordCamp Rajasthan logo">    </p:cNvPr>
          <p:cNvPicPr>
            <a:picLocks noChangeAspect="1"/>
          </p:cNvPicPr>
          <p:nvPr/>
        </p:nvPicPr>
        <p:blipFill>
          <a:blip r:embed="rId2"/>
          <a:stretch>
            <a:fillRect/>
          </a:stretch>
        </p:blipFill>
        <p:spPr>
          <a:xfrm>
            <a:off x="640080" y="548640"/>
            <a:ext cx="1737360" cy="685800"/>
          </a:xfrm>
          <a:prstGeom prst="rect">
            <a:avLst/>
          </a:prstGeom>
        </p:spPr>
      </p:pic>
      <p:sp>
        <p:nvSpPr>
          <p:cNvPr id="6" name="Text 2"/>
          <p:cNvSpPr txBox="1"/>
          <p:nvPr/>
        </p:nvSpPr>
        <p:spPr>
          <a:xfrm>
            <a:off x="548640" y="1554480"/>
            <a:ext cx="6035040" cy="411480"/>
          </a:xfrm>
          <a:prstGeom prst="rect">
            <a:avLst/>
          </a:prstGeom>
          <a:noFill/>
          <a:ln/>
        </p:spPr>
        <p:txBody>
          <a:bodyPr wrap="square" lIns="0" tIns="0" rIns="0" bIns="0" rtlCol="0" anchor="ctr"/>
          <a:lstStyle/>
          <a:p>
            <a:pPr indent="0" marL="0">
              <a:buNone/>
            </a:pPr>
            <a:r>
              <a:rPr lang="en-US" sz="1800" b="1" dirty="0">
                <a:solidFill>
                  <a:schemeClr val="accent2"/>
                </a:solidFill>
              </a:rPr>
              <a:t>खम्मा घणी!  WordCamp Rajasthan 2026</a:t>
            </a:r>
            <a:endParaRPr lang="en-US" sz="1800" dirty="0"/>
          </a:p>
        </p:txBody>
      </p:sp>
      <p:sp>
        <p:nvSpPr>
          <p:cNvPr id="7" name="Talk title"/>
          <p:cNvSpPr txBox="1"/>
          <p:nvPr/>
        </p:nvSpPr>
        <p:spPr>
          <a:xfrm>
            <a:off x="548640" y="2011680"/>
            <a:ext cx="6126480" cy="182880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Ek WordPress,</a:t>
            </a:r>
            <a:endParaRPr lang="en-US" sz="5400" dirty="0"/>
          </a:p>
          <a:p>
            <a:pPr indent="0" marL="0">
              <a:buNone/>
            </a:pPr>
            <a:r>
              <a:rPr lang="en-US" sz="5400" b="1" dirty="0">
                <a:solidFill>
                  <a:schemeClr val="accent2"/>
                </a:solidFill>
                <a:latin typeface="Arial" pitchFamily="34" charset="0"/>
                <a:ea typeface="Arial" pitchFamily="34" charset="-122"/>
                <a:cs typeface="Arial" pitchFamily="34" charset="-120"/>
              </a:rPr>
              <a:t>Hazaar Sites</a:t>
            </a:r>
            <a:endParaRPr lang="en-US" sz="5400" dirty="0"/>
          </a:p>
        </p:txBody>
      </p:sp>
      <p:sp>
        <p:nvSpPr>
          <p:cNvPr id="8" name="Text 4"/>
          <p:cNvSpPr txBox="1"/>
          <p:nvPr/>
        </p:nvSpPr>
        <p:spPr>
          <a:xfrm>
            <a:off x="548640" y="3931920"/>
            <a:ext cx="5943600" cy="777240"/>
          </a:xfrm>
          <a:prstGeom prst="rect">
            <a:avLst/>
          </a:prstGeom>
          <a:noFill/>
          <a:ln/>
        </p:spPr>
        <p:txBody>
          <a:bodyPr wrap="square" lIns="0" tIns="0" rIns="0" bIns="0" rtlCol="0" anchor="ctr"/>
          <a:lstStyle/>
          <a:p>
            <a:pPr indent="0" marL="0">
              <a:buNone/>
            </a:pPr>
            <a:r>
              <a:rPr lang="en-US" sz="1700" dirty="0">
                <a:solidFill>
                  <a:schemeClr val="bg2"/>
                </a:solidFill>
              </a:rPr>
              <a:t>WordPress Multisite — the Rajasthani joint family of the web: kya hai, kisko chahiye, setup, challenges aur unke solutions</a:t>
            </a:r>
            <a:endParaRPr lang="en-US" sz="1700" dirty="0"/>
          </a:p>
        </p:txBody>
      </p:sp>
      <p:sp>
        <p:nvSpPr>
          <p:cNvPr id="9" name="Text 5"/>
          <p:cNvSpPr txBox="1"/>
          <p:nvPr/>
        </p:nvSpPr>
        <p:spPr>
          <a:xfrm>
            <a:off x="548640" y="4983480"/>
            <a:ext cx="6035040" cy="731520"/>
          </a:xfrm>
          <a:prstGeom prst="rect">
            <a:avLst/>
          </a:prstGeom>
          <a:noFill/>
          <a:ln/>
        </p:spPr>
        <p:txBody>
          <a:bodyPr wrap="square" lIns="0" tIns="0" rIns="0" bIns="0" rtlCol="0" anchor="ctr"/>
          <a:lstStyle/>
          <a:p>
            <a:pPr indent="0" marL="0">
              <a:buNone/>
            </a:pPr>
            <a:r>
              <a:rPr lang="en-US" sz="2000" b="1" dirty="0">
                <a:solidFill>
                  <a:schemeClr val="bg1"/>
                </a:solidFill>
              </a:rPr>
              <a:t>Prathamesh Palve</a:t>
            </a:r>
            <a:endParaRPr lang="en-US" sz="2000" dirty="0"/>
          </a:p>
          <a:p>
            <a:pPr indent="0" marL="0">
              <a:buNone/>
            </a:pPr>
            <a:r>
              <a:rPr lang="en-US" sz="1400" dirty="0">
                <a:solidFill>
                  <a:schemeClr val="accent2"/>
                </a:solidFill>
              </a:rPr>
              <a:t>Technical Lead, CampusPress &amp; Edublogs  ·  @prathameshp</a:t>
            </a:r>
            <a:endParaRPr lang="en-US" sz="2000" dirty="0"/>
          </a:p>
        </p:txBody>
      </p:sp>
      <p:sp>
        <p:nvSpPr>
          <p:cNvPr id="10" name="Text 6"/>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dirty="0">
                <a:solidFill>
                  <a:schemeClr val="bg2"/>
                </a:solidFill>
              </a:rPr>
              <a:t>4 Oct 2026  ·  Rajasthan International Centre, Jaipur  ·  #wcrajasthan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Arial" pitchFamily="34" charset="0"/>
                <a:ea typeface="Arial" pitchFamily="34" charset="-122"/>
                <a:cs typeface="Arial" pitchFamily="34" charset="-120"/>
              </a:rPr>
              <a:t>Khamma Ghani, main hoon Prathamesh</a:t>
            </a:r>
            <a:endParaRPr lang="en-US" sz="3400" dirty="0"/>
          </a:p>
        </p:txBody>
      </p:sp>
      <p:sp>
        <p:nvSpPr>
          <p:cNvPr id="3" name="Text 1"/>
          <p:cNvSpPr txBox="1"/>
          <p:nvPr/>
        </p:nvSpPr>
        <p:spPr>
          <a:xfrm>
            <a:off x="548640" y="1143000"/>
            <a:ext cx="7680960" cy="411480"/>
          </a:xfrm>
          <a:prstGeom prst="rect">
            <a:avLst/>
          </a:prstGeom>
          <a:noFill/>
          <a:ln/>
        </p:spPr>
        <p:txBody>
          <a:bodyPr wrap="square" lIns="0" tIns="0" rIns="0" bIns="0" rtlCol="0" anchor="ctr"/>
          <a:lstStyle/>
          <a:p>
            <a:pPr indent="0" marL="0">
              <a:buNone/>
            </a:pPr>
            <a:r>
              <a:rPr lang="en-US" sz="1600" i="1" dirty="0">
                <a:solidFill>
                  <a:schemeClr val="accent5"/>
                </a:solidFill>
              </a:rPr>
              <a:t>Din mein Multisite networks sambhalta hoon. Raat mein mummy ko samjhata hoon ki main karta kya hoon.</a:t>
            </a:r>
            <a:endParaRPr lang="en-US" sz="1600" dirty="0"/>
          </a:p>
        </p:txBody>
      </p:sp>
      <p:sp>
        <p:nvSpPr>
          <p:cNvPr id="4" name="About card 1"/>
          <p:cNvSpPr/>
          <p:nvPr/>
        </p:nvSpPr>
        <p:spPr>
          <a:xfrm>
            <a:off x="548640" y="1828800"/>
            <a:ext cx="3611880" cy="1783080"/>
          </a:xfrm>
          <a:prstGeom prst="roundRect">
            <a:avLst>
              <a:gd name="adj" fmla="val 9231"/>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5" name="8+ saal frame"/>
          <p:cNvSpPr/>
          <p:nvPr/>
        </p:nvSpPr>
        <p:spPr>
          <a:xfrm>
            <a:off x="822960" y="2103120"/>
            <a:ext cx="731520" cy="731520"/>
          </a:xfrm>
          <a:prstGeom prst="diamond">
            <a:avLst/>
          </a:prstGeom>
          <a:solidFill>
            <a:schemeClr val="accent1"/>
          </a:solidFill>
          <a:ln w="12700">
            <a:solidFill>
              <a:schemeClr val="accent1"/>
            </a:solidFill>
            <a:prstDash val="solid"/>
          </a:ln>
        </p:spPr>
      </p:sp>
      <p:pic>
        <p:nvPicPr>
          <p:cNvPr id="6" name="8+ saal icon" descr="8+ saal">    </p:cNvPr>
          <p:cNvPicPr>
            <a:picLocks noChangeAspect="1"/>
          </p:cNvPicPr>
          <p:nvPr/>
        </p:nvPicPr>
        <p:blipFill>
          <a:blip r:embed="rId1"/>
          <a:stretch>
            <a:fillRect/>
          </a:stretch>
        </p:blipFill>
        <p:spPr>
          <a:xfrm>
            <a:off x="1035101" y="2315261"/>
            <a:ext cx="307238" cy="307238"/>
          </a:xfrm>
          <a:prstGeom prst="rect">
            <a:avLst/>
          </a:prstGeom>
        </p:spPr>
      </p:pic>
      <p:sp>
        <p:nvSpPr>
          <p:cNvPr id="7" name="Text 4"/>
          <p:cNvSpPr txBox="1"/>
          <p:nvPr/>
        </p:nvSpPr>
        <p:spPr>
          <a:xfrm>
            <a:off x="1737360" y="2148840"/>
            <a:ext cx="2286000" cy="594360"/>
          </a:xfrm>
          <a:prstGeom prst="rect">
            <a:avLst/>
          </a:prstGeom>
          <a:noFill/>
          <a:ln/>
        </p:spPr>
        <p:txBody>
          <a:bodyPr wrap="square" lIns="0" tIns="0" rIns="0" bIns="0" rtlCol="0" anchor="ctr"/>
          <a:lstStyle/>
          <a:p>
            <a:pPr indent="0" marL="0">
              <a:buNone/>
            </a:pPr>
            <a:r>
              <a:rPr lang="en-US" sz="2200" b="1" dirty="0">
                <a:solidFill>
                  <a:schemeClr val="tx2"/>
                </a:solidFill>
              </a:rPr>
              <a:t>8+ saal</a:t>
            </a:r>
            <a:endParaRPr lang="en-US" sz="2200" dirty="0"/>
          </a:p>
        </p:txBody>
      </p:sp>
      <p:sp>
        <p:nvSpPr>
          <p:cNvPr id="8" name="Text 5"/>
          <p:cNvSpPr txBox="1"/>
          <p:nvPr/>
        </p:nvSpPr>
        <p:spPr>
          <a:xfrm>
            <a:off x="822960" y="2880360"/>
            <a:ext cx="3154680" cy="640080"/>
          </a:xfrm>
          <a:prstGeom prst="rect">
            <a:avLst/>
          </a:prstGeom>
          <a:noFill/>
          <a:ln/>
        </p:spPr>
        <p:txBody>
          <a:bodyPr wrap="square" lIns="0" tIns="0" rIns="0" bIns="0" rtlCol="0" anchor="t"/>
          <a:lstStyle/>
          <a:p>
            <a:pPr indent="0" marL="0">
              <a:buNone/>
            </a:pPr>
            <a:r>
              <a:rPr lang="en-US" sz="1400" dirty="0">
                <a:solidFill>
                  <a:schemeClr val="tx1"/>
                </a:solidFill>
              </a:rPr>
              <a:t>WordPress support, platform ops aur technical leadership</a:t>
            </a:r>
            <a:endParaRPr lang="en-US" sz="1400" dirty="0"/>
          </a:p>
        </p:txBody>
      </p:sp>
      <p:sp>
        <p:nvSpPr>
          <p:cNvPr id="9" name="About card 2"/>
          <p:cNvSpPr/>
          <p:nvPr/>
        </p:nvSpPr>
        <p:spPr>
          <a:xfrm>
            <a:off x="4434840" y="1828800"/>
            <a:ext cx="3611880" cy="1783080"/>
          </a:xfrm>
          <a:prstGeom prst="roundRect">
            <a:avLst>
              <a:gd name="adj" fmla="val 9231"/>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10" name="CampusPress frame"/>
          <p:cNvSpPr/>
          <p:nvPr/>
        </p:nvSpPr>
        <p:spPr>
          <a:xfrm>
            <a:off x="4709160" y="2103120"/>
            <a:ext cx="731520" cy="731520"/>
          </a:xfrm>
          <a:prstGeom prst="diamond">
            <a:avLst/>
          </a:prstGeom>
          <a:solidFill>
            <a:schemeClr val="accent3"/>
          </a:solidFill>
          <a:ln w="12700">
            <a:solidFill>
              <a:schemeClr val="accent3"/>
            </a:solidFill>
            <a:prstDash val="solid"/>
          </a:ln>
        </p:spPr>
      </p:sp>
      <p:pic>
        <p:nvPicPr>
          <p:cNvPr id="11" name="CampusPress icon" descr="CampusPress">    </p:cNvPr>
          <p:cNvPicPr>
            <a:picLocks noChangeAspect="1"/>
          </p:cNvPicPr>
          <p:nvPr/>
        </p:nvPicPr>
        <p:blipFill>
          <a:blip r:embed="rId2"/>
          <a:stretch>
            <a:fillRect/>
          </a:stretch>
        </p:blipFill>
        <p:spPr>
          <a:xfrm>
            <a:off x="4921301" y="2315261"/>
            <a:ext cx="307238" cy="307238"/>
          </a:xfrm>
          <a:prstGeom prst="rect">
            <a:avLst/>
          </a:prstGeom>
        </p:spPr>
      </p:pic>
      <p:sp>
        <p:nvSpPr>
          <p:cNvPr id="12" name="Text 8"/>
          <p:cNvSpPr txBox="1"/>
          <p:nvPr/>
        </p:nvSpPr>
        <p:spPr>
          <a:xfrm>
            <a:off x="5623560" y="2148840"/>
            <a:ext cx="2286000" cy="594360"/>
          </a:xfrm>
          <a:prstGeom prst="rect">
            <a:avLst/>
          </a:prstGeom>
          <a:noFill/>
          <a:ln/>
        </p:spPr>
        <p:txBody>
          <a:bodyPr wrap="square" lIns="0" tIns="0" rIns="0" bIns="0" rtlCol="0" anchor="ctr"/>
          <a:lstStyle/>
          <a:p>
            <a:pPr indent="0" marL="0">
              <a:buNone/>
            </a:pPr>
            <a:r>
              <a:rPr lang="en-US" sz="2200" b="1" dirty="0">
                <a:solidFill>
                  <a:schemeClr val="tx2"/>
                </a:solidFill>
              </a:rPr>
              <a:t>CampusPress</a:t>
            </a:r>
            <a:endParaRPr lang="en-US" sz="2200" dirty="0"/>
          </a:p>
        </p:txBody>
      </p:sp>
      <p:sp>
        <p:nvSpPr>
          <p:cNvPr id="13" name="Text 9"/>
          <p:cNvSpPr txBox="1"/>
          <p:nvPr/>
        </p:nvSpPr>
        <p:spPr>
          <a:xfrm>
            <a:off x="4709160" y="2880360"/>
            <a:ext cx="3154680" cy="640080"/>
          </a:xfrm>
          <a:prstGeom prst="rect">
            <a:avLst/>
          </a:prstGeom>
          <a:noFill/>
          <a:ln/>
        </p:spPr>
        <p:txBody>
          <a:bodyPr wrap="square" lIns="0" tIns="0" rIns="0" bIns="0" rtlCol="0" anchor="t"/>
          <a:lstStyle/>
          <a:p>
            <a:pPr indent="0" marL="0">
              <a:buNone/>
            </a:pPr>
            <a:r>
              <a:rPr lang="en-US" sz="1400" dirty="0">
                <a:solidFill>
                  <a:schemeClr val="tx1"/>
                </a:solidFill>
              </a:rPr>
              <a:t>Technical Lead — universities aur schools ke bade Multisite networks</a:t>
            </a:r>
            <a:endParaRPr lang="en-US" sz="1400" dirty="0"/>
          </a:p>
        </p:txBody>
      </p:sp>
      <p:sp>
        <p:nvSpPr>
          <p:cNvPr id="14" name="About card 3"/>
          <p:cNvSpPr/>
          <p:nvPr/>
        </p:nvSpPr>
        <p:spPr>
          <a:xfrm>
            <a:off x="548640" y="3886200"/>
            <a:ext cx="3611880" cy="1783080"/>
          </a:xfrm>
          <a:prstGeom prst="roundRect">
            <a:avLst>
              <a:gd name="adj" fmla="val 9231"/>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15" name="Community frame"/>
          <p:cNvSpPr/>
          <p:nvPr/>
        </p:nvSpPr>
        <p:spPr>
          <a:xfrm>
            <a:off x="822960" y="4160520"/>
            <a:ext cx="731520" cy="731520"/>
          </a:xfrm>
          <a:prstGeom prst="diamond">
            <a:avLst/>
          </a:prstGeom>
          <a:solidFill>
            <a:schemeClr val="accent4"/>
          </a:solidFill>
          <a:ln w="12700">
            <a:solidFill>
              <a:schemeClr val="accent4"/>
            </a:solidFill>
            <a:prstDash val="solid"/>
          </a:ln>
        </p:spPr>
      </p:sp>
      <p:pic>
        <p:nvPicPr>
          <p:cNvPr id="16" name="Community icon" descr="Community">    </p:cNvPr>
          <p:cNvPicPr>
            <a:picLocks noChangeAspect="1"/>
          </p:cNvPicPr>
          <p:nvPr/>
        </p:nvPicPr>
        <p:blipFill>
          <a:blip r:embed="rId3"/>
          <a:stretch>
            <a:fillRect/>
          </a:stretch>
        </p:blipFill>
        <p:spPr>
          <a:xfrm>
            <a:off x="1035101" y="4372661"/>
            <a:ext cx="307238" cy="307238"/>
          </a:xfrm>
          <a:prstGeom prst="rect">
            <a:avLst/>
          </a:prstGeom>
        </p:spPr>
      </p:pic>
      <p:sp>
        <p:nvSpPr>
          <p:cNvPr id="17" name="Text 12"/>
          <p:cNvSpPr txBox="1"/>
          <p:nvPr/>
        </p:nvSpPr>
        <p:spPr>
          <a:xfrm>
            <a:off x="1737360" y="4206240"/>
            <a:ext cx="2286000" cy="594360"/>
          </a:xfrm>
          <a:prstGeom prst="rect">
            <a:avLst/>
          </a:prstGeom>
          <a:noFill/>
          <a:ln/>
        </p:spPr>
        <p:txBody>
          <a:bodyPr wrap="square" lIns="0" tIns="0" rIns="0" bIns="0" rtlCol="0" anchor="ctr"/>
          <a:lstStyle/>
          <a:p>
            <a:pPr indent="0" marL="0">
              <a:buNone/>
            </a:pPr>
            <a:r>
              <a:rPr lang="en-US" sz="2200" b="1" dirty="0">
                <a:solidFill>
                  <a:schemeClr val="tx2"/>
                </a:solidFill>
              </a:rPr>
              <a:t>Community</a:t>
            </a:r>
            <a:endParaRPr lang="en-US" sz="2200" dirty="0"/>
          </a:p>
        </p:txBody>
      </p:sp>
      <p:sp>
        <p:nvSpPr>
          <p:cNvPr id="18" name="Text 13"/>
          <p:cNvSpPr txBox="1"/>
          <p:nvPr/>
        </p:nvSpPr>
        <p:spPr>
          <a:xfrm>
            <a:off x="822960" y="4937760"/>
            <a:ext cx="3154680" cy="640080"/>
          </a:xfrm>
          <a:prstGeom prst="rect">
            <a:avLst/>
          </a:prstGeom>
          <a:noFill/>
          <a:ln/>
        </p:spPr>
        <p:txBody>
          <a:bodyPr wrap="square" lIns="0" tIns="0" rIns="0" bIns="0" rtlCol="0" anchor="t"/>
          <a:lstStyle/>
          <a:p>
            <a:pPr indent="0" marL="0">
              <a:buNone/>
            </a:pPr>
            <a:r>
              <a:rPr lang="en-US" sz="1400" dirty="0">
                <a:solidFill>
                  <a:schemeClr val="tx1"/>
                </a:solidFill>
              </a:rPr>
              <a:t>Co-organiser, WordPress Thane Meetup · WordCamp speaker</a:t>
            </a:r>
            <a:endParaRPr lang="en-US" sz="1400" dirty="0"/>
          </a:p>
        </p:txBody>
      </p:sp>
      <p:sp>
        <p:nvSpPr>
          <p:cNvPr id="19" name="About card 4"/>
          <p:cNvSpPr/>
          <p:nvPr/>
        </p:nvSpPr>
        <p:spPr>
          <a:xfrm>
            <a:off x="4434840" y="3886200"/>
            <a:ext cx="3611880" cy="1783080"/>
          </a:xfrm>
          <a:prstGeom prst="roundRect">
            <a:avLst>
              <a:gd name="adj" fmla="val 9231"/>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20" name="Contributor frame"/>
          <p:cNvSpPr/>
          <p:nvPr/>
        </p:nvSpPr>
        <p:spPr>
          <a:xfrm>
            <a:off x="4709160" y="4160520"/>
            <a:ext cx="731520" cy="731520"/>
          </a:xfrm>
          <a:prstGeom prst="diamond">
            <a:avLst/>
          </a:prstGeom>
          <a:solidFill>
            <a:schemeClr val="accent2"/>
          </a:solidFill>
          <a:ln w="12700">
            <a:solidFill>
              <a:schemeClr val="accent2"/>
            </a:solidFill>
            <a:prstDash val="solid"/>
          </a:ln>
        </p:spPr>
      </p:sp>
      <p:pic>
        <p:nvPicPr>
          <p:cNvPr id="21" name="Contributor icon" descr="Contributor">    </p:cNvPr>
          <p:cNvPicPr>
            <a:picLocks noChangeAspect="1"/>
          </p:cNvPicPr>
          <p:nvPr/>
        </p:nvPicPr>
        <p:blipFill>
          <a:blip r:embed="rId4"/>
          <a:stretch>
            <a:fillRect/>
          </a:stretch>
        </p:blipFill>
        <p:spPr>
          <a:xfrm>
            <a:off x="4921301" y="4372661"/>
            <a:ext cx="307238" cy="307238"/>
          </a:xfrm>
          <a:prstGeom prst="rect">
            <a:avLst/>
          </a:prstGeom>
        </p:spPr>
      </p:pic>
      <p:sp>
        <p:nvSpPr>
          <p:cNvPr id="22" name="Text 16"/>
          <p:cNvSpPr txBox="1"/>
          <p:nvPr/>
        </p:nvSpPr>
        <p:spPr>
          <a:xfrm>
            <a:off x="5623560" y="4206240"/>
            <a:ext cx="2286000" cy="594360"/>
          </a:xfrm>
          <a:prstGeom prst="rect">
            <a:avLst/>
          </a:prstGeom>
          <a:noFill/>
          <a:ln/>
        </p:spPr>
        <p:txBody>
          <a:bodyPr wrap="square" lIns="0" tIns="0" rIns="0" bIns="0" rtlCol="0" anchor="ctr"/>
          <a:lstStyle/>
          <a:p>
            <a:pPr indent="0" marL="0">
              <a:buNone/>
            </a:pPr>
            <a:r>
              <a:rPr lang="en-US" sz="2200" b="1" dirty="0">
                <a:solidFill>
                  <a:schemeClr val="tx2"/>
                </a:solidFill>
              </a:rPr>
              <a:t>Contributor</a:t>
            </a:r>
            <a:endParaRPr lang="en-US" sz="2200" dirty="0"/>
          </a:p>
        </p:txBody>
      </p:sp>
      <p:sp>
        <p:nvSpPr>
          <p:cNvPr id="23" name="Text 17"/>
          <p:cNvSpPr txBox="1"/>
          <p:nvPr/>
        </p:nvSpPr>
        <p:spPr>
          <a:xfrm>
            <a:off x="4709160" y="4937760"/>
            <a:ext cx="3154680" cy="640080"/>
          </a:xfrm>
          <a:prstGeom prst="rect">
            <a:avLst/>
          </a:prstGeom>
          <a:noFill/>
          <a:ln/>
        </p:spPr>
        <p:txBody>
          <a:bodyPr wrap="square" lIns="0" tIns="0" rIns="0" bIns="0" rtlCol="0" anchor="t"/>
          <a:lstStyle/>
          <a:p>
            <a:pPr indent="0" marL="0">
              <a:buNone/>
            </a:pPr>
            <a:r>
              <a:rPr lang="en-US" sz="1400" dirty="0">
                <a:solidFill>
                  <a:schemeClr val="tx1"/>
                </a:solidFill>
              </a:rPr>
              <a:t>Marathi &amp; Hindi translations · forum support · WPTV</a:t>
            </a:r>
            <a:endParaRPr lang="en-US" sz="1400" dirty="0"/>
          </a:p>
        </p:txBody>
      </p:sp>
      <p:pic>
        <p:nvPicPr>
          <p:cNvPr id="24" name="Mascot" descr="Rajasthani mascot with folded hands">    </p:cNvPr>
          <p:cNvPicPr>
            <a:picLocks noChangeAspect="1"/>
          </p:cNvPicPr>
          <p:nvPr/>
        </p:nvPicPr>
        <p:blipFill>
          <a:blip r:embed="rId5"/>
          <a:stretch>
            <a:fillRect/>
          </a:stretch>
        </p:blipFill>
        <p:spPr>
          <a:xfrm>
            <a:off x="8641080" y="2514600"/>
            <a:ext cx="3108960" cy="3108960"/>
          </a:xfrm>
          <a:prstGeom prst="rect">
            <a:avLst/>
          </a:prstGeom>
        </p:spPr>
      </p:pic>
      <p:sp>
        <p:nvSpPr>
          <p:cNvPr id="25" name="Speech bubble"/>
          <p:cNvSpPr txBox="1"/>
          <p:nvPr/>
        </p:nvSpPr>
        <p:spPr>
          <a:xfrm>
            <a:off x="8549640" y="1234440"/>
            <a:ext cx="3200400" cy="1051560"/>
          </a:xfrm>
          <a:prstGeom prst="wedgeRoundRectCallout">
            <a:avLst/>
          </a:prstGeom>
          <a:solidFill>
            <a:schemeClr val="accent2"/>
          </a:solidFill>
          <a:ln/>
        </p:spPr>
        <p:txBody>
          <a:bodyPr wrap="square" lIns="101600" tIns="101600" rIns="101600" bIns="101600" rtlCol="0" anchor="ctr"/>
          <a:lstStyle/>
          <a:p>
            <a:pPr algn="ctr" indent="0" marL="0">
              <a:buNone/>
            </a:pPr>
            <a:r>
              <a:rPr lang="en-US" sz="1500" b="1" i="1" dirty="0">
                <a:solidFill>
                  <a:schemeClr val="tx2"/>
                </a:solidFill>
              </a:rPr>
              <a:t>Roz hazaaron sites ka babysitter hoon!</a:t>
            </a:r>
            <a:endParaRPr lang="en-US" sz="1500" dirty="0"/>
          </a:p>
        </p:txBody>
      </p:sp>
      <p:sp>
        <p:nvSpPr>
          <p:cNvPr id="26" name="Back to the menu button"/>
          <p:cNvSpPr txBox="1"/>
          <p:nvPr/>
        </p:nvSpPr>
        <p:spPr>
          <a:xfrm>
            <a:off x="9646920" y="6336792"/>
            <a:ext cx="128016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  Menu</a:t>
            </a:r>
            <a:endParaRPr lang="en-US" sz="1100" dirty="0"/>
          </a:p>
        </p:txBody>
      </p:sp>
      <p:sp>
        <p:nvSpPr>
          <p:cNvPr id="27" name="Link: Back to the menu">
            <a:hlinkClick r:id="rId6"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Arial" pitchFamily="34" charset="0"/>
                <a:ea typeface="Arial" pitchFamily="34" charset="-122"/>
                <a:cs typeface="Arial" pitchFamily="34" charset="-120"/>
              </a:rPr>
              <a:t>Aaj ki Thaali: Menu</a:t>
            </a:r>
            <a:endParaRPr lang="en-US" sz="3400" dirty="0"/>
          </a:p>
        </p:txBody>
      </p:sp>
      <p:sp>
        <p:nvSpPr>
          <p:cNvPr id="3" name="Text 1"/>
          <p:cNvSpPr txBox="1"/>
          <p:nvPr/>
        </p:nvSpPr>
        <p:spPr>
          <a:xfrm>
            <a:off x="548640" y="1143000"/>
            <a:ext cx="9601200" cy="411480"/>
          </a:xfrm>
          <a:prstGeom prst="rect">
            <a:avLst/>
          </a:prstGeom>
          <a:noFill/>
          <a:ln/>
        </p:spPr>
        <p:txBody>
          <a:bodyPr wrap="square" lIns="0" tIns="0" rIns="0" bIns="0" rtlCol="0" anchor="ctr"/>
          <a:lstStyle/>
          <a:p>
            <a:pPr indent="0" marL="0">
              <a:buNone/>
            </a:pPr>
            <a:r>
              <a:rPr lang="en-US" sz="1500" dirty="0">
                <a:solidFill>
                  <a:schemeClr val="accent5"/>
                </a:solidFill>
              </a:rPr>
              <a:t>Kisi bhi tile pe click karo, seedha wahin pahunchoge. Har slide ka “☰ Menu” button wapas yahin laata hai.</a:t>
            </a:r>
            <a:endParaRPr lang="en-US" sz="1500" dirty="0"/>
          </a:p>
        </p:txBody>
      </p:sp>
      <p:sp>
        <p:nvSpPr>
          <p:cNvPr id="4" name="Menu tile 01"/>
          <p:cNvSpPr/>
          <p:nvPr/>
        </p:nvSpPr>
        <p:spPr>
          <a:xfrm>
            <a:off x="548640" y="1783080"/>
            <a:ext cx="3474720" cy="1920240"/>
          </a:xfrm>
          <a:prstGeom prst="roundRect">
            <a:avLst>
              <a:gd name="adj" fmla="val 8571"/>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5" name="Multisite kya bala hai? frame"/>
          <p:cNvSpPr/>
          <p:nvPr/>
        </p:nvSpPr>
        <p:spPr>
          <a:xfrm>
            <a:off x="822960" y="2057400"/>
            <a:ext cx="777240" cy="777240"/>
          </a:xfrm>
          <a:prstGeom prst="diamond">
            <a:avLst/>
          </a:prstGeom>
          <a:solidFill>
            <a:schemeClr val="accent1"/>
          </a:solidFill>
          <a:ln w="12700">
            <a:solidFill>
              <a:schemeClr val="accent1"/>
            </a:solidFill>
            <a:prstDash val="solid"/>
          </a:ln>
        </p:spPr>
      </p:sp>
      <p:pic>
        <p:nvPicPr>
          <p:cNvPr id="6" name="Multisite kya bala hai? icon" descr="Multisite kya bala hai?">    </p:cNvPr>
          <p:cNvPicPr>
            <a:picLocks noChangeAspect="1"/>
          </p:cNvPicPr>
          <p:nvPr/>
        </p:nvPicPr>
        <p:blipFill>
          <a:blip r:embed="rId1"/>
          <a:stretch>
            <a:fillRect/>
          </a:stretch>
        </p:blipFill>
        <p:spPr>
          <a:xfrm>
            <a:off x="1048360" y="2282800"/>
            <a:ext cx="326441" cy="326441"/>
          </a:xfrm>
          <a:prstGeom prst="rect">
            <a:avLst/>
          </a:prstGeom>
        </p:spPr>
      </p:pic>
      <p:sp>
        <p:nvSpPr>
          <p:cNvPr id="7" name="Text 4"/>
          <p:cNvSpPr txBox="1"/>
          <p:nvPr/>
        </p:nvSpPr>
        <p:spPr>
          <a:xfrm>
            <a:off x="2926080" y="2011680"/>
            <a:ext cx="868680" cy="548640"/>
          </a:xfrm>
          <a:prstGeom prst="rect">
            <a:avLst/>
          </a:prstGeom>
          <a:noFill/>
          <a:ln/>
        </p:spPr>
        <p:txBody>
          <a:bodyPr wrap="square" lIns="0" tIns="0" rIns="0" bIns="0" rtlCol="0" anchor="ctr"/>
          <a:lstStyle/>
          <a:p>
            <a:pPr algn="r" indent="0" marL="0">
              <a:buNone/>
            </a:pPr>
            <a:r>
              <a:rPr lang="en-US" sz="3000" b="1" dirty="0">
                <a:solidFill>
                  <a:schemeClr val="accent1"/>
                </a:solidFill>
              </a:rPr>
              <a:t>01</a:t>
            </a:r>
            <a:endParaRPr lang="en-US" sz="3000" dirty="0"/>
          </a:p>
        </p:txBody>
      </p:sp>
      <p:sp>
        <p:nvSpPr>
          <p:cNvPr id="8" name="Text 5"/>
          <p:cNvSpPr txBox="1"/>
          <p:nvPr/>
        </p:nvSpPr>
        <p:spPr>
          <a:xfrm>
            <a:off x="822960" y="288036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Multisite kya bala hai?</a:t>
            </a:r>
            <a:endParaRPr lang="en-US" sz="1900" dirty="0"/>
          </a:p>
        </p:txBody>
      </p:sp>
      <p:sp>
        <p:nvSpPr>
          <p:cNvPr id="9" name="Text 6"/>
          <p:cNvSpPr txBox="1"/>
          <p:nvPr/>
        </p:nvSpPr>
        <p:spPr>
          <a:xfrm>
            <a:off x="822960" y="3264408"/>
            <a:ext cx="3017520" cy="320040"/>
          </a:xfrm>
          <a:prstGeom prst="rect">
            <a:avLst/>
          </a:prstGeom>
          <a:noFill/>
          <a:ln/>
        </p:spPr>
        <p:txBody>
          <a:bodyPr wrap="square" lIns="0" tIns="0" rIns="0" bIns="0" rtlCol="0" anchor="ctr"/>
          <a:lstStyle/>
          <a:p>
            <a:pPr indent="0" marL="0">
              <a:buNone/>
            </a:pPr>
            <a:r>
              <a:rPr lang="en-US" sz="1400" dirty="0">
                <a:solidFill>
                  <a:schemeClr val="accent5"/>
                </a:solidFill>
              </a:rPr>
              <a:t>Haveli wala funda</a:t>
            </a:r>
            <a:endParaRPr lang="en-US" sz="1400" dirty="0"/>
          </a:p>
        </p:txBody>
      </p:sp>
      <p:sp>
        <p:nvSpPr>
          <p:cNvPr id="10" name="Link: Multisite kya bala hai?">
            <a:hlinkClick r:id="rId2" tooltip="Multisite kya bala hai?" action="ppaction://hlinksldjump"/>
          </p:cNvPr>
          <p:cNvSpPr/>
          <p:nvPr/>
        </p:nvSpPr>
        <p:spPr>
          <a:xfrm>
            <a:off x="548640" y="1783080"/>
            <a:ext cx="3474720" cy="1920240"/>
          </a:xfrm>
          <a:prstGeom prst="rect">
            <a:avLst/>
          </a:prstGeom>
          <a:solidFill>
            <a:schemeClr val="bg1">
              <a:alpha val="0"/>
            </a:schemeClr>
          </a:solidFill>
          <a:ln/>
        </p:spPr>
      </p:sp>
      <p:sp>
        <p:nvSpPr>
          <p:cNvPr id="11" name="Menu tile 02"/>
          <p:cNvSpPr/>
          <p:nvPr/>
        </p:nvSpPr>
        <p:spPr>
          <a:xfrm>
            <a:off x="4297680" y="1783080"/>
            <a:ext cx="3474720" cy="1920240"/>
          </a:xfrm>
          <a:prstGeom prst="roundRect">
            <a:avLst>
              <a:gd name="adj" fmla="val 8571"/>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12" name="Koi use bhi karta hai? frame"/>
          <p:cNvSpPr/>
          <p:nvPr/>
        </p:nvSpPr>
        <p:spPr>
          <a:xfrm>
            <a:off x="4572000" y="2057400"/>
            <a:ext cx="777240" cy="777240"/>
          </a:xfrm>
          <a:prstGeom prst="diamond">
            <a:avLst/>
          </a:prstGeom>
          <a:solidFill>
            <a:schemeClr val="accent3"/>
          </a:solidFill>
          <a:ln w="12700">
            <a:solidFill>
              <a:schemeClr val="accent3"/>
            </a:solidFill>
            <a:prstDash val="solid"/>
          </a:ln>
        </p:spPr>
      </p:sp>
      <p:pic>
        <p:nvPicPr>
          <p:cNvPr id="13" name="Koi use bhi karta hai? icon" descr="Koi use bhi karta hai?">    </p:cNvPr>
          <p:cNvPicPr>
            <a:picLocks noChangeAspect="1"/>
          </p:cNvPicPr>
          <p:nvPr/>
        </p:nvPicPr>
        <p:blipFill>
          <a:blip r:embed="rId3"/>
          <a:stretch>
            <a:fillRect/>
          </a:stretch>
        </p:blipFill>
        <p:spPr>
          <a:xfrm>
            <a:off x="4797400" y="2282800"/>
            <a:ext cx="326441" cy="326441"/>
          </a:xfrm>
          <a:prstGeom prst="rect">
            <a:avLst/>
          </a:prstGeom>
        </p:spPr>
      </p:pic>
      <p:sp>
        <p:nvSpPr>
          <p:cNvPr id="14" name="Text 10"/>
          <p:cNvSpPr txBox="1"/>
          <p:nvPr/>
        </p:nvSpPr>
        <p:spPr>
          <a:xfrm>
            <a:off x="6675120" y="2011680"/>
            <a:ext cx="868680" cy="548640"/>
          </a:xfrm>
          <a:prstGeom prst="rect">
            <a:avLst/>
          </a:prstGeom>
          <a:noFill/>
          <a:ln/>
        </p:spPr>
        <p:txBody>
          <a:bodyPr wrap="square" lIns="0" tIns="0" rIns="0" bIns="0" rtlCol="0" anchor="ctr"/>
          <a:lstStyle/>
          <a:p>
            <a:pPr algn="r" indent="0" marL="0">
              <a:buNone/>
            </a:pPr>
            <a:r>
              <a:rPr lang="en-US" sz="3000" b="1" dirty="0">
                <a:solidFill>
                  <a:schemeClr val="accent3"/>
                </a:solidFill>
              </a:rPr>
              <a:t>02</a:t>
            </a:r>
            <a:endParaRPr lang="en-US" sz="3000" dirty="0"/>
          </a:p>
        </p:txBody>
      </p:sp>
      <p:sp>
        <p:nvSpPr>
          <p:cNvPr id="15" name="Text 11"/>
          <p:cNvSpPr txBox="1"/>
          <p:nvPr/>
        </p:nvSpPr>
        <p:spPr>
          <a:xfrm>
            <a:off x="4572000" y="288036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Koi use bhi karta hai?</a:t>
            </a:r>
            <a:endParaRPr lang="en-US" sz="1900" dirty="0"/>
          </a:p>
        </p:txBody>
      </p:sp>
      <p:sp>
        <p:nvSpPr>
          <p:cNvPr id="16" name="Text 12"/>
          <p:cNvSpPr txBox="1"/>
          <p:nvPr/>
        </p:nvSpPr>
        <p:spPr>
          <a:xfrm>
            <a:off x="4572000" y="3264408"/>
            <a:ext cx="3017520" cy="320040"/>
          </a:xfrm>
          <a:prstGeom prst="rect">
            <a:avLst/>
          </a:prstGeom>
          <a:noFill/>
          <a:ln/>
        </p:spPr>
        <p:txBody>
          <a:bodyPr wrap="square" lIns="0" tIns="0" rIns="0" bIns="0" rtlCol="0" anchor="ctr"/>
          <a:lstStyle/>
          <a:p>
            <a:pPr indent="0" marL="0">
              <a:buNone/>
            </a:pPr>
            <a:r>
              <a:rPr lang="en-US" sz="1400" dirty="0">
                <a:solidFill>
                  <a:schemeClr val="accent5"/>
                </a:solidFill>
              </a:rPr>
              <a:t>Myth busting</a:t>
            </a:r>
            <a:endParaRPr lang="en-US" sz="1400" dirty="0"/>
          </a:p>
        </p:txBody>
      </p:sp>
      <p:sp>
        <p:nvSpPr>
          <p:cNvPr id="17" name="Link: Koi use bhi karta hai?">
            <a:hlinkClick r:id="rId4" tooltip="Koi use bhi karta hai?" action="ppaction://hlinksldjump"/>
          </p:cNvPr>
          <p:cNvSpPr/>
          <p:nvPr/>
        </p:nvSpPr>
        <p:spPr>
          <a:xfrm>
            <a:off x="4297680" y="1783080"/>
            <a:ext cx="3474720" cy="1920240"/>
          </a:xfrm>
          <a:prstGeom prst="rect">
            <a:avLst/>
          </a:prstGeom>
          <a:solidFill>
            <a:schemeClr val="bg1">
              <a:alpha val="0"/>
            </a:schemeClr>
          </a:solidFill>
          <a:ln/>
        </p:spPr>
      </p:sp>
      <p:sp>
        <p:nvSpPr>
          <p:cNvPr id="18" name="Menu tile 03"/>
          <p:cNvSpPr/>
          <p:nvPr/>
        </p:nvSpPr>
        <p:spPr>
          <a:xfrm>
            <a:off x="8046720" y="1783080"/>
            <a:ext cx="3474720" cy="1920240"/>
          </a:xfrm>
          <a:prstGeom prst="roundRect">
            <a:avLst>
              <a:gd name="adj" fmla="val 8571"/>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19" name="Kab lo, kab nahi frame"/>
          <p:cNvSpPr/>
          <p:nvPr/>
        </p:nvSpPr>
        <p:spPr>
          <a:xfrm>
            <a:off x="8321040" y="2057400"/>
            <a:ext cx="777240" cy="777240"/>
          </a:xfrm>
          <a:prstGeom prst="diamond">
            <a:avLst/>
          </a:prstGeom>
          <a:solidFill>
            <a:schemeClr val="accent4"/>
          </a:solidFill>
          <a:ln w="12700">
            <a:solidFill>
              <a:schemeClr val="accent4"/>
            </a:solidFill>
            <a:prstDash val="solid"/>
          </a:ln>
        </p:spPr>
      </p:sp>
      <p:pic>
        <p:nvPicPr>
          <p:cNvPr id="20" name="Kab lo, kab nahi icon" descr="Kab lo, kab nahi">    </p:cNvPr>
          <p:cNvPicPr>
            <a:picLocks noChangeAspect="1"/>
          </p:cNvPicPr>
          <p:nvPr/>
        </p:nvPicPr>
        <p:blipFill>
          <a:blip r:embed="rId5"/>
          <a:stretch>
            <a:fillRect/>
          </a:stretch>
        </p:blipFill>
        <p:spPr>
          <a:xfrm>
            <a:off x="8546440" y="2282800"/>
            <a:ext cx="326441" cy="326441"/>
          </a:xfrm>
          <a:prstGeom prst="rect">
            <a:avLst/>
          </a:prstGeom>
        </p:spPr>
      </p:pic>
      <p:sp>
        <p:nvSpPr>
          <p:cNvPr id="21" name="Text 16"/>
          <p:cNvSpPr txBox="1"/>
          <p:nvPr/>
        </p:nvSpPr>
        <p:spPr>
          <a:xfrm>
            <a:off x="10424160" y="2011680"/>
            <a:ext cx="868680" cy="548640"/>
          </a:xfrm>
          <a:prstGeom prst="rect">
            <a:avLst/>
          </a:prstGeom>
          <a:noFill/>
          <a:ln/>
        </p:spPr>
        <p:txBody>
          <a:bodyPr wrap="square" lIns="0" tIns="0" rIns="0" bIns="0" rtlCol="0" anchor="ctr"/>
          <a:lstStyle/>
          <a:p>
            <a:pPr algn="r" indent="0" marL="0">
              <a:buNone/>
            </a:pPr>
            <a:r>
              <a:rPr lang="en-US" sz="3000" b="1" dirty="0">
                <a:solidFill>
                  <a:schemeClr val="accent4"/>
                </a:solidFill>
              </a:rPr>
              <a:t>03</a:t>
            </a:r>
            <a:endParaRPr lang="en-US" sz="3000" dirty="0"/>
          </a:p>
        </p:txBody>
      </p:sp>
      <p:sp>
        <p:nvSpPr>
          <p:cNvPr id="22" name="Text 17"/>
          <p:cNvSpPr txBox="1"/>
          <p:nvPr/>
        </p:nvSpPr>
        <p:spPr>
          <a:xfrm>
            <a:off x="8321040" y="288036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Kab lo, kab nahi</a:t>
            </a:r>
            <a:endParaRPr lang="en-US" sz="1900" dirty="0"/>
          </a:p>
        </p:txBody>
      </p:sp>
      <p:sp>
        <p:nvSpPr>
          <p:cNvPr id="23" name="Text 18"/>
          <p:cNvSpPr txBox="1"/>
          <p:nvPr/>
        </p:nvSpPr>
        <p:spPr>
          <a:xfrm>
            <a:off x="8321040" y="3264408"/>
            <a:ext cx="3017520" cy="320040"/>
          </a:xfrm>
          <a:prstGeom prst="rect">
            <a:avLst/>
          </a:prstGeom>
          <a:noFill/>
          <a:ln/>
        </p:spPr>
        <p:txBody>
          <a:bodyPr wrap="square" lIns="0" tIns="0" rIns="0" bIns="0" rtlCol="0" anchor="ctr"/>
          <a:lstStyle/>
          <a:p>
            <a:pPr indent="0" marL="0">
              <a:buNone/>
            </a:pPr>
            <a:r>
              <a:rPr lang="en-US" sz="1400" dirty="0">
                <a:solidFill>
                  <a:schemeClr val="accent5"/>
                </a:solidFill>
              </a:rPr>
              <a:t>Plus ek quiz</a:t>
            </a:r>
            <a:endParaRPr lang="en-US" sz="1400" dirty="0"/>
          </a:p>
        </p:txBody>
      </p:sp>
      <p:sp>
        <p:nvSpPr>
          <p:cNvPr id="24" name="Link: Kab lo, kab nahi">
            <a:hlinkClick r:id="rId6" tooltip="Kab lo, kab nahi" action="ppaction://hlinksldjump"/>
          </p:cNvPr>
          <p:cNvSpPr/>
          <p:nvPr/>
        </p:nvSpPr>
        <p:spPr>
          <a:xfrm>
            <a:off x="8046720" y="1783080"/>
            <a:ext cx="3474720" cy="1920240"/>
          </a:xfrm>
          <a:prstGeom prst="rect">
            <a:avLst/>
          </a:prstGeom>
          <a:solidFill>
            <a:schemeClr val="bg1">
              <a:alpha val="0"/>
            </a:schemeClr>
          </a:solidFill>
          <a:ln/>
        </p:spPr>
      </p:sp>
      <p:sp>
        <p:nvSpPr>
          <p:cNvPr id="25" name="Menu tile 04"/>
          <p:cNvSpPr/>
          <p:nvPr/>
        </p:nvSpPr>
        <p:spPr>
          <a:xfrm>
            <a:off x="548640" y="3977640"/>
            <a:ext cx="3474720" cy="1920240"/>
          </a:xfrm>
          <a:prstGeom prst="roundRect">
            <a:avLst>
              <a:gd name="adj" fmla="val 8571"/>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26" name="Setup ki zaroorat frame"/>
          <p:cNvSpPr/>
          <p:nvPr/>
        </p:nvSpPr>
        <p:spPr>
          <a:xfrm>
            <a:off x="822960" y="4251960"/>
            <a:ext cx="777240" cy="777240"/>
          </a:xfrm>
          <a:prstGeom prst="diamond">
            <a:avLst/>
          </a:prstGeom>
          <a:solidFill>
            <a:schemeClr val="accent2"/>
          </a:solidFill>
          <a:ln w="12700">
            <a:solidFill>
              <a:schemeClr val="accent2"/>
            </a:solidFill>
            <a:prstDash val="solid"/>
          </a:ln>
        </p:spPr>
      </p:sp>
      <p:pic>
        <p:nvPicPr>
          <p:cNvPr id="27" name="Setup ki zaroorat icon" descr="Setup ki zaroorat">    </p:cNvPr>
          <p:cNvPicPr>
            <a:picLocks noChangeAspect="1"/>
          </p:cNvPicPr>
          <p:nvPr/>
        </p:nvPicPr>
        <p:blipFill>
          <a:blip r:embed="rId7"/>
          <a:stretch>
            <a:fillRect/>
          </a:stretch>
        </p:blipFill>
        <p:spPr>
          <a:xfrm>
            <a:off x="1048360" y="4477360"/>
            <a:ext cx="326441" cy="326441"/>
          </a:xfrm>
          <a:prstGeom prst="rect">
            <a:avLst/>
          </a:prstGeom>
        </p:spPr>
      </p:pic>
      <p:sp>
        <p:nvSpPr>
          <p:cNvPr id="28" name="Text 22"/>
          <p:cNvSpPr txBox="1"/>
          <p:nvPr/>
        </p:nvSpPr>
        <p:spPr>
          <a:xfrm>
            <a:off x="2926080" y="4206240"/>
            <a:ext cx="868680" cy="548640"/>
          </a:xfrm>
          <a:prstGeom prst="rect">
            <a:avLst/>
          </a:prstGeom>
          <a:noFill/>
          <a:ln/>
        </p:spPr>
        <p:txBody>
          <a:bodyPr wrap="square" lIns="0" tIns="0" rIns="0" bIns="0" rtlCol="0" anchor="ctr"/>
          <a:lstStyle/>
          <a:p>
            <a:pPr algn="r" indent="0" marL="0">
              <a:buNone/>
            </a:pPr>
            <a:r>
              <a:rPr lang="en-US" sz="3000" b="1" dirty="0">
                <a:solidFill>
                  <a:schemeClr val="accent2"/>
                </a:solidFill>
              </a:rPr>
              <a:t>04</a:t>
            </a:r>
            <a:endParaRPr lang="en-US" sz="3000" dirty="0"/>
          </a:p>
        </p:txBody>
      </p:sp>
      <p:sp>
        <p:nvSpPr>
          <p:cNvPr id="29" name="Text 23"/>
          <p:cNvSpPr txBox="1"/>
          <p:nvPr/>
        </p:nvSpPr>
        <p:spPr>
          <a:xfrm>
            <a:off x="822960" y="507492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Setup ki zaroorat</a:t>
            </a:r>
            <a:endParaRPr lang="en-US" sz="1900" dirty="0"/>
          </a:p>
        </p:txBody>
      </p:sp>
      <p:sp>
        <p:nvSpPr>
          <p:cNvPr id="30" name="Text 24"/>
          <p:cNvSpPr txBox="1"/>
          <p:nvPr/>
        </p:nvSpPr>
        <p:spPr>
          <a:xfrm>
            <a:off x="822960" y="5458968"/>
            <a:ext cx="3017520" cy="320040"/>
          </a:xfrm>
          <a:prstGeom prst="rect">
            <a:avLst/>
          </a:prstGeom>
          <a:noFill/>
          <a:ln/>
        </p:spPr>
        <p:txBody>
          <a:bodyPr wrap="square" lIns="0" tIns="0" rIns="0" bIns="0" rtlCol="0" anchor="ctr"/>
          <a:lstStyle/>
          <a:p>
            <a:pPr indent="0" marL="0">
              <a:buNone/>
            </a:pPr>
            <a:r>
              <a:rPr lang="en-US" sz="1400" dirty="0">
                <a:solidFill>
                  <a:schemeClr val="accent5"/>
                </a:solidFill>
              </a:rPr>
              <a:t>Checklist &amp; wp-config</a:t>
            </a:r>
            <a:endParaRPr lang="en-US" sz="1400" dirty="0"/>
          </a:p>
        </p:txBody>
      </p:sp>
      <p:sp>
        <p:nvSpPr>
          <p:cNvPr id="31" name="Link: Setup ki zaroorat">
            <a:hlinkClick r:id="rId8" tooltip="Setup ki zaroorat" action="ppaction://hlinksldjump"/>
          </p:cNvPr>
          <p:cNvSpPr/>
          <p:nvPr/>
        </p:nvSpPr>
        <p:spPr>
          <a:xfrm>
            <a:off x="548640" y="3977640"/>
            <a:ext cx="3474720" cy="1920240"/>
          </a:xfrm>
          <a:prstGeom prst="rect">
            <a:avLst/>
          </a:prstGeom>
          <a:solidFill>
            <a:schemeClr val="bg1">
              <a:alpha val="0"/>
            </a:schemeClr>
          </a:solidFill>
          <a:ln/>
        </p:spPr>
      </p:sp>
      <p:sp>
        <p:nvSpPr>
          <p:cNvPr id="32" name="Menu tile 05"/>
          <p:cNvSpPr/>
          <p:nvPr/>
        </p:nvSpPr>
        <p:spPr>
          <a:xfrm>
            <a:off x="4297680" y="3977640"/>
            <a:ext cx="3474720" cy="1920240"/>
          </a:xfrm>
          <a:prstGeom prst="roundRect">
            <a:avLst>
              <a:gd name="adj" fmla="val 8571"/>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33" name="File &amp; DB structure frame"/>
          <p:cNvSpPr/>
          <p:nvPr/>
        </p:nvSpPr>
        <p:spPr>
          <a:xfrm>
            <a:off x="4572000" y="4251960"/>
            <a:ext cx="777240" cy="777240"/>
          </a:xfrm>
          <a:prstGeom prst="diamond">
            <a:avLst/>
          </a:prstGeom>
          <a:solidFill>
            <a:schemeClr val="tx2"/>
          </a:solidFill>
          <a:ln w="12700">
            <a:solidFill>
              <a:schemeClr val="tx2"/>
            </a:solidFill>
            <a:prstDash val="solid"/>
          </a:ln>
        </p:spPr>
      </p:sp>
      <p:pic>
        <p:nvPicPr>
          <p:cNvPr id="34" name="File &amp; DB structure icon" descr="File &amp; DB structure">    </p:cNvPr>
          <p:cNvPicPr>
            <a:picLocks noChangeAspect="1"/>
          </p:cNvPicPr>
          <p:nvPr/>
        </p:nvPicPr>
        <p:blipFill>
          <a:blip r:embed="rId9"/>
          <a:stretch>
            <a:fillRect/>
          </a:stretch>
        </p:blipFill>
        <p:spPr>
          <a:xfrm>
            <a:off x="4797400" y="4477360"/>
            <a:ext cx="326441" cy="326441"/>
          </a:xfrm>
          <a:prstGeom prst="rect">
            <a:avLst/>
          </a:prstGeom>
        </p:spPr>
      </p:pic>
      <p:sp>
        <p:nvSpPr>
          <p:cNvPr id="35" name="Text 28"/>
          <p:cNvSpPr txBox="1"/>
          <p:nvPr/>
        </p:nvSpPr>
        <p:spPr>
          <a:xfrm>
            <a:off x="6675120" y="4206240"/>
            <a:ext cx="868680" cy="548640"/>
          </a:xfrm>
          <a:prstGeom prst="rect">
            <a:avLst/>
          </a:prstGeom>
          <a:noFill/>
          <a:ln/>
        </p:spPr>
        <p:txBody>
          <a:bodyPr wrap="square" lIns="0" tIns="0" rIns="0" bIns="0" rtlCol="0" anchor="ctr"/>
          <a:lstStyle/>
          <a:p>
            <a:pPr algn="r" indent="0" marL="0">
              <a:buNone/>
            </a:pPr>
            <a:r>
              <a:rPr lang="en-US" sz="3000" b="1" dirty="0">
                <a:solidFill>
                  <a:schemeClr val="tx2"/>
                </a:solidFill>
              </a:rPr>
              <a:t>05</a:t>
            </a:r>
            <a:endParaRPr lang="en-US" sz="3000" dirty="0"/>
          </a:p>
        </p:txBody>
      </p:sp>
      <p:sp>
        <p:nvSpPr>
          <p:cNvPr id="36" name="Text 29"/>
          <p:cNvSpPr txBox="1"/>
          <p:nvPr/>
        </p:nvSpPr>
        <p:spPr>
          <a:xfrm>
            <a:off x="4572000" y="507492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File &amp; DB structure</a:t>
            </a:r>
            <a:endParaRPr lang="en-US" sz="1900" dirty="0"/>
          </a:p>
        </p:txBody>
      </p:sp>
      <p:sp>
        <p:nvSpPr>
          <p:cNvPr id="37" name="Text 30"/>
          <p:cNvSpPr txBox="1"/>
          <p:nvPr/>
        </p:nvSpPr>
        <p:spPr>
          <a:xfrm>
            <a:off x="4572000" y="5458968"/>
            <a:ext cx="3017520" cy="320040"/>
          </a:xfrm>
          <a:prstGeom prst="rect">
            <a:avLst/>
          </a:prstGeom>
          <a:noFill/>
          <a:ln/>
        </p:spPr>
        <p:txBody>
          <a:bodyPr wrap="square" lIns="0" tIns="0" rIns="0" bIns="0" rtlCol="0" anchor="ctr"/>
          <a:lstStyle/>
          <a:p>
            <a:pPr indent="0" marL="0">
              <a:buNone/>
            </a:pPr>
            <a:r>
              <a:rPr lang="en-US" sz="1400" dirty="0">
                <a:solidFill>
                  <a:schemeClr val="accent5"/>
                </a:solidFill>
              </a:rPr>
              <a:t>Single vs Multisite</a:t>
            </a:r>
            <a:endParaRPr lang="en-US" sz="1400" dirty="0"/>
          </a:p>
        </p:txBody>
      </p:sp>
      <p:sp>
        <p:nvSpPr>
          <p:cNvPr id="38" name="Link: File &amp; DB structure">
            <a:hlinkClick r:id="rId10" tooltip="File &amp; DB structure" action="ppaction://hlinksldjump"/>
          </p:cNvPr>
          <p:cNvSpPr/>
          <p:nvPr/>
        </p:nvSpPr>
        <p:spPr>
          <a:xfrm>
            <a:off x="4297680" y="3977640"/>
            <a:ext cx="3474720" cy="1920240"/>
          </a:xfrm>
          <a:prstGeom prst="rect">
            <a:avLst/>
          </a:prstGeom>
          <a:solidFill>
            <a:schemeClr val="bg1">
              <a:alpha val="0"/>
            </a:schemeClr>
          </a:solidFill>
          <a:ln/>
        </p:spPr>
      </p:sp>
      <p:sp>
        <p:nvSpPr>
          <p:cNvPr id="39" name="Menu tile 06"/>
          <p:cNvSpPr/>
          <p:nvPr/>
        </p:nvSpPr>
        <p:spPr>
          <a:xfrm>
            <a:off x="8046720" y="3977640"/>
            <a:ext cx="3474720" cy="1920240"/>
          </a:xfrm>
          <a:prstGeom prst="roundRect">
            <a:avLst>
              <a:gd name="adj" fmla="val 8571"/>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40" name="Dard aur Dawa frame"/>
          <p:cNvSpPr/>
          <p:nvPr/>
        </p:nvSpPr>
        <p:spPr>
          <a:xfrm>
            <a:off x="8321040" y="4251960"/>
            <a:ext cx="777240" cy="777240"/>
          </a:xfrm>
          <a:prstGeom prst="diamond">
            <a:avLst/>
          </a:prstGeom>
          <a:solidFill>
            <a:schemeClr val="accent6"/>
          </a:solidFill>
          <a:ln w="12700">
            <a:solidFill>
              <a:schemeClr val="accent6"/>
            </a:solidFill>
            <a:prstDash val="solid"/>
          </a:ln>
        </p:spPr>
      </p:sp>
      <p:pic>
        <p:nvPicPr>
          <p:cNvPr id="41" name="Dard aur Dawa icon" descr="Dard aur Dawa">    </p:cNvPr>
          <p:cNvPicPr>
            <a:picLocks noChangeAspect="1"/>
          </p:cNvPicPr>
          <p:nvPr/>
        </p:nvPicPr>
        <p:blipFill>
          <a:blip r:embed="rId11"/>
          <a:stretch>
            <a:fillRect/>
          </a:stretch>
        </p:blipFill>
        <p:spPr>
          <a:xfrm>
            <a:off x="8546440" y="4477360"/>
            <a:ext cx="326441" cy="326441"/>
          </a:xfrm>
          <a:prstGeom prst="rect">
            <a:avLst/>
          </a:prstGeom>
        </p:spPr>
      </p:pic>
      <p:sp>
        <p:nvSpPr>
          <p:cNvPr id="42" name="Text 34"/>
          <p:cNvSpPr txBox="1"/>
          <p:nvPr/>
        </p:nvSpPr>
        <p:spPr>
          <a:xfrm>
            <a:off x="10424160" y="4206240"/>
            <a:ext cx="868680" cy="548640"/>
          </a:xfrm>
          <a:prstGeom prst="rect">
            <a:avLst/>
          </a:prstGeom>
          <a:noFill/>
          <a:ln/>
        </p:spPr>
        <p:txBody>
          <a:bodyPr wrap="square" lIns="0" tIns="0" rIns="0" bIns="0" rtlCol="0" anchor="ctr"/>
          <a:lstStyle/>
          <a:p>
            <a:pPr algn="r" indent="0" marL="0">
              <a:buNone/>
            </a:pPr>
            <a:r>
              <a:rPr lang="en-US" sz="3000" b="1" dirty="0">
                <a:solidFill>
                  <a:schemeClr val="accent6"/>
                </a:solidFill>
              </a:rPr>
              <a:t>06</a:t>
            </a:r>
            <a:endParaRPr lang="en-US" sz="3000" dirty="0"/>
          </a:p>
        </p:txBody>
      </p:sp>
      <p:sp>
        <p:nvSpPr>
          <p:cNvPr id="43" name="Text 35"/>
          <p:cNvSpPr txBox="1"/>
          <p:nvPr/>
        </p:nvSpPr>
        <p:spPr>
          <a:xfrm>
            <a:off x="8321040" y="507492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Dard aur Dawa</a:t>
            </a:r>
            <a:endParaRPr lang="en-US" sz="1900" dirty="0"/>
          </a:p>
        </p:txBody>
      </p:sp>
      <p:sp>
        <p:nvSpPr>
          <p:cNvPr id="44" name="Text 36"/>
          <p:cNvSpPr txBox="1"/>
          <p:nvPr/>
        </p:nvSpPr>
        <p:spPr>
          <a:xfrm>
            <a:off x="8321040" y="5458968"/>
            <a:ext cx="3017520" cy="320040"/>
          </a:xfrm>
          <a:prstGeom prst="rect">
            <a:avLst/>
          </a:prstGeom>
          <a:noFill/>
          <a:ln/>
        </p:spPr>
        <p:txBody>
          <a:bodyPr wrap="square" lIns="0" tIns="0" rIns="0" bIns="0" rtlCol="0" anchor="ctr"/>
          <a:lstStyle/>
          <a:p>
            <a:pPr indent="0" marL="0">
              <a:buNone/>
            </a:pPr>
            <a:r>
              <a:rPr lang="en-US" sz="1400" dirty="0">
                <a:solidFill>
                  <a:schemeClr val="accent5"/>
                </a:solidFill>
              </a:rPr>
              <a:t>Challenges → solutions</a:t>
            </a:r>
            <a:endParaRPr lang="en-US" sz="1400" dirty="0"/>
          </a:p>
        </p:txBody>
      </p:sp>
      <p:sp>
        <p:nvSpPr>
          <p:cNvPr id="45" name="Link: Dard aur Dawa">
            <a:hlinkClick r:id="rId12" tooltip="Dard aur Dawa" action="ppaction://hlinksldjump"/>
          </p:cNvPr>
          <p:cNvSpPr/>
          <p:nvPr/>
        </p:nvSpPr>
        <p:spPr>
          <a:xfrm>
            <a:off x="8046720" y="3977640"/>
            <a:ext cx="3474720" cy="1920240"/>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Arial" pitchFamily="34" charset="0"/>
                <a:ea typeface="Arial" pitchFamily="34" charset="-122"/>
                <a:cs typeface="Arial" pitchFamily="34" charset="-120"/>
              </a:rPr>
              <a:t>Multisite kya bala hai?</a:t>
            </a:r>
            <a:endParaRPr lang="en-US" sz="3400" dirty="0"/>
          </a:p>
        </p:txBody>
      </p:sp>
      <p:sp>
        <p:nvSpPr>
          <p:cNvPr id="3" name="Text 1"/>
          <p:cNvSpPr txBox="1"/>
          <p:nvPr/>
        </p:nvSpPr>
        <p:spPr>
          <a:xfrm>
            <a:off x="548640" y="1143000"/>
            <a:ext cx="10058400" cy="411480"/>
          </a:xfrm>
          <a:prstGeom prst="rect">
            <a:avLst/>
          </a:prstGeom>
          <a:noFill/>
          <a:ln/>
        </p:spPr>
        <p:txBody>
          <a:bodyPr wrap="square" lIns="0" tIns="0" rIns="0" bIns="0" rtlCol="0" anchor="ctr"/>
          <a:lstStyle/>
          <a:p>
            <a:pPr indent="0" marL="0">
              <a:buNone/>
            </a:pPr>
            <a:r>
              <a:rPr lang="en-US" sz="1600" b="1" i="1" dirty="0">
                <a:solidFill>
                  <a:schemeClr val="accent1"/>
                </a:solidFill>
              </a:rPr>
              <a:t>Single site = apna 1BHK flat.  Multisite = poori haveli: ek chhat, kai kamre, ek Thakur Sa.</a:t>
            </a:r>
            <a:endParaRPr lang="en-US" sz="1600" dirty="0"/>
          </a:p>
        </p:txBody>
      </p:sp>
      <p:sp>
        <p:nvSpPr>
          <p:cNvPr id="4" name="Diagram card"/>
          <p:cNvSpPr/>
          <p:nvPr/>
        </p:nvSpPr>
        <p:spPr>
          <a:xfrm>
            <a:off x="548640" y="1783080"/>
            <a:ext cx="5760720" cy="4343400"/>
          </a:xfrm>
          <a:prstGeom prst="roundRect">
            <a:avLst>
              <a:gd name="adj" fmla="val 3789"/>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5" name="Text 3"/>
          <p:cNvSpPr txBox="1"/>
          <p:nvPr/>
        </p:nvSpPr>
        <p:spPr>
          <a:xfrm>
            <a:off x="1783080" y="2011680"/>
            <a:ext cx="3291840" cy="777240"/>
          </a:xfrm>
          <a:prstGeom prst="roundRect">
            <a:avLst>
              <a:gd name="adj" fmla="val 14118"/>
            </a:avLst>
          </a:prstGeom>
          <a:solidFill>
            <a:schemeClr val="tx2"/>
          </a:solidFill>
          <a:ln/>
        </p:spPr>
        <p:txBody>
          <a:bodyPr wrap="square" lIns="50800" tIns="50800" rIns="50800" bIns="50800" rtlCol="0" anchor="ctr"/>
          <a:lstStyle/>
          <a:p>
            <a:pPr algn="ctr" indent="0" marL="0">
              <a:buNone/>
            </a:pPr>
            <a:r>
              <a:rPr lang="en-US" sz="1600" b="1" dirty="0">
                <a:solidFill>
                  <a:schemeClr val="bg1"/>
                </a:solidFill>
              </a:rPr>
              <a:t>1 WordPress install</a:t>
            </a:r>
            <a:endParaRPr lang="en-US" sz="1600" dirty="0"/>
          </a:p>
          <a:p>
            <a:pPr algn="ctr" indent="0" marL="0">
              <a:buNone/>
            </a:pPr>
            <a:r>
              <a:rPr lang="en-US" sz="1200" dirty="0">
                <a:solidFill>
                  <a:schemeClr val="bg1"/>
                </a:solidFill>
              </a:rPr>
              <a:t>core + plugins + themes</a:t>
            </a:r>
            <a:endParaRPr lang="en-US" sz="1600" dirty="0"/>
          </a:p>
        </p:txBody>
      </p:sp>
      <p:sp>
        <p:nvSpPr>
          <p:cNvPr id="6" name="Text 4"/>
          <p:cNvSpPr txBox="1"/>
          <p:nvPr/>
        </p:nvSpPr>
        <p:spPr>
          <a:xfrm>
            <a:off x="1783080" y="3108960"/>
            <a:ext cx="3291840" cy="777240"/>
          </a:xfrm>
          <a:prstGeom prst="roundRect">
            <a:avLst>
              <a:gd name="adj" fmla="val 14118"/>
            </a:avLst>
          </a:prstGeom>
          <a:solidFill>
            <a:schemeClr val="accent2"/>
          </a:solidFill>
          <a:ln/>
        </p:spPr>
        <p:txBody>
          <a:bodyPr wrap="square" lIns="50800" tIns="50800" rIns="50800" bIns="50800" rtlCol="0" anchor="ctr"/>
          <a:lstStyle/>
          <a:p>
            <a:pPr algn="ctr" indent="0" marL="0">
              <a:buNone/>
            </a:pPr>
            <a:r>
              <a:rPr lang="en-US" sz="1600" b="1" dirty="0">
                <a:solidFill>
                  <a:schemeClr val="tx2"/>
                </a:solidFill>
              </a:rPr>
              <a:t>1 Database</a:t>
            </a:r>
            <a:endParaRPr lang="en-US" sz="1600" dirty="0"/>
          </a:p>
          <a:p>
            <a:pPr algn="ctr" indent="0" marL="0">
              <a:buNone/>
            </a:pPr>
            <a:r>
              <a:rPr lang="en-US" sz="1200" dirty="0">
                <a:solidFill>
                  <a:schemeClr val="tx2"/>
                </a:solidFill>
              </a:rPr>
              <a:t>har site ki apni tables</a:t>
            </a:r>
            <a:endParaRPr lang="en-US" sz="1600" dirty="0"/>
          </a:p>
        </p:txBody>
      </p:sp>
      <p:sp>
        <p:nvSpPr>
          <p:cNvPr id="7" name="Shape 5"/>
          <p:cNvSpPr/>
          <p:nvPr/>
        </p:nvSpPr>
        <p:spPr>
          <a:xfrm>
            <a:off x="3429000" y="2788920"/>
            <a:ext cx="0" cy="320040"/>
          </a:xfrm>
          <a:prstGeom prst="line">
            <a:avLst/>
          </a:prstGeom>
          <a:noFill/>
          <a:ln w="25400">
            <a:solidFill>
              <a:schemeClr val="accent5"/>
            </a:solidFill>
            <a:prstDash val="solid"/>
            <a:tailEnd type="triangle"/>
          </a:ln>
        </p:spPr>
      </p:sp>
      <p:sp>
        <p:nvSpPr>
          <p:cNvPr id="8" name="Shape 6"/>
          <p:cNvSpPr/>
          <p:nvPr/>
        </p:nvSpPr>
        <p:spPr>
          <a:xfrm flipH="1">
            <a:off x="1394460" y="3886200"/>
            <a:ext cx="2034540" cy="502920"/>
          </a:xfrm>
          <a:prstGeom prst="line">
            <a:avLst/>
          </a:prstGeom>
          <a:noFill/>
          <a:ln w="19050">
            <a:solidFill>
              <a:schemeClr val="accent5"/>
            </a:solidFill>
            <a:prstDash val="solid"/>
            <a:tailEnd type="triangle"/>
          </a:ln>
        </p:spPr>
      </p:sp>
      <p:sp>
        <p:nvSpPr>
          <p:cNvPr id="9" name="Text 7"/>
          <p:cNvSpPr txBox="1"/>
          <p:nvPr/>
        </p:nvSpPr>
        <p:spPr>
          <a:xfrm>
            <a:off x="822960" y="4389120"/>
            <a:ext cx="1143000" cy="868680"/>
          </a:xfrm>
          <a:prstGeom prst="roundRect">
            <a:avLst>
              <a:gd name="adj" fmla="val 10526"/>
            </a:avLst>
          </a:prstGeom>
          <a:solidFill>
            <a:schemeClr val="accent1"/>
          </a:solidFill>
          <a:ln/>
        </p:spPr>
        <p:txBody>
          <a:bodyPr wrap="square" lIns="25400" tIns="25400" rIns="25400" bIns="25400" rtlCol="0" anchor="ctr"/>
          <a:lstStyle/>
          <a:p>
            <a:pPr algn="ctr" indent="0" marL="0">
              <a:buNone/>
            </a:pPr>
            <a:r>
              <a:rPr lang="en-US" sz="1400" b="1" dirty="0">
                <a:solidFill>
                  <a:schemeClr val="bg1"/>
                </a:solidFill>
              </a:rPr>
              <a:t>Site 1</a:t>
            </a:r>
            <a:endParaRPr lang="en-US" sz="1400" dirty="0"/>
          </a:p>
          <a:p>
            <a:pPr algn="ctr" indent="0" marL="0">
              <a:buNone/>
            </a:pPr>
            <a:r>
              <a:rPr lang="en-US" sz="1100" dirty="0">
                <a:solidFill>
                  <a:schemeClr val="bg1"/>
                </a:solidFill>
              </a:rPr>
              <a:t>jaipur</a:t>
            </a:r>
            <a:endParaRPr lang="en-US" sz="1400" dirty="0"/>
          </a:p>
        </p:txBody>
      </p:sp>
      <p:sp>
        <p:nvSpPr>
          <p:cNvPr id="10" name="Shape 8"/>
          <p:cNvSpPr/>
          <p:nvPr/>
        </p:nvSpPr>
        <p:spPr>
          <a:xfrm flipH="1">
            <a:off x="2766060" y="3886200"/>
            <a:ext cx="662940" cy="502920"/>
          </a:xfrm>
          <a:prstGeom prst="line">
            <a:avLst/>
          </a:prstGeom>
          <a:noFill/>
          <a:ln w="19050">
            <a:solidFill>
              <a:schemeClr val="accent5"/>
            </a:solidFill>
            <a:prstDash val="solid"/>
            <a:tailEnd type="triangle"/>
          </a:ln>
        </p:spPr>
      </p:sp>
      <p:sp>
        <p:nvSpPr>
          <p:cNvPr id="11" name="Text 9"/>
          <p:cNvSpPr txBox="1"/>
          <p:nvPr/>
        </p:nvSpPr>
        <p:spPr>
          <a:xfrm>
            <a:off x="2194560" y="4389120"/>
            <a:ext cx="1143000" cy="868680"/>
          </a:xfrm>
          <a:prstGeom prst="roundRect">
            <a:avLst>
              <a:gd name="adj" fmla="val 10526"/>
            </a:avLst>
          </a:prstGeom>
          <a:solidFill>
            <a:schemeClr val="accent3"/>
          </a:solidFill>
          <a:ln/>
        </p:spPr>
        <p:txBody>
          <a:bodyPr wrap="square" lIns="25400" tIns="25400" rIns="25400" bIns="25400" rtlCol="0" anchor="ctr"/>
          <a:lstStyle/>
          <a:p>
            <a:pPr algn="ctr" indent="0" marL="0">
              <a:buNone/>
            </a:pPr>
            <a:r>
              <a:rPr lang="en-US" sz="1400" b="1" dirty="0">
                <a:solidFill>
                  <a:schemeClr val="bg1"/>
                </a:solidFill>
              </a:rPr>
              <a:t>Site 2</a:t>
            </a:r>
            <a:endParaRPr lang="en-US" sz="1400" dirty="0"/>
          </a:p>
          <a:p>
            <a:pPr algn="ctr" indent="0" marL="0">
              <a:buNone/>
            </a:pPr>
            <a:r>
              <a:rPr lang="en-US" sz="1100" dirty="0">
                <a:solidFill>
                  <a:schemeClr val="bg1"/>
                </a:solidFill>
              </a:rPr>
              <a:t>jodhpur</a:t>
            </a:r>
            <a:endParaRPr lang="en-US" sz="1400" dirty="0"/>
          </a:p>
        </p:txBody>
      </p:sp>
      <p:sp>
        <p:nvSpPr>
          <p:cNvPr id="12" name="Shape 10"/>
          <p:cNvSpPr/>
          <p:nvPr/>
        </p:nvSpPr>
        <p:spPr>
          <a:xfrm>
            <a:off x="3429000" y="3886200"/>
            <a:ext cx="708660" cy="502920"/>
          </a:xfrm>
          <a:prstGeom prst="line">
            <a:avLst/>
          </a:prstGeom>
          <a:noFill/>
          <a:ln w="19050">
            <a:solidFill>
              <a:schemeClr val="accent5"/>
            </a:solidFill>
            <a:prstDash val="solid"/>
            <a:tailEnd type="triangle"/>
          </a:ln>
        </p:spPr>
      </p:sp>
      <p:sp>
        <p:nvSpPr>
          <p:cNvPr id="13" name="Text 11"/>
          <p:cNvSpPr txBox="1"/>
          <p:nvPr/>
        </p:nvSpPr>
        <p:spPr>
          <a:xfrm>
            <a:off x="3566160" y="4389120"/>
            <a:ext cx="1143000" cy="868680"/>
          </a:xfrm>
          <a:prstGeom prst="roundRect">
            <a:avLst>
              <a:gd name="adj" fmla="val 10526"/>
            </a:avLst>
          </a:prstGeom>
          <a:solidFill>
            <a:schemeClr val="accent4"/>
          </a:solidFill>
          <a:ln/>
        </p:spPr>
        <p:txBody>
          <a:bodyPr wrap="square" lIns="25400" tIns="25400" rIns="25400" bIns="25400" rtlCol="0" anchor="ctr"/>
          <a:lstStyle/>
          <a:p>
            <a:pPr algn="ctr" indent="0" marL="0">
              <a:buNone/>
            </a:pPr>
            <a:r>
              <a:rPr lang="en-US" sz="1400" b="1" dirty="0">
                <a:solidFill>
                  <a:schemeClr val="bg1"/>
                </a:solidFill>
              </a:rPr>
              <a:t>Site 3</a:t>
            </a:r>
            <a:endParaRPr lang="en-US" sz="1400" dirty="0"/>
          </a:p>
          <a:p>
            <a:pPr algn="ctr" indent="0" marL="0">
              <a:buNone/>
            </a:pPr>
            <a:r>
              <a:rPr lang="en-US" sz="1100" dirty="0">
                <a:solidFill>
                  <a:schemeClr val="bg1"/>
                </a:solidFill>
              </a:rPr>
              <a:t>udaipur</a:t>
            </a:r>
            <a:endParaRPr lang="en-US" sz="1400" dirty="0"/>
          </a:p>
        </p:txBody>
      </p:sp>
      <p:sp>
        <p:nvSpPr>
          <p:cNvPr id="14" name="Shape 12"/>
          <p:cNvSpPr/>
          <p:nvPr/>
        </p:nvSpPr>
        <p:spPr>
          <a:xfrm>
            <a:off x="3429000" y="3886200"/>
            <a:ext cx="2080260" cy="502920"/>
          </a:xfrm>
          <a:prstGeom prst="line">
            <a:avLst/>
          </a:prstGeom>
          <a:noFill/>
          <a:ln w="19050">
            <a:solidFill>
              <a:schemeClr val="accent5"/>
            </a:solidFill>
            <a:prstDash val="solid"/>
            <a:tailEnd type="triangle"/>
          </a:ln>
        </p:spPr>
      </p:sp>
      <p:sp>
        <p:nvSpPr>
          <p:cNvPr id="15" name="Text 13"/>
          <p:cNvSpPr txBox="1"/>
          <p:nvPr/>
        </p:nvSpPr>
        <p:spPr>
          <a:xfrm>
            <a:off x="4937760" y="4389120"/>
            <a:ext cx="1143000" cy="868680"/>
          </a:xfrm>
          <a:prstGeom prst="roundRect">
            <a:avLst>
              <a:gd name="adj" fmla="val 10526"/>
            </a:avLst>
          </a:prstGeom>
          <a:solidFill>
            <a:schemeClr val="accent6"/>
          </a:solidFill>
          <a:ln/>
        </p:spPr>
        <p:txBody>
          <a:bodyPr wrap="square" lIns="25400" tIns="25400" rIns="25400" bIns="25400" rtlCol="0" anchor="ctr"/>
          <a:lstStyle/>
          <a:p>
            <a:pPr algn="ctr" indent="0" marL="0">
              <a:buNone/>
            </a:pPr>
            <a:r>
              <a:rPr lang="en-US" sz="1400" b="1" dirty="0">
                <a:solidFill>
                  <a:schemeClr val="bg1"/>
                </a:solidFill>
              </a:rPr>
              <a:t>Site 4</a:t>
            </a:r>
            <a:endParaRPr lang="en-US" sz="1400" dirty="0"/>
          </a:p>
          <a:p>
            <a:pPr algn="ctr" indent="0" marL="0">
              <a:buNone/>
            </a:pPr>
            <a:r>
              <a:rPr lang="en-US" sz="1100" dirty="0">
                <a:solidFill>
                  <a:schemeClr val="bg1"/>
                </a:solidFill>
              </a:rPr>
              <a:t>bikaner</a:t>
            </a:r>
            <a:endParaRPr lang="en-US" sz="1400" dirty="0"/>
          </a:p>
        </p:txBody>
      </p:sp>
      <p:sp>
        <p:nvSpPr>
          <p:cNvPr id="16" name="Text 14"/>
          <p:cNvSpPr txBox="1"/>
          <p:nvPr/>
        </p:nvSpPr>
        <p:spPr>
          <a:xfrm>
            <a:off x="822960" y="5486400"/>
            <a:ext cx="5212080" cy="365760"/>
          </a:xfrm>
          <a:prstGeom prst="rect">
            <a:avLst/>
          </a:prstGeom>
          <a:noFill/>
          <a:ln/>
        </p:spPr>
        <p:txBody>
          <a:bodyPr wrap="square" lIns="0" tIns="0" rIns="0" bIns="0" rtlCol="0" anchor="ctr"/>
          <a:lstStyle/>
          <a:p>
            <a:pPr algn="ctr" indent="0" marL="0">
              <a:buNone/>
            </a:pPr>
            <a:r>
              <a:rPr lang="en-US" sz="1400" b="1" dirty="0">
                <a:solidFill>
                  <a:schemeClr val="tx2"/>
                </a:solidFill>
              </a:rPr>
              <a:t>Ek update = saari sites update</a:t>
            </a:r>
            <a:endParaRPr lang="en-US" sz="1400" dirty="0"/>
          </a:p>
        </p:txBody>
      </p:sp>
      <p:sp>
        <p:nvSpPr>
          <p:cNvPr id="17" name="Ek core, anek sites frame"/>
          <p:cNvSpPr/>
          <p:nvPr/>
        </p:nvSpPr>
        <p:spPr>
          <a:xfrm>
            <a:off x="6675120" y="1828800"/>
            <a:ext cx="731520" cy="731520"/>
          </a:xfrm>
          <a:prstGeom prst="diamond">
            <a:avLst/>
          </a:prstGeom>
          <a:solidFill>
            <a:schemeClr val="accent1"/>
          </a:solidFill>
          <a:ln w="12700">
            <a:solidFill>
              <a:schemeClr val="accent1"/>
            </a:solidFill>
            <a:prstDash val="solid"/>
          </a:ln>
        </p:spPr>
      </p:sp>
      <p:pic>
        <p:nvPicPr>
          <p:cNvPr id="18" name="Ek core, anek sites icon" descr="Ek core, anek sites">    </p:cNvPr>
          <p:cNvPicPr>
            <a:picLocks noChangeAspect="1"/>
          </p:cNvPicPr>
          <p:nvPr/>
        </p:nvPicPr>
        <p:blipFill>
          <a:blip r:embed="rId1"/>
          <a:stretch>
            <a:fillRect/>
          </a:stretch>
        </p:blipFill>
        <p:spPr>
          <a:xfrm>
            <a:off x="6887261" y="2040941"/>
            <a:ext cx="307238" cy="307238"/>
          </a:xfrm>
          <a:prstGeom prst="rect">
            <a:avLst/>
          </a:prstGeom>
        </p:spPr>
      </p:pic>
      <p:sp>
        <p:nvSpPr>
          <p:cNvPr id="19" name="Text 16"/>
          <p:cNvSpPr txBox="1"/>
          <p:nvPr/>
        </p:nvSpPr>
        <p:spPr>
          <a:xfrm>
            <a:off x="7635240" y="1783080"/>
            <a:ext cx="4023360" cy="384048"/>
          </a:xfrm>
          <a:prstGeom prst="rect">
            <a:avLst/>
          </a:prstGeom>
          <a:noFill/>
          <a:ln/>
        </p:spPr>
        <p:txBody>
          <a:bodyPr wrap="square" lIns="0" tIns="0" rIns="0" bIns="0" rtlCol="0" anchor="ctr"/>
          <a:lstStyle/>
          <a:p>
            <a:pPr indent="0" marL="0">
              <a:buNone/>
            </a:pPr>
            <a:r>
              <a:rPr lang="en-US" sz="1800" b="1" dirty="0">
                <a:solidFill>
                  <a:schemeClr val="tx2"/>
                </a:solidFill>
              </a:rPr>
              <a:t>Ek core, anek sites</a:t>
            </a:r>
            <a:endParaRPr lang="en-US" sz="1800" dirty="0"/>
          </a:p>
        </p:txBody>
      </p:sp>
      <p:sp>
        <p:nvSpPr>
          <p:cNvPr id="20" name="Text 17"/>
          <p:cNvSpPr txBox="1"/>
          <p:nvPr/>
        </p:nvSpPr>
        <p:spPr>
          <a:xfrm>
            <a:off x="7635240" y="2167128"/>
            <a:ext cx="4023360" cy="548640"/>
          </a:xfrm>
          <a:prstGeom prst="rect">
            <a:avLst/>
          </a:prstGeom>
          <a:noFill/>
          <a:ln/>
        </p:spPr>
        <p:txBody>
          <a:bodyPr wrap="square" lIns="0" tIns="0" rIns="0" bIns="0" rtlCol="0" anchor="t"/>
          <a:lstStyle/>
          <a:p>
            <a:pPr indent="0" marL="0">
              <a:buNone/>
            </a:pPr>
            <a:r>
              <a:rPr lang="en-US" sz="1400" dirty="0">
                <a:solidFill>
                  <a:schemeClr val="tx1"/>
                </a:solidFill>
              </a:rPr>
              <a:t>Ek hi WordPress codebase se sau, hazaar sites chalti hain.</a:t>
            </a:r>
            <a:endParaRPr lang="en-US" sz="1400" dirty="0"/>
          </a:p>
        </p:txBody>
      </p:sp>
      <p:sp>
        <p:nvSpPr>
          <p:cNvPr id="21" name="Plugins &amp; themes shared frame"/>
          <p:cNvSpPr/>
          <p:nvPr/>
        </p:nvSpPr>
        <p:spPr>
          <a:xfrm>
            <a:off x="6675120" y="2926080"/>
            <a:ext cx="731520" cy="731520"/>
          </a:xfrm>
          <a:prstGeom prst="diamond">
            <a:avLst/>
          </a:prstGeom>
          <a:solidFill>
            <a:schemeClr val="accent3"/>
          </a:solidFill>
          <a:ln w="12700">
            <a:solidFill>
              <a:schemeClr val="accent3"/>
            </a:solidFill>
            <a:prstDash val="solid"/>
          </a:ln>
        </p:spPr>
      </p:sp>
      <p:pic>
        <p:nvPicPr>
          <p:cNvPr id="22" name="Plugins &amp; themes shared icon" descr="Plugins &amp; themes shared">    </p:cNvPr>
          <p:cNvPicPr>
            <a:picLocks noChangeAspect="1"/>
          </p:cNvPicPr>
          <p:nvPr/>
        </p:nvPicPr>
        <p:blipFill>
          <a:blip r:embed="rId2"/>
          <a:stretch>
            <a:fillRect/>
          </a:stretch>
        </p:blipFill>
        <p:spPr>
          <a:xfrm>
            <a:off x="6887261" y="3138221"/>
            <a:ext cx="307238" cy="307238"/>
          </a:xfrm>
          <a:prstGeom prst="rect">
            <a:avLst/>
          </a:prstGeom>
        </p:spPr>
      </p:pic>
      <p:sp>
        <p:nvSpPr>
          <p:cNvPr id="23" name="Text 19"/>
          <p:cNvSpPr txBox="1"/>
          <p:nvPr/>
        </p:nvSpPr>
        <p:spPr>
          <a:xfrm>
            <a:off x="7635240" y="2880360"/>
            <a:ext cx="4023360" cy="384048"/>
          </a:xfrm>
          <a:prstGeom prst="rect">
            <a:avLst/>
          </a:prstGeom>
          <a:noFill/>
          <a:ln/>
        </p:spPr>
        <p:txBody>
          <a:bodyPr wrap="square" lIns="0" tIns="0" rIns="0" bIns="0" rtlCol="0" anchor="ctr"/>
          <a:lstStyle/>
          <a:p>
            <a:pPr indent="0" marL="0">
              <a:buNone/>
            </a:pPr>
            <a:r>
              <a:rPr lang="en-US" sz="1800" b="1" dirty="0">
                <a:solidFill>
                  <a:schemeClr val="tx2"/>
                </a:solidFill>
              </a:rPr>
              <a:t>Plugins &amp; themes shared</a:t>
            </a:r>
            <a:endParaRPr lang="en-US" sz="1800" dirty="0"/>
          </a:p>
        </p:txBody>
      </p:sp>
      <p:sp>
        <p:nvSpPr>
          <p:cNvPr id="24" name="Text 20"/>
          <p:cNvSpPr txBox="1"/>
          <p:nvPr/>
        </p:nvSpPr>
        <p:spPr>
          <a:xfrm>
            <a:off x="7635240" y="3264408"/>
            <a:ext cx="4023360" cy="548640"/>
          </a:xfrm>
          <a:prstGeom prst="rect">
            <a:avLst/>
          </a:prstGeom>
          <a:noFill/>
          <a:ln/>
        </p:spPr>
        <p:txBody>
          <a:bodyPr wrap="square" lIns="0" tIns="0" rIns="0" bIns="0" rtlCol="0" anchor="t"/>
          <a:lstStyle/>
          <a:p>
            <a:pPr indent="0" marL="0">
              <a:buNone/>
            </a:pPr>
            <a:r>
              <a:rPr lang="en-US" sz="1400" dirty="0">
                <a:solidFill>
                  <a:schemeClr val="tx1"/>
                </a:solidFill>
              </a:rPr>
              <a:t>Super Admin install karta hai, site admin bas activate karta hai.</a:t>
            </a:r>
            <a:endParaRPr lang="en-US" sz="1400" dirty="0"/>
          </a:p>
        </p:txBody>
      </p:sp>
      <p:sp>
        <p:nvSpPr>
          <p:cNvPr id="25" name="Content alag, users common frame"/>
          <p:cNvSpPr/>
          <p:nvPr/>
        </p:nvSpPr>
        <p:spPr>
          <a:xfrm>
            <a:off x="6675120" y="4023360"/>
            <a:ext cx="731520" cy="731520"/>
          </a:xfrm>
          <a:prstGeom prst="diamond">
            <a:avLst/>
          </a:prstGeom>
          <a:solidFill>
            <a:schemeClr val="accent2"/>
          </a:solidFill>
          <a:ln w="12700">
            <a:solidFill>
              <a:schemeClr val="accent2"/>
            </a:solidFill>
            <a:prstDash val="solid"/>
          </a:ln>
        </p:spPr>
      </p:sp>
      <p:pic>
        <p:nvPicPr>
          <p:cNvPr id="26" name="Content alag, users common icon" descr="Content alag, users common">    </p:cNvPr>
          <p:cNvPicPr>
            <a:picLocks noChangeAspect="1"/>
          </p:cNvPicPr>
          <p:nvPr/>
        </p:nvPicPr>
        <p:blipFill>
          <a:blip r:embed="rId3"/>
          <a:stretch>
            <a:fillRect/>
          </a:stretch>
        </p:blipFill>
        <p:spPr>
          <a:xfrm>
            <a:off x="6887261" y="4235501"/>
            <a:ext cx="307238" cy="307238"/>
          </a:xfrm>
          <a:prstGeom prst="rect">
            <a:avLst/>
          </a:prstGeom>
        </p:spPr>
      </p:pic>
      <p:sp>
        <p:nvSpPr>
          <p:cNvPr id="27" name="Text 22"/>
          <p:cNvSpPr txBox="1"/>
          <p:nvPr/>
        </p:nvSpPr>
        <p:spPr>
          <a:xfrm>
            <a:off x="7635240" y="3977640"/>
            <a:ext cx="4023360" cy="384048"/>
          </a:xfrm>
          <a:prstGeom prst="rect">
            <a:avLst/>
          </a:prstGeom>
          <a:noFill/>
          <a:ln/>
        </p:spPr>
        <p:txBody>
          <a:bodyPr wrap="square" lIns="0" tIns="0" rIns="0" bIns="0" rtlCol="0" anchor="ctr"/>
          <a:lstStyle/>
          <a:p>
            <a:pPr indent="0" marL="0">
              <a:buNone/>
            </a:pPr>
            <a:r>
              <a:rPr lang="en-US" sz="1800" b="1" dirty="0">
                <a:solidFill>
                  <a:schemeClr val="tx2"/>
                </a:solidFill>
              </a:rPr>
              <a:t>Content alag, users common</a:t>
            </a:r>
            <a:endParaRPr lang="en-US" sz="1800" dirty="0"/>
          </a:p>
        </p:txBody>
      </p:sp>
      <p:sp>
        <p:nvSpPr>
          <p:cNvPr id="28" name="Text 23"/>
          <p:cNvSpPr txBox="1"/>
          <p:nvPr/>
        </p:nvSpPr>
        <p:spPr>
          <a:xfrm>
            <a:off x="7635240" y="4361688"/>
            <a:ext cx="4023360" cy="548640"/>
          </a:xfrm>
          <a:prstGeom prst="rect">
            <a:avLst/>
          </a:prstGeom>
          <a:noFill/>
          <a:ln/>
        </p:spPr>
        <p:txBody>
          <a:bodyPr wrap="square" lIns="0" tIns="0" rIns="0" bIns="0" rtlCol="0" anchor="t"/>
          <a:lstStyle/>
          <a:p>
            <a:pPr indent="0" marL="0">
              <a:buNone/>
            </a:pPr>
            <a:r>
              <a:rPr lang="en-US" sz="1400" dirty="0">
                <a:solidFill>
                  <a:schemeClr val="tx1"/>
                </a:solidFill>
              </a:rPr>
              <a:t>Har site ki apni tables; users ek hi pool se aate hain.</a:t>
            </a:r>
            <a:endParaRPr lang="en-US" sz="1400" dirty="0"/>
          </a:p>
        </p:txBody>
      </p:sp>
      <p:sp>
        <p:nvSpPr>
          <p:cNvPr id="29" name="Network Admin = Thakur Sa frame"/>
          <p:cNvSpPr/>
          <p:nvPr/>
        </p:nvSpPr>
        <p:spPr>
          <a:xfrm>
            <a:off x="6675120" y="5120640"/>
            <a:ext cx="731520" cy="731520"/>
          </a:xfrm>
          <a:prstGeom prst="diamond">
            <a:avLst/>
          </a:prstGeom>
          <a:solidFill>
            <a:schemeClr val="accent4"/>
          </a:solidFill>
          <a:ln w="12700">
            <a:solidFill>
              <a:schemeClr val="accent4"/>
            </a:solidFill>
            <a:prstDash val="solid"/>
          </a:ln>
        </p:spPr>
      </p:sp>
      <p:pic>
        <p:nvPicPr>
          <p:cNvPr id="30" name="Network Admin = Thakur Sa icon" descr="Network Admin = Thakur Sa">    </p:cNvPr>
          <p:cNvPicPr>
            <a:picLocks noChangeAspect="1"/>
          </p:cNvPicPr>
          <p:nvPr/>
        </p:nvPicPr>
        <p:blipFill>
          <a:blip r:embed="rId4"/>
          <a:stretch>
            <a:fillRect/>
          </a:stretch>
        </p:blipFill>
        <p:spPr>
          <a:xfrm>
            <a:off x="6887261" y="5332781"/>
            <a:ext cx="307238" cy="307238"/>
          </a:xfrm>
          <a:prstGeom prst="rect">
            <a:avLst/>
          </a:prstGeom>
        </p:spPr>
      </p:pic>
      <p:sp>
        <p:nvSpPr>
          <p:cNvPr id="31" name="Text 25"/>
          <p:cNvSpPr txBox="1"/>
          <p:nvPr/>
        </p:nvSpPr>
        <p:spPr>
          <a:xfrm>
            <a:off x="7635240" y="5074920"/>
            <a:ext cx="4023360" cy="384048"/>
          </a:xfrm>
          <a:prstGeom prst="rect">
            <a:avLst/>
          </a:prstGeom>
          <a:noFill/>
          <a:ln/>
        </p:spPr>
        <p:txBody>
          <a:bodyPr wrap="square" lIns="0" tIns="0" rIns="0" bIns="0" rtlCol="0" anchor="ctr"/>
          <a:lstStyle/>
          <a:p>
            <a:pPr indent="0" marL="0">
              <a:buNone/>
            </a:pPr>
            <a:r>
              <a:rPr lang="en-US" sz="1800" b="1" dirty="0">
                <a:solidFill>
                  <a:schemeClr val="tx2"/>
                </a:solidFill>
              </a:rPr>
              <a:t>Network Admin = Thakur Sa</a:t>
            </a:r>
            <a:endParaRPr lang="en-US" sz="1800" dirty="0"/>
          </a:p>
        </p:txBody>
      </p:sp>
      <p:sp>
        <p:nvSpPr>
          <p:cNvPr id="32" name="Text 26"/>
          <p:cNvSpPr txBox="1"/>
          <p:nvPr/>
        </p:nvSpPr>
        <p:spPr>
          <a:xfrm>
            <a:off x="7635240" y="5458968"/>
            <a:ext cx="4023360" cy="548640"/>
          </a:xfrm>
          <a:prstGeom prst="rect">
            <a:avLst/>
          </a:prstGeom>
          <a:noFill/>
          <a:ln/>
        </p:spPr>
        <p:txBody>
          <a:bodyPr wrap="square" lIns="0" tIns="0" rIns="0" bIns="0" rtlCol="0" anchor="t"/>
          <a:lstStyle/>
          <a:p>
            <a:pPr indent="0" marL="0">
              <a:buNone/>
            </a:pPr>
            <a:r>
              <a:rPr lang="en-US" sz="1400" dirty="0">
                <a:solidFill>
                  <a:schemeClr val="tx1"/>
                </a:solidFill>
              </a:rPr>
              <a:t>Ek dashboard se poori haveli ka control.</a:t>
            </a:r>
            <a:endParaRPr lang="en-US" sz="1400" dirty="0"/>
          </a:p>
        </p:txBody>
      </p:sp>
      <p:sp>
        <p:nvSpPr>
          <p:cNvPr id="33" name="Back to the menu button"/>
          <p:cNvSpPr txBox="1"/>
          <p:nvPr/>
        </p:nvSpPr>
        <p:spPr>
          <a:xfrm>
            <a:off x="9646920" y="6336792"/>
            <a:ext cx="128016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  Menu</a:t>
            </a:r>
            <a:endParaRPr lang="en-US" sz="1100" dirty="0"/>
          </a:p>
        </p:txBody>
      </p:sp>
      <p:sp>
        <p:nvSpPr>
          <p:cNvPr id="34" name="Link: Back to the menu">
            <a:hlinkClick r:id="rId5"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bg1"/>
                </a:solidFill>
                <a:latin typeface="Arial" pitchFamily="34" charset="0"/>
                <a:ea typeface="Arial" pitchFamily="34" charset="-122"/>
                <a:cs typeface="Arial" pitchFamily="34" charset="-120"/>
              </a:rPr>
              <a:t>“Multisite koi use bhi karta hai?”</a:t>
            </a:r>
            <a:endParaRPr lang="en-US" sz="3400" dirty="0"/>
          </a:p>
        </p:txBody>
      </p:sp>
      <p:sp>
        <p:nvSpPr>
          <p:cNvPr id="3" name="Text 1"/>
          <p:cNvSpPr txBox="1"/>
          <p:nvPr/>
        </p:nvSpPr>
        <p:spPr>
          <a:xfrm>
            <a:off x="548640" y="1143000"/>
            <a:ext cx="10058400" cy="411480"/>
          </a:xfrm>
          <a:prstGeom prst="rect">
            <a:avLst/>
          </a:prstGeom>
          <a:noFill/>
          <a:ln/>
        </p:spPr>
        <p:txBody>
          <a:bodyPr wrap="square" lIns="0" tIns="0" rIns="0" bIns="0" rtlCol="0" anchor="ctr"/>
          <a:lstStyle/>
          <a:p>
            <a:pPr indent="0" marL="0">
              <a:buNone/>
            </a:pPr>
            <a:r>
              <a:rPr lang="en-US" sz="1800" b="1" dirty="0">
                <a:solidFill>
                  <a:schemeClr val="accent2"/>
                </a:solidFill>
              </a:rPr>
              <a:t>Haan bhai, karta hai! Aur shayad aap roz unki sites padhte ho.</a:t>
            </a:r>
            <a:endParaRPr lang="en-US" sz="1800" dirty="0"/>
          </a:p>
        </p:txBody>
      </p:sp>
      <p:sp>
        <p:nvSpPr>
          <p:cNvPr id="4" name="Text 2"/>
          <p:cNvSpPr txBox="1"/>
          <p:nvPr/>
        </p:nvSpPr>
        <p:spPr>
          <a:xfrm>
            <a:off x="548640" y="1783080"/>
            <a:ext cx="5120640" cy="411480"/>
          </a:xfrm>
          <a:prstGeom prst="rect">
            <a:avLst/>
          </a:prstGeom>
          <a:noFill/>
          <a:ln/>
        </p:spPr>
        <p:txBody>
          <a:bodyPr wrap="square" lIns="0" tIns="0" rIns="0" bIns="0" rtlCol="0" anchor="ctr"/>
          <a:lstStyle/>
          <a:p>
            <a:pPr indent="0" marL="0">
              <a:buNone/>
            </a:pPr>
            <a:r>
              <a:rPr lang="en-US" sz="1800" b="1" dirty="0">
                <a:solidFill>
                  <a:schemeClr val="bg1"/>
                </a:solidFill>
              </a:rPr>
              <a:t>Afwaah  vs  Asliyat</a:t>
            </a:r>
            <a:endParaRPr lang="en-US" sz="1800" dirty="0"/>
          </a:p>
        </p:txBody>
      </p:sp>
      <p:sp>
        <p:nvSpPr>
          <p:cNvPr id="5" name="Myth card 1"/>
          <p:cNvSpPr/>
          <p:nvPr/>
        </p:nvSpPr>
        <p:spPr>
          <a:xfrm>
            <a:off x="548640" y="2286000"/>
            <a:ext cx="5120640" cy="1097280"/>
          </a:xfrm>
          <a:prstGeom prst="roundRect">
            <a:avLst>
              <a:gd name="adj" fmla="val 12500"/>
            </a:avLst>
          </a:prstGeom>
          <a:solidFill>
            <a:srgbClr val="1A3460"/>
          </a:solidFill>
          <a:ln w="12700">
            <a:solidFill>
              <a:srgbClr val="1A3460"/>
            </a:solidFill>
            <a:prstDash val="solid"/>
          </a:ln>
        </p:spPr>
      </p:sp>
      <p:sp>
        <p:nvSpPr>
          <p:cNvPr id="6" name="Text 4"/>
          <p:cNvSpPr txBox="1"/>
          <p:nvPr/>
        </p:nvSpPr>
        <p:spPr>
          <a:xfrm>
            <a:off x="777240" y="2377440"/>
            <a:ext cx="4754880" cy="914400"/>
          </a:xfrm>
          <a:prstGeom prst="rect">
            <a:avLst/>
          </a:prstGeom>
          <a:noFill/>
          <a:ln/>
        </p:spPr>
        <p:txBody>
          <a:bodyPr wrap="square" lIns="0" tIns="0" rIns="0" bIns="0" rtlCol="0" anchor="ctr"/>
          <a:lstStyle/>
          <a:p>
            <a:pPr indent="0" marL="0">
              <a:buNone/>
            </a:pPr>
            <a:r>
              <a:rPr lang="en-US" sz="1500" strike="sngStrike" dirty="0">
                <a:solidFill>
                  <a:srgbClr val="F4A3A3"/>
                </a:solidFill>
              </a:rPr>
              <a:t>Multisite toh dead feature hai</a:t>
            </a:r>
            <a:endParaRPr lang="en-US" sz="1500" dirty="0"/>
          </a:p>
          <a:p>
            <a:pPr indent="0" marL="0">
              <a:buNone/>
            </a:pPr>
            <a:r>
              <a:rPr lang="en-US" sz="1500" b="1" dirty="0">
                <a:solidFill>
                  <a:schemeClr val="bg1"/>
                </a:solidFill>
              </a:rPr>
              <a:t>Core ka part hai, har release ke saath maintain hota hai</a:t>
            </a:r>
            <a:endParaRPr lang="en-US" sz="1500" dirty="0"/>
          </a:p>
        </p:txBody>
      </p:sp>
      <p:sp>
        <p:nvSpPr>
          <p:cNvPr id="7" name="Myth card 2"/>
          <p:cNvSpPr/>
          <p:nvPr/>
        </p:nvSpPr>
        <p:spPr>
          <a:xfrm>
            <a:off x="548640" y="3566160"/>
            <a:ext cx="5120640" cy="1097280"/>
          </a:xfrm>
          <a:prstGeom prst="roundRect">
            <a:avLst>
              <a:gd name="adj" fmla="val 12500"/>
            </a:avLst>
          </a:prstGeom>
          <a:solidFill>
            <a:srgbClr val="1A3460"/>
          </a:solidFill>
          <a:ln w="12700">
            <a:solidFill>
              <a:srgbClr val="1A3460"/>
            </a:solidFill>
            <a:prstDash val="solid"/>
          </a:ln>
        </p:spPr>
      </p:sp>
      <p:sp>
        <p:nvSpPr>
          <p:cNvPr id="8" name="Text 6"/>
          <p:cNvSpPr txBox="1"/>
          <p:nvPr/>
        </p:nvSpPr>
        <p:spPr>
          <a:xfrm>
            <a:off x="777240" y="3657600"/>
            <a:ext cx="4754880" cy="914400"/>
          </a:xfrm>
          <a:prstGeom prst="rect">
            <a:avLst/>
          </a:prstGeom>
          <a:noFill/>
          <a:ln/>
        </p:spPr>
        <p:txBody>
          <a:bodyPr wrap="square" lIns="0" tIns="0" rIns="0" bIns="0" rtlCol="0" anchor="ctr"/>
          <a:lstStyle/>
          <a:p>
            <a:pPr indent="0" marL="0">
              <a:buNone/>
            </a:pPr>
            <a:r>
              <a:rPr lang="en-US" sz="1500" strike="sngStrike" dirty="0">
                <a:solidFill>
                  <a:srgbClr val="F4A3A3"/>
                </a:solidFill>
              </a:rPr>
              <a:t>Sirf badi companies ke liye</a:t>
            </a:r>
            <a:endParaRPr lang="en-US" sz="1500" dirty="0"/>
          </a:p>
          <a:p>
            <a:pPr indent="0" marL="0">
              <a:buNone/>
            </a:pPr>
            <a:r>
              <a:rPr lang="en-US" sz="1500" b="1" dirty="0">
                <a:solidFill>
                  <a:schemeClr val="bg1"/>
                </a:solidFill>
              </a:rPr>
              <a:t>2 se 20,000 sites tak, jahaan parivaar ek jaisa ho</a:t>
            </a:r>
            <a:endParaRPr lang="en-US" sz="1500" dirty="0"/>
          </a:p>
        </p:txBody>
      </p:sp>
      <p:sp>
        <p:nvSpPr>
          <p:cNvPr id="9" name="Myth card 3"/>
          <p:cNvSpPr/>
          <p:nvPr/>
        </p:nvSpPr>
        <p:spPr>
          <a:xfrm>
            <a:off x="548640" y="4846320"/>
            <a:ext cx="5120640" cy="1097280"/>
          </a:xfrm>
          <a:prstGeom prst="roundRect">
            <a:avLst>
              <a:gd name="adj" fmla="val 12500"/>
            </a:avLst>
          </a:prstGeom>
          <a:solidFill>
            <a:srgbClr val="1A3460"/>
          </a:solidFill>
          <a:ln w="12700">
            <a:solidFill>
              <a:srgbClr val="1A3460"/>
            </a:solidFill>
            <a:prstDash val="solid"/>
          </a:ln>
        </p:spPr>
      </p:sp>
      <p:sp>
        <p:nvSpPr>
          <p:cNvPr id="10" name="Text 8"/>
          <p:cNvSpPr txBox="1"/>
          <p:nvPr/>
        </p:nvSpPr>
        <p:spPr>
          <a:xfrm>
            <a:off x="777240" y="4937760"/>
            <a:ext cx="4754880" cy="914400"/>
          </a:xfrm>
          <a:prstGeom prst="rect">
            <a:avLst/>
          </a:prstGeom>
          <a:noFill/>
          <a:ln/>
        </p:spPr>
        <p:txBody>
          <a:bodyPr wrap="square" lIns="0" tIns="0" rIns="0" bIns="0" rtlCol="0" anchor="ctr"/>
          <a:lstStyle/>
          <a:p>
            <a:pPr indent="0" marL="0">
              <a:buNone/>
            </a:pPr>
            <a:r>
              <a:rPr lang="en-US" sz="1500" strike="sngStrike" dirty="0">
                <a:solidFill>
                  <a:srgbClr val="F4A3A3"/>
                </a:solidFill>
              </a:rPr>
              <a:t>Bahut complex, mat chhedo</a:t>
            </a:r>
            <a:endParaRPr lang="en-US" sz="1500" dirty="0"/>
          </a:p>
          <a:p>
            <a:pPr indent="0" marL="0">
              <a:buNone/>
            </a:pPr>
            <a:r>
              <a:rPr lang="en-US" sz="1500" b="1" dirty="0">
                <a:solidFill>
                  <a:schemeClr val="bg1"/>
                </a:solidFill>
              </a:rPr>
              <a:t>Setup 10 minute ka; mehnat governance mein hai</a:t>
            </a:r>
            <a:endParaRPr lang="en-US" sz="1500" dirty="0"/>
          </a:p>
        </p:txBody>
      </p:sp>
      <p:sp>
        <p:nvSpPr>
          <p:cNvPr id="11" name="User card 1"/>
          <p:cNvSpPr/>
          <p:nvPr/>
        </p:nvSpPr>
        <p:spPr>
          <a:xfrm>
            <a:off x="6172200" y="1783080"/>
            <a:ext cx="2560320" cy="1325880"/>
          </a:xfrm>
          <a:prstGeom prst="roundRect">
            <a:avLst>
              <a:gd name="adj" fmla="val 10345"/>
            </a:avLst>
          </a:prstGeom>
          <a:solidFill>
            <a:schemeClr val="bg2"/>
          </a:solidFill>
          <a:ln w="12700">
            <a:solidFill>
              <a:schemeClr val="bg2"/>
            </a:solidFill>
            <a:prstDash val="solid"/>
          </a:ln>
        </p:spPr>
      </p:sp>
      <p:sp>
        <p:nvSpPr>
          <p:cNvPr id="12" name="WordPress.com frame"/>
          <p:cNvSpPr/>
          <p:nvPr/>
        </p:nvSpPr>
        <p:spPr>
          <a:xfrm>
            <a:off x="6309360" y="1920240"/>
            <a:ext cx="548640" cy="548640"/>
          </a:xfrm>
          <a:prstGeom prst="diamond">
            <a:avLst/>
          </a:prstGeom>
          <a:solidFill>
            <a:schemeClr val="accent1"/>
          </a:solidFill>
          <a:ln w="12700">
            <a:solidFill>
              <a:schemeClr val="accent1"/>
            </a:solidFill>
            <a:prstDash val="solid"/>
          </a:ln>
        </p:spPr>
      </p:sp>
      <p:pic>
        <p:nvPicPr>
          <p:cNvPr id="13" name="WordPress.com icon" descr="WordPress.com">    </p:cNvPr>
          <p:cNvPicPr>
            <a:picLocks noChangeAspect="1"/>
          </p:cNvPicPr>
          <p:nvPr/>
        </p:nvPicPr>
        <p:blipFill>
          <a:blip r:embed="rId1"/>
          <a:stretch>
            <a:fillRect/>
          </a:stretch>
        </p:blipFill>
        <p:spPr>
          <a:xfrm>
            <a:off x="6468466" y="2079346"/>
            <a:ext cx="230429" cy="230429"/>
          </a:xfrm>
          <a:prstGeom prst="rect">
            <a:avLst/>
          </a:prstGeom>
        </p:spPr>
      </p:pic>
      <p:sp>
        <p:nvSpPr>
          <p:cNvPr id="14" name="Text 11"/>
          <p:cNvSpPr txBox="1"/>
          <p:nvPr/>
        </p:nvSpPr>
        <p:spPr>
          <a:xfrm>
            <a:off x="6949440" y="1920240"/>
            <a:ext cx="1691640" cy="548640"/>
          </a:xfrm>
          <a:prstGeom prst="rect">
            <a:avLst/>
          </a:prstGeom>
          <a:noFill/>
          <a:ln/>
        </p:spPr>
        <p:txBody>
          <a:bodyPr wrap="square" lIns="0" tIns="0" rIns="0" bIns="0" rtlCol="0" anchor="ctr"/>
          <a:lstStyle/>
          <a:p>
            <a:pPr indent="0" marL="0">
              <a:buNone/>
            </a:pPr>
            <a:r>
              <a:rPr lang="en-US" sz="1400" b="1" dirty="0">
                <a:solidFill>
                  <a:schemeClr val="tx2"/>
                </a:solidFill>
              </a:rPr>
              <a:t>WordPress.com</a:t>
            </a:r>
            <a:endParaRPr lang="en-US" sz="1400" dirty="0"/>
          </a:p>
        </p:txBody>
      </p:sp>
      <p:sp>
        <p:nvSpPr>
          <p:cNvPr id="15" name="Text 12"/>
          <p:cNvSpPr txBox="1"/>
          <p:nvPr/>
        </p:nvSpPr>
        <p:spPr>
          <a:xfrm>
            <a:off x="6309360" y="2532888"/>
            <a:ext cx="2331720" cy="502920"/>
          </a:xfrm>
          <a:prstGeom prst="rect">
            <a:avLst/>
          </a:prstGeom>
          <a:noFill/>
          <a:ln/>
        </p:spPr>
        <p:txBody>
          <a:bodyPr wrap="square" lIns="0" tIns="0" rIns="0" bIns="0" rtlCol="0" anchor="t"/>
          <a:lstStyle/>
          <a:p>
            <a:pPr indent="0" marL="0">
              <a:buNone/>
            </a:pPr>
            <a:r>
              <a:rPr lang="en-US" sz="1200" dirty="0">
                <a:solidFill>
                  <a:schemeClr val="tx1"/>
                </a:solidFill>
              </a:rPr>
              <a:t>Khud Multisite pe chalta hai</a:t>
            </a:r>
            <a:endParaRPr lang="en-US" sz="1200" dirty="0"/>
          </a:p>
        </p:txBody>
      </p:sp>
      <p:sp>
        <p:nvSpPr>
          <p:cNvPr id="16" name="User card 2"/>
          <p:cNvSpPr/>
          <p:nvPr/>
        </p:nvSpPr>
        <p:spPr>
          <a:xfrm>
            <a:off x="8915400" y="1783080"/>
            <a:ext cx="2560320" cy="1325880"/>
          </a:xfrm>
          <a:prstGeom prst="roundRect">
            <a:avLst>
              <a:gd name="adj" fmla="val 10345"/>
            </a:avLst>
          </a:prstGeom>
          <a:solidFill>
            <a:schemeClr val="bg2"/>
          </a:solidFill>
          <a:ln w="12700">
            <a:solidFill>
              <a:schemeClr val="bg2"/>
            </a:solidFill>
            <a:prstDash val="solid"/>
          </a:ln>
        </p:spPr>
      </p:sp>
      <p:sp>
        <p:nvSpPr>
          <p:cNvPr id="17" name="Universities &amp; schools frame"/>
          <p:cNvSpPr/>
          <p:nvPr/>
        </p:nvSpPr>
        <p:spPr>
          <a:xfrm>
            <a:off x="9052560" y="1920240"/>
            <a:ext cx="548640" cy="548640"/>
          </a:xfrm>
          <a:prstGeom prst="diamond">
            <a:avLst/>
          </a:prstGeom>
          <a:solidFill>
            <a:schemeClr val="accent3"/>
          </a:solidFill>
          <a:ln w="12700">
            <a:solidFill>
              <a:schemeClr val="accent3"/>
            </a:solidFill>
            <a:prstDash val="solid"/>
          </a:ln>
        </p:spPr>
      </p:sp>
      <p:pic>
        <p:nvPicPr>
          <p:cNvPr id="18" name="Universities &amp; schools icon" descr="Universities &amp; schools">    </p:cNvPr>
          <p:cNvPicPr>
            <a:picLocks noChangeAspect="1"/>
          </p:cNvPicPr>
          <p:nvPr/>
        </p:nvPicPr>
        <p:blipFill>
          <a:blip r:embed="rId2"/>
          <a:stretch>
            <a:fillRect/>
          </a:stretch>
        </p:blipFill>
        <p:spPr>
          <a:xfrm>
            <a:off x="9211666" y="2079346"/>
            <a:ext cx="230429" cy="230429"/>
          </a:xfrm>
          <a:prstGeom prst="rect">
            <a:avLst/>
          </a:prstGeom>
        </p:spPr>
      </p:pic>
      <p:sp>
        <p:nvSpPr>
          <p:cNvPr id="19" name="Text 15"/>
          <p:cNvSpPr txBox="1"/>
          <p:nvPr/>
        </p:nvSpPr>
        <p:spPr>
          <a:xfrm>
            <a:off x="9692640" y="1920240"/>
            <a:ext cx="1691640" cy="548640"/>
          </a:xfrm>
          <a:prstGeom prst="rect">
            <a:avLst/>
          </a:prstGeom>
          <a:noFill/>
          <a:ln/>
        </p:spPr>
        <p:txBody>
          <a:bodyPr wrap="square" lIns="0" tIns="0" rIns="0" bIns="0" rtlCol="0" anchor="ctr"/>
          <a:lstStyle/>
          <a:p>
            <a:pPr indent="0" marL="0">
              <a:buNone/>
            </a:pPr>
            <a:r>
              <a:rPr lang="en-US" sz="1400" b="1" dirty="0">
                <a:solidFill>
                  <a:schemeClr val="tx2"/>
                </a:solidFill>
              </a:rPr>
              <a:t>Universities &amp; schools</a:t>
            </a:r>
            <a:endParaRPr lang="en-US" sz="1400" dirty="0"/>
          </a:p>
        </p:txBody>
      </p:sp>
      <p:sp>
        <p:nvSpPr>
          <p:cNvPr id="20" name="Text 16"/>
          <p:cNvSpPr txBox="1"/>
          <p:nvPr/>
        </p:nvSpPr>
        <p:spPr>
          <a:xfrm>
            <a:off x="9052560" y="2532888"/>
            <a:ext cx="2331720" cy="502920"/>
          </a:xfrm>
          <a:prstGeom prst="rect">
            <a:avLst/>
          </a:prstGeom>
          <a:noFill/>
          <a:ln/>
        </p:spPr>
        <p:txBody>
          <a:bodyPr wrap="square" lIns="0" tIns="0" rIns="0" bIns="0" rtlCol="0" anchor="t"/>
          <a:lstStyle/>
          <a:p>
            <a:pPr indent="0" marL="0">
              <a:buNone/>
            </a:pPr>
            <a:r>
              <a:rPr lang="en-US" sz="1200" dirty="0">
                <a:solidFill>
                  <a:schemeClr val="tx1"/>
                </a:solidFill>
              </a:rPr>
              <a:t>Har department, har class ki site</a:t>
            </a:r>
            <a:endParaRPr lang="en-US" sz="1200" dirty="0"/>
          </a:p>
        </p:txBody>
      </p:sp>
      <p:sp>
        <p:nvSpPr>
          <p:cNvPr id="21" name="User card 3"/>
          <p:cNvSpPr/>
          <p:nvPr/>
        </p:nvSpPr>
        <p:spPr>
          <a:xfrm>
            <a:off x="6172200" y="3264408"/>
            <a:ext cx="2560320" cy="1325880"/>
          </a:xfrm>
          <a:prstGeom prst="roundRect">
            <a:avLst>
              <a:gd name="adj" fmla="val 10345"/>
            </a:avLst>
          </a:prstGeom>
          <a:solidFill>
            <a:schemeClr val="bg2"/>
          </a:solidFill>
          <a:ln w="12700">
            <a:solidFill>
              <a:schemeClr val="bg2"/>
            </a:solidFill>
            <a:prstDash val="solid"/>
          </a:ln>
        </p:spPr>
      </p:sp>
      <p:sp>
        <p:nvSpPr>
          <p:cNvPr id="22" name="Media houses frame"/>
          <p:cNvSpPr/>
          <p:nvPr/>
        </p:nvSpPr>
        <p:spPr>
          <a:xfrm>
            <a:off x="6309360" y="3401568"/>
            <a:ext cx="548640" cy="548640"/>
          </a:xfrm>
          <a:prstGeom prst="diamond">
            <a:avLst/>
          </a:prstGeom>
          <a:solidFill>
            <a:schemeClr val="accent4"/>
          </a:solidFill>
          <a:ln w="12700">
            <a:solidFill>
              <a:schemeClr val="accent4"/>
            </a:solidFill>
            <a:prstDash val="solid"/>
          </a:ln>
        </p:spPr>
      </p:sp>
      <p:pic>
        <p:nvPicPr>
          <p:cNvPr id="23" name="Media houses icon" descr="Media houses">    </p:cNvPr>
          <p:cNvPicPr>
            <a:picLocks noChangeAspect="1"/>
          </p:cNvPicPr>
          <p:nvPr/>
        </p:nvPicPr>
        <p:blipFill>
          <a:blip r:embed="rId3"/>
          <a:stretch>
            <a:fillRect/>
          </a:stretch>
        </p:blipFill>
        <p:spPr>
          <a:xfrm>
            <a:off x="6468466" y="3560674"/>
            <a:ext cx="230429" cy="230429"/>
          </a:xfrm>
          <a:prstGeom prst="rect">
            <a:avLst/>
          </a:prstGeom>
        </p:spPr>
      </p:pic>
      <p:sp>
        <p:nvSpPr>
          <p:cNvPr id="24" name="Text 19"/>
          <p:cNvSpPr txBox="1"/>
          <p:nvPr/>
        </p:nvSpPr>
        <p:spPr>
          <a:xfrm>
            <a:off x="6949440" y="3401568"/>
            <a:ext cx="1691640" cy="548640"/>
          </a:xfrm>
          <a:prstGeom prst="rect">
            <a:avLst/>
          </a:prstGeom>
          <a:noFill/>
          <a:ln/>
        </p:spPr>
        <p:txBody>
          <a:bodyPr wrap="square" lIns="0" tIns="0" rIns="0" bIns="0" rtlCol="0" anchor="ctr"/>
          <a:lstStyle/>
          <a:p>
            <a:pPr indent="0" marL="0">
              <a:buNone/>
            </a:pPr>
            <a:r>
              <a:rPr lang="en-US" sz="1400" b="1" dirty="0">
                <a:solidFill>
                  <a:schemeClr val="tx2"/>
                </a:solidFill>
              </a:rPr>
              <a:t>Media houses</a:t>
            </a:r>
            <a:endParaRPr lang="en-US" sz="1400" dirty="0"/>
          </a:p>
        </p:txBody>
      </p:sp>
      <p:sp>
        <p:nvSpPr>
          <p:cNvPr id="25" name="Text 20"/>
          <p:cNvSpPr txBox="1"/>
          <p:nvPr/>
        </p:nvSpPr>
        <p:spPr>
          <a:xfrm>
            <a:off x="6309360" y="4014216"/>
            <a:ext cx="2331720" cy="502920"/>
          </a:xfrm>
          <a:prstGeom prst="rect">
            <a:avLst/>
          </a:prstGeom>
          <a:noFill/>
          <a:ln/>
        </p:spPr>
        <p:txBody>
          <a:bodyPr wrap="square" lIns="0" tIns="0" rIns="0" bIns="0" rtlCol="0" anchor="t"/>
          <a:lstStyle/>
          <a:p>
            <a:pPr indent="0" marL="0">
              <a:buNone/>
            </a:pPr>
            <a:r>
              <a:rPr lang="en-US" sz="1200" dirty="0">
                <a:solidFill>
                  <a:schemeClr val="tx1"/>
                </a:solidFill>
              </a:rPr>
              <a:t>Har shehar ka regional edition</a:t>
            </a:r>
            <a:endParaRPr lang="en-US" sz="1200" dirty="0"/>
          </a:p>
        </p:txBody>
      </p:sp>
      <p:sp>
        <p:nvSpPr>
          <p:cNvPr id="26" name="User card 4"/>
          <p:cNvSpPr/>
          <p:nvPr/>
        </p:nvSpPr>
        <p:spPr>
          <a:xfrm>
            <a:off x="8915400" y="3264408"/>
            <a:ext cx="2560320" cy="1325880"/>
          </a:xfrm>
          <a:prstGeom prst="roundRect">
            <a:avLst>
              <a:gd name="adj" fmla="val 10345"/>
            </a:avLst>
          </a:prstGeom>
          <a:solidFill>
            <a:schemeClr val="bg2"/>
          </a:solidFill>
          <a:ln w="12700">
            <a:solidFill>
              <a:schemeClr val="bg2"/>
            </a:solidFill>
            <a:prstDash val="solid"/>
          </a:ln>
        </p:spPr>
      </p:sp>
      <p:sp>
        <p:nvSpPr>
          <p:cNvPr id="27" name="Franchises &amp; brands frame"/>
          <p:cNvSpPr/>
          <p:nvPr/>
        </p:nvSpPr>
        <p:spPr>
          <a:xfrm>
            <a:off x="9052560" y="3401568"/>
            <a:ext cx="548640" cy="548640"/>
          </a:xfrm>
          <a:prstGeom prst="diamond">
            <a:avLst/>
          </a:prstGeom>
          <a:solidFill>
            <a:schemeClr val="accent2"/>
          </a:solidFill>
          <a:ln w="12700">
            <a:solidFill>
              <a:schemeClr val="accent2"/>
            </a:solidFill>
            <a:prstDash val="solid"/>
          </a:ln>
        </p:spPr>
      </p:sp>
      <p:pic>
        <p:nvPicPr>
          <p:cNvPr id="28" name="Franchises &amp; brands icon" descr="Franchises &amp; brands">    </p:cNvPr>
          <p:cNvPicPr>
            <a:picLocks noChangeAspect="1"/>
          </p:cNvPicPr>
          <p:nvPr/>
        </p:nvPicPr>
        <p:blipFill>
          <a:blip r:embed="rId4"/>
          <a:stretch>
            <a:fillRect/>
          </a:stretch>
        </p:blipFill>
        <p:spPr>
          <a:xfrm>
            <a:off x="9211666" y="3560674"/>
            <a:ext cx="230429" cy="230429"/>
          </a:xfrm>
          <a:prstGeom prst="rect">
            <a:avLst/>
          </a:prstGeom>
        </p:spPr>
      </p:pic>
      <p:sp>
        <p:nvSpPr>
          <p:cNvPr id="29" name="Text 23"/>
          <p:cNvSpPr txBox="1"/>
          <p:nvPr/>
        </p:nvSpPr>
        <p:spPr>
          <a:xfrm>
            <a:off x="9692640" y="3401568"/>
            <a:ext cx="1691640" cy="548640"/>
          </a:xfrm>
          <a:prstGeom prst="rect">
            <a:avLst/>
          </a:prstGeom>
          <a:noFill/>
          <a:ln/>
        </p:spPr>
        <p:txBody>
          <a:bodyPr wrap="square" lIns="0" tIns="0" rIns="0" bIns="0" rtlCol="0" anchor="ctr"/>
          <a:lstStyle/>
          <a:p>
            <a:pPr indent="0" marL="0">
              <a:buNone/>
            </a:pPr>
            <a:r>
              <a:rPr lang="en-US" sz="1400" b="1" dirty="0">
                <a:solidFill>
                  <a:schemeClr val="tx2"/>
                </a:solidFill>
              </a:rPr>
              <a:t>Franchises &amp; brands</a:t>
            </a:r>
            <a:endParaRPr lang="en-US" sz="1400" dirty="0"/>
          </a:p>
        </p:txBody>
      </p:sp>
      <p:sp>
        <p:nvSpPr>
          <p:cNvPr id="30" name="Text 24"/>
          <p:cNvSpPr txBox="1"/>
          <p:nvPr/>
        </p:nvSpPr>
        <p:spPr>
          <a:xfrm>
            <a:off x="9052560" y="4014216"/>
            <a:ext cx="2331720" cy="502920"/>
          </a:xfrm>
          <a:prstGeom prst="rect">
            <a:avLst/>
          </a:prstGeom>
          <a:noFill/>
          <a:ln/>
        </p:spPr>
        <p:txBody>
          <a:bodyPr wrap="square" lIns="0" tIns="0" rIns="0" bIns="0" rtlCol="0" anchor="t"/>
          <a:lstStyle/>
          <a:p>
            <a:pPr indent="0" marL="0">
              <a:buNone/>
            </a:pPr>
            <a:r>
              <a:rPr lang="en-US" sz="1200" dirty="0">
                <a:solidFill>
                  <a:schemeClr val="tx1"/>
                </a:solidFill>
              </a:rPr>
              <a:t>Har outlet / branch ki site</a:t>
            </a:r>
            <a:endParaRPr lang="en-US" sz="1200" dirty="0"/>
          </a:p>
        </p:txBody>
      </p:sp>
      <p:sp>
        <p:nvSpPr>
          <p:cNvPr id="31" name="User card 5"/>
          <p:cNvSpPr/>
          <p:nvPr/>
        </p:nvSpPr>
        <p:spPr>
          <a:xfrm>
            <a:off x="6172200" y="4745736"/>
            <a:ext cx="2560320" cy="1325880"/>
          </a:xfrm>
          <a:prstGeom prst="roundRect">
            <a:avLst>
              <a:gd name="adj" fmla="val 10345"/>
            </a:avLst>
          </a:prstGeom>
          <a:solidFill>
            <a:schemeClr val="bg2"/>
          </a:solidFill>
          <a:ln w="12700">
            <a:solidFill>
              <a:schemeClr val="bg2"/>
            </a:solidFill>
            <a:prstDash val="solid"/>
          </a:ln>
        </p:spPr>
      </p:sp>
      <p:sp>
        <p:nvSpPr>
          <p:cNvPr id="32" name="Government &amp; NGOs frame"/>
          <p:cNvSpPr/>
          <p:nvPr/>
        </p:nvSpPr>
        <p:spPr>
          <a:xfrm>
            <a:off x="6309360" y="4882896"/>
            <a:ext cx="548640" cy="548640"/>
          </a:xfrm>
          <a:prstGeom prst="diamond">
            <a:avLst/>
          </a:prstGeom>
          <a:solidFill>
            <a:schemeClr val="accent6"/>
          </a:solidFill>
          <a:ln w="12700">
            <a:solidFill>
              <a:schemeClr val="accent6"/>
            </a:solidFill>
            <a:prstDash val="solid"/>
          </a:ln>
        </p:spPr>
      </p:sp>
      <p:pic>
        <p:nvPicPr>
          <p:cNvPr id="33" name="Government &amp; NGOs icon" descr="Government &amp; NGOs">    </p:cNvPr>
          <p:cNvPicPr>
            <a:picLocks noChangeAspect="1"/>
          </p:cNvPicPr>
          <p:nvPr/>
        </p:nvPicPr>
        <p:blipFill>
          <a:blip r:embed="rId5"/>
          <a:stretch>
            <a:fillRect/>
          </a:stretch>
        </p:blipFill>
        <p:spPr>
          <a:xfrm>
            <a:off x="6468466" y="5042002"/>
            <a:ext cx="230429" cy="230429"/>
          </a:xfrm>
          <a:prstGeom prst="rect">
            <a:avLst/>
          </a:prstGeom>
        </p:spPr>
      </p:pic>
      <p:sp>
        <p:nvSpPr>
          <p:cNvPr id="34" name="Text 27"/>
          <p:cNvSpPr txBox="1"/>
          <p:nvPr/>
        </p:nvSpPr>
        <p:spPr>
          <a:xfrm>
            <a:off x="6949440" y="4882896"/>
            <a:ext cx="1691640" cy="548640"/>
          </a:xfrm>
          <a:prstGeom prst="rect">
            <a:avLst/>
          </a:prstGeom>
          <a:noFill/>
          <a:ln/>
        </p:spPr>
        <p:txBody>
          <a:bodyPr wrap="square" lIns="0" tIns="0" rIns="0" bIns="0" rtlCol="0" anchor="ctr"/>
          <a:lstStyle/>
          <a:p>
            <a:pPr indent="0" marL="0">
              <a:buNone/>
            </a:pPr>
            <a:r>
              <a:rPr lang="en-US" sz="1400" b="1" dirty="0">
                <a:solidFill>
                  <a:schemeClr val="tx2"/>
                </a:solidFill>
              </a:rPr>
              <a:t>Government &amp; NGOs</a:t>
            </a:r>
            <a:endParaRPr lang="en-US" sz="1400" dirty="0"/>
          </a:p>
        </p:txBody>
      </p:sp>
      <p:sp>
        <p:nvSpPr>
          <p:cNvPr id="35" name="Text 28"/>
          <p:cNvSpPr txBox="1"/>
          <p:nvPr/>
        </p:nvSpPr>
        <p:spPr>
          <a:xfrm>
            <a:off x="6309360" y="5495544"/>
            <a:ext cx="2331720" cy="502920"/>
          </a:xfrm>
          <a:prstGeom prst="rect">
            <a:avLst/>
          </a:prstGeom>
          <a:noFill/>
          <a:ln/>
        </p:spPr>
        <p:txBody>
          <a:bodyPr wrap="square" lIns="0" tIns="0" rIns="0" bIns="0" rtlCol="0" anchor="t"/>
          <a:lstStyle/>
          <a:p>
            <a:pPr indent="0" marL="0">
              <a:buNone/>
            </a:pPr>
            <a:r>
              <a:rPr lang="en-US" sz="1200" dirty="0">
                <a:solidFill>
                  <a:schemeClr val="tx1"/>
                </a:solidFill>
              </a:rPr>
              <a:t>Har vibhaag ek network mein</a:t>
            </a:r>
            <a:endParaRPr lang="en-US" sz="1200" dirty="0"/>
          </a:p>
        </p:txBody>
      </p:sp>
      <p:sp>
        <p:nvSpPr>
          <p:cNvPr id="36" name="User card 6"/>
          <p:cNvSpPr/>
          <p:nvPr/>
        </p:nvSpPr>
        <p:spPr>
          <a:xfrm>
            <a:off x="8915400" y="4745736"/>
            <a:ext cx="2560320" cy="1325880"/>
          </a:xfrm>
          <a:prstGeom prst="roundRect">
            <a:avLst>
              <a:gd name="adj" fmla="val 10345"/>
            </a:avLst>
          </a:prstGeom>
          <a:solidFill>
            <a:schemeClr val="bg2"/>
          </a:solidFill>
          <a:ln w="12700">
            <a:solidFill>
              <a:schemeClr val="bg2"/>
            </a:solidFill>
            <a:prstDash val="solid"/>
          </a:ln>
        </p:spPr>
      </p:sp>
      <p:sp>
        <p:nvSpPr>
          <p:cNvPr id="37" name="Multilingual frame"/>
          <p:cNvSpPr/>
          <p:nvPr/>
        </p:nvSpPr>
        <p:spPr>
          <a:xfrm>
            <a:off x="9052560" y="4882896"/>
            <a:ext cx="548640" cy="548640"/>
          </a:xfrm>
          <a:prstGeom prst="diamond">
            <a:avLst/>
          </a:prstGeom>
          <a:solidFill>
            <a:schemeClr val="accent1"/>
          </a:solidFill>
          <a:ln w="12700">
            <a:solidFill>
              <a:schemeClr val="accent1"/>
            </a:solidFill>
            <a:prstDash val="solid"/>
          </a:ln>
        </p:spPr>
      </p:sp>
      <p:pic>
        <p:nvPicPr>
          <p:cNvPr id="38" name="Multilingual icon" descr="Multilingual">    </p:cNvPr>
          <p:cNvPicPr>
            <a:picLocks noChangeAspect="1"/>
          </p:cNvPicPr>
          <p:nvPr/>
        </p:nvPicPr>
        <p:blipFill>
          <a:blip r:embed="rId6"/>
          <a:stretch>
            <a:fillRect/>
          </a:stretch>
        </p:blipFill>
        <p:spPr>
          <a:xfrm>
            <a:off x="9211666" y="5042002"/>
            <a:ext cx="230429" cy="230429"/>
          </a:xfrm>
          <a:prstGeom prst="rect">
            <a:avLst/>
          </a:prstGeom>
        </p:spPr>
      </p:pic>
      <p:sp>
        <p:nvSpPr>
          <p:cNvPr id="39" name="Text 31"/>
          <p:cNvSpPr txBox="1"/>
          <p:nvPr/>
        </p:nvSpPr>
        <p:spPr>
          <a:xfrm>
            <a:off x="9692640" y="4882896"/>
            <a:ext cx="1691640" cy="548640"/>
          </a:xfrm>
          <a:prstGeom prst="rect">
            <a:avLst/>
          </a:prstGeom>
          <a:noFill/>
          <a:ln/>
        </p:spPr>
        <p:txBody>
          <a:bodyPr wrap="square" lIns="0" tIns="0" rIns="0" bIns="0" rtlCol="0" anchor="ctr"/>
          <a:lstStyle/>
          <a:p>
            <a:pPr indent="0" marL="0">
              <a:buNone/>
            </a:pPr>
            <a:r>
              <a:rPr lang="en-US" sz="1400" b="1" dirty="0">
                <a:solidFill>
                  <a:schemeClr val="tx2"/>
                </a:solidFill>
              </a:rPr>
              <a:t>Multilingual</a:t>
            </a:r>
            <a:endParaRPr lang="en-US" sz="1400" dirty="0"/>
          </a:p>
        </p:txBody>
      </p:sp>
      <p:sp>
        <p:nvSpPr>
          <p:cNvPr id="40" name="Text 32"/>
          <p:cNvSpPr txBox="1"/>
          <p:nvPr/>
        </p:nvSpPr>
        <p:spPr>
          <a:xfrm>
            <a:off x="9052560" y="5495544"/>
            <a:ext cx="2331720" cy="502920"/>
          </a:xfrm>
          <a:prstGeom prst="rect">
            <a:avLst/>
          </a:prstGeom>
          <a:noFill/>
          <a:ln/>
        </p:spPr>
        <p:txBody>
          <a:bodyPr wrap="square" lIns="0" tIns="0" rIns="0" bIns="0" rtlCol="0" anchor="t"/>
          <a:lstStyle/>
          <a:p>
            <a:pPr indent="0" marL="0">
              <a:buNone/>
            </a:pPr>
            <a:r>
              <a:rPr lang="en-US" sz="1200" dirty="0">
                <a:solidFill>
                  <a:schemeClr val="tx1"/>
                </a:solidFill>
              </a:rPr>
              <a:t>Hindi, Marwari, English: ek-ek site</a:t>
            </a:r>
            <a:endParaRPr lang="en-US" sz="1200" dirty="0"/>
          </a:p>
        </p:txBody>
      </p:sp>
      <p:sp>
        <p:nvSpPr>
          <p:cNvPr id="41" name="Back to the menu button"/>
          <p:cNvSpPr txBox="1"/>
          <p:nvPr/>
        </p:nvSpPr>
        <p:spPr>
          <a:xfrm>
            <a:off x="9646920" y="6336792"/>
            <a:ext cx="128016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2"/>
                </a:solidFill>
              </a:rPr>
              <a:t>☰  Menu</a:t>
            </a:r>
            <a:endParaRPr lang="en-US" sz="1100" dirty="0"/>
          </a:p>
        </p:txBody>
      </p:sp>
      <p:sp>
        <p:nvSpPr>
          <p:cNvPr id="42" name="Link: Back to the menu">
            <a:hlinkClick r:id="rId7"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Arial" pitchFamily="34" charset="0"/>
                <a:ea typeface="Arial" pitchFamily="34" charset="-122"/>
                <a:cs typeface="Arial" pitchFamily="34" charset="-120"/>
              </a:rPr>
              <a:t>Kab lo Multisite, aur kab bilkul nahi</a:t>
            </a:r>
            <a:endParaRPr lang="en-US" sz="3400" dirty="0"/>
          </a:p>
        </p:txBody>
      </p:sp>
      <p:sp>
        <p:nvSpPr>
          <p:cNvPr id="3" name="Haan, Multisite lo card"/>
          <p:cNvSpPr/>
          <p:nvPr/>
        </p:nvSpPr>
        <p:spPr>
          <a:xfrm>
            <a:off x="548640" y="1325880"/>
            <a:ext cx="5394960" cy="3977640"/>
          </a:xfrm>
          <a:prstGeom prst="roundRect">
            <a:avLst>
              <a:gd name="adj" fmla="val 4138"/>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4" name="Haan, Multisite lo frame"/>
          <p:cNvSpPr/>
          <p:nvPr/>
        </p:nvSpPr>
        <p:spPr>
          <a:xfrm>
            <a:off x="822960" y="1508760"/>
            <a:ext cx="685800" cy="685800"/>
          </a:xfrm>
          <a:prstGeom prst="diamond">
            <a:avLst/>
          </a:prstGeom>
          <a:solidFill>
            <a:schemeClr val="accent6"/>
          </a:solidFill>
          <a:ln w="12700">
            <a:solidFill>
              <a:schemeClr val="accent6"/>
            </a:solidFill>
            <a:prstDash val="solid"/>
          </a:ln>
        </p:spPr>
      </p:sp>
      <p:pic>
        <p:nvPicPr>
          <p:cNvPr id="5" name="Haan, Multisite lo icon" descr="Haan, Multisite lo">    </p:cNvPr>
          <p:cNvPicPr>
            <a:picLocks noChangeAspect="1"/>
          </p:cNvPicPr>
          <p:nvPr/>
        </p:nvPicPr>
        <p:blipFill>
          <a:blip r:embed="rId1"/>
          <a:stretch>
            <a:fillRect/>
          </a:stretch>
        </p:blipFill>
        <p:spPr>
          <a:xfrm>
            <a:off x="1021842" y="1707642"/>
            <a:ext cx="288036" cy="288036"/>
          </a:xfrm>
          <a:prstGeom prst="rect">
            <a:avLst/>
          </a:prstGeom>
        </p:spPr>
      </p:pic>
      <p:sp>
        <p:nvSpPr>
          <p:cNvPr id="6" name="Text 3"/>
          <p:cNvSpPr txBox="1"/>
          <p:nvPr/>
        </p:nvSpPr>
        <p:spPr>
          <a:xfrm>
            <a:off x="1691640" y="1508760"/>
            <a:ext cx="4023360" cy="685800"/>
          </a:xfrm>
          <a:prstGeom prst="rect">
            <a:avLst/>
          </a:prstGeom>
          <a:noFill/>
          <a:ln/>
        </p:spPr>
        <p:txBody>
          <a:bodyPr wrap="square" lIns="0" tIns="0" rIns="0" bIns="0" rtlCol="0" anchor="ctr"/>
          <a:lstStyle/>
          <a:p>
            <a:pPr indent="0" marL="0">
              <a:buNone/>
            </a:pPr>
            <a:r>
              <a:rPr lang="en-US" sz="2200" b="1" dirty="0">
                <a:solidFill>
                  <a:schemeClr val="accent6"/>
                </a:solidFill>
              </a:rPr>
              <a:t>Haan, Multisite lo</a:t>
            </a:r>
            <a:endParaRPr lang="en-US" sz="2200" dirty="0"/>
          </a:p>
        </p:txBody>
      </p:sp>
      <p:sp>
        <p:nvSpPr>
          <p:cNvPr id="7" name="Text 4"/>
          <p:cNvSpPr txBox="1"/>
          <p:nvPr/>
        </p:nvSpPr>
        <p:spPr>
          <a:xfrm>
            <a:off x="868680" y="2377440"/>
            <a:ext cx="4846320" cy="2331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Sites ka DNA same: wahi plugins, wahi theme family</a:t>
            </a:r>
            <a:endParaRPr lang="en-US" sz="1600" dirty="0"/>
          </a:p>
          <a:p>
            <a:pPr marL="228600" indent="-228600">
              <a:spcAft>
                <a:spcPts val="1000"/>
              </a:spcAft>
              <a:buSzPct val="100000"/>
              <a:buChar char="•"/>
            </a:pPr>
            <a:r>
              <a:rPr lang="en-US" sz="1600" dirty="0">
                <a:solidFill>
                  <a:schemeClr val="tx1"/>
                </a:solidFill>
              </a:rPr>
              <a:t>Ek central team, central control aur governance</a:t>
            </a:r>
            <a:endParaRPr lang="en-US" sz="1600" dirty="0"/>
          </a:p>
          <a:p>
            <a:pPr marL="228600" indent="-228600">
              <a:spcAft>
                <a:spcPts val="1000"/>
              </a:spcAft>
              <a:buSzPct val="100000"/>
              <a:buChar char="•"/>
            </a:pPr>
            <a:r>
              <a:rPr lang="en-US" sz="1600" dirty="0">
                <a:solidFill>
                  <a:schemeClr val="tx1"/>
                </a:solidFill>
              </a:rPr>
              <a:t>Users ko kai sites pe ek hi login chahiye</a:t>
            </a:r>
            <a:endParaRPr lang="en-US" sz="1600" dirty="0"/>
          </a:p>
          <a:p>
            <a:pPr marL="228600" indent="-228600">
              <a:spcAft>
                <a:spcPts val="1000"/>
              </a:spcAft>
              <a:buSzPct val="100000"/>
              <a:buChar char="•"/>
            </a:pPr>
            <a:r>
              <a:rPr lang="en-US" sz="1600" dirty="0">
                <a:solidFill>
                  <a:schemeClr val="tx1"/>
                </a:solidFill>
              </a:rPr>
              <a:t>Nayi site minute mein spin-up karni hai (template se)</a:t>
            </a:r>
            <a:endParaRPr lang="en-US" sz="1600" dirty="0"/>
          </a:p>
          <a:p>
            <a:pPr marL="228600" indent="-228600">
              <a:spcAft>
                <a:spcPts val="1000"/>
              </a:spcAft>
              <a:buSzPct val="100000"/>
              <a:buChar char="•"/>
            </a:pPr>
            <a:r>
              <a:rPr lang="en-US" sz="1600" dirty="0">
                <a:solidFill>
                  <a:schemeClr val="tx1"/>
                </a:solidFill>
              </a:rPr>
              <a:t>Updates &amp; security ek jagah se sambhalni hai</a:t>
            </a:r>
            <a:endParaRPr lang="en-US" sz="1600" dirty="0"/>
          </a:p>
        </p:txBody>
      </p:sp>
      <p:sp>
        <p:nvSpPr>
          <p:cNvPr id="8" name="Text 5"/>
          <p:cNvSpPr txBox="1"/>
          <p:nvPr/>
        </p:nvSpPr>
        <p:spPr>
          <a:xfrm>
            <a:off x="868680" y="4754880"/>
            <a:ext cx="4846320" cy="365760"/>
          </a:xfrm>
          <a:prstGeom prst="rect">
            <a:avLst/>
          </a:prstGeom>
          <a:noFill/>
          <a:ln/>
        </p:spPr>
        <p:txBody>
          <a:bodyPr wrap="square" lIns="0" tIns="0" rIns="0" bIns="0" rtlCol="0" anchor="ctr"/>
          <a:lstStyle/>
          <a:p>
            <a:pPr indent="0" marL="0">
              <a:buNone/>
            </a:pPr>
            <a:r>
              <a:rPr lang="en-US" sz="1400" b="1" i="1" dirty="0">
                <a:solidFill>
                  <a:schemeClr val="accent6"/>
                </a:solidFill>
              </a:rPr>
              <a:t>Jaise: university, newsroom, franchise</a:t>
            </a:r>
            <a:endParaRPr lang="en-US" sz="1400" dirty="0"/>
          </a:p>
        </p:txBody>
      </p:sp>
      <p:sp>
        <p:nvSpPr>
          <p:cNvPr id="9" name="Ruko, alag ghar do card"/>
          <p:cNvSpPr/>
          <p:nvPr/>
        </p:nvSpPr>
        <p:spPr>
          <a:xfrm>
            <a:off x="6217920" y="1325880"/>
            <a:ext cx="5394960" cy="3977640"/>
          </a:xfrm>
          <a:prstGeom prst="roundRect">
            <a:avLst>
              <a:gd name="adj" fmla="val 4138"/>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10" name="Ruko, alag ghar do frame"/>
          <p:cNvSpPr/>
          <p:nvPr/>
        </p:nvSpPr>
        <p:spPr>
          <a:xfrm>
            <a:off x="6492240" y="1508760"/>
            <a:ext cx="685800" cy="685800"/>
          </a:xfrm>
          <a:prstGeom prst="diamond">
            <a:avLst/>
          </a:prstGeom>
          <a:solidFill>
            <a:schemeClr val="accent1"/>
          </a:solidFill>
          <a:ln w="12700">
            <a:solidFill>
              <a:schemeClr val="accent1"/>
            </a:solidFill>
            <a:prstDash val="solid"/>
          </a:ln>
        </p:spPr>
      </p:sp>
      <p:pic>
        <p:nvPicPr>
          <p:cNvPr id="11" name="Ruko, alag ghar do icon" descr="Ruko, alag ghar do">    </p:cNvPr>
          <p:cNvPicPr>
            <a:picLocks noChangeAspect="1"/>
          </p:cNvPicPr>
          <p:nvPr/>
        </p:nvPicPr>
        <p:blipFill>
          <a:blip r:embed="rId2"/>
          <a:stretch>
            <a:fillRect/>
          </a:stretch>
        </p:blipFill>
        <p:spPr>
          <a:xfrm>
            <a:off x="6691122" y="1707642"/>
            <a:ext cx="288036" cy="288036"/>
          </a:xfrm>
          <a:prstGeom prst="rect">
            <a:avLst/>
          </a:prstGeom>
        </p:spPr>
      </p:pic>
      <p:sp>
        <p:nvSpPr>
          <p:cNvPr id="12" name="Text 8"/>
          <p:cNvSpPr txBox="1"/>
          <p:nvPr/>
        </p:nvSpPr>
        <p:spPr>
          <a:xfrm>
            <a:off x="7360920" y="1508760"/>
            <a:ext cx="4023360" cy="685800"/>
          </a:xfrm>
          <a:prstGeom prst="rect">
            <a:avLst/>
          </a:prstGeom>
          <a:noFill/>
          <a:ln/>
        </p:spPr>
        <p:txBody>
          <a:bodyPr wrap="square" lIns="0" tIns="0" rIns="0" bIns="0" rtlCol="0" anchor="ctr"/>
          <a:lstStyle/>
          <a:p>
            <a:pPr indent="0" marL="0">
              <a:buNone/>
            </a:pPr>
            <a:r>
              <a:rPr lang="en-US" sz="2200" b="1" dirty="0">
                <a:solidFill>
                  <a:schemeClr val="accent1"/>
                </a:solidFill>
              </a:rPr>
              <a:t>Ruko, alag ghar do</a:t>
            </a:r>
            <a:endParaRPr lang="en-US" sz="2200" dirty="0"/>
          </a:p>
        </p:txBody>
      </p:sp>
      <p:sp>
        <p:nvSpPr>
          <p:cNvPr id="13" name="Text 9"/>
          <p:cNvSpPr txBox="1"/>
          <p:nvPr/>
        </p:nvSpPr>
        <p:spPr>
          <a:xfrm>
            <a:off x="6537960" y="2377440"/>
            <a:ext cx="4846320" cy="2331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Har site ko alag plugins, alag PHP, alag hosting chahiye</a:t>
            </a:r>
            <a:endParaRPr lang="en-US" sz="1600" dirty="0"/>
          </a:p>
          <a:p>
            <a:pPr marL="228600" indent="-228600">
              <a:spcAft>
                <a:spcPts val="1000"/>
              </a:spcAft>
              <a:buSzPct val="100000"/>
              <a:buChar char="•"/>
            </a:pPr>
            <a:r>
              <a:rPr lang="en-US" sz="1600" dirty="0">
                <a:solidFill>
                  <a:schemeClr val="tx1"/>
                </a:solidFill>
              </a:rPr>
              <a:t>Clients ko apna server aur full admin control chahiye</a:t>
            </a:r>
            <a:endParaRPr lang="en-US" sz="1600" dirty="0"/>
          </a:p>
          <a:p>
            <a:pPr marL="228600" indent="-228600">
              <a:spcAft>
                <a:spcPts val="1000"/>
              </a:spcAft>
              <a:buSzPct val="100000"/>
              <a:buChar char="•"/>
            </a:pPr>
            <a:r>
              <a:rPr lang="en-US" sz="1600" dirty="0">
                <a:solidFill>
                  <a:schemeClr val="tx1"/>
                </a:solidFill>
              </a:rPr>
              <a:t>Site kal bechni ya network se alag karni hai</a:t>
            </a:r>
            <a:endParaRPr lang="en-US" sz="1600" dirty="0"/>
          </a:p>
          <a:p>
            <a:pPr marL="228600" indent="-228600">
              <a:spcAft>
                <a:spcPts val="1000"/>
              </a:spcAft>
              <a:buSzPct val="100000"/>
              <a:buChar char="•"/>
            </a:pPr>
            <a:r>
              <a:rPr lang="en-US" sz="1600" dirty="0">
                <a:solidFill>
                  <a:schemeClr val="tx1"/>
                </a:solidFill>
              </a:rPr>
              <a:t>Ek plugin se kaam chal jaaye (jaise multilingual)</a:t>
            </a:r>
            <a:endParaRPr lang="en-US" sz="1600" dirty="0"/>
          </a:p>
          <a:p>
            <a:pPr marL="228600" indent="-228600">
              <a:spcAft>
                <a:spcPts val="1000"/>
              </a:spcAft>
              <a:buSzPct val="100000"/>
              <a:buChar char="•"/>
            </a:pPr>
            <a:r>
              <a:rPr lang="en-US" sz="1600" dirty="0">
                <a:solidFill>
                  <a:schemeClr val="tx1"/>
                </a:solidFill>
              </a:rPr>
              <a:t>Sirf isliye ki naam cool lagta hai</a:t>
            </a:r>
            <a:endParaRPr lang="en-US" sz="1600" dirty="0"/>
          </a:p>
        </p:txBody>
      </p:sp>
      <p:sp>
        <p:nvSpPr>
          <p:cNvPr id="14" name="Text 10"/>
          <p:cNvSpPr txBox="1"/>
          <p:nvPr/>
        </p:nvSpPr>
        <p:spPr>
          <a:xfrm>
            <a:off x="6537960" y="4754880"/>
            <a:ext cx="4846320" cy="365760"/>
          </a:xfrm>
          <a:prstGeom prst="rect">
            <a:avLst/>
          </a:prstGeom>
          <a:noFill/>
          <a:ln/>
        </p:spPr>
        <p:txBody>
          <a:bodyPr wrap="square" lIns="0" tIns="0" rIns="0" bIns="0" rtlCol="0" anchor="ctr"/>
          <a:lstStyle/>
          <a:p>
            <a:pPr indent="0" marL="0">
              <a:buNone/>
            </a:pPr>
            <a:r>
              <a:rPr lang="en-US" sz="1400" b="1" i="1" dirty="0">
                <a:solidFill>
                  <a:schemeClr val="accent1"/>
                </a:solidFill>
              </a:rPr>
              <a:t>Jaise: agency ke 25 alag-alag clients</a:t>
            </a:r>
            <a:endParaRPr lang="en-US" sz="1400" dirty="0"/>
          </a:p>
        </p:txBody>
      </p:sp>
      <p:sp>
        <p:nvSpPr>
          <p:cNvPr id="15" name="Text 11"/>
          <p:cNvSpPr txBox="1"/>
          <p:nvPr/>
        </p:nvSpPr>
        <p:spPr>
          <a:xfrm>
            <a:off x="548640" y="5486400"/>
            <a:ext cx="11064240" cy="640080"/>
          </a:xfrm>
          <a:prstGeom prst="roundRect">
            <a:avLst>
              <a:gd name="adj" fmla="val 21429"/>
            </a:avLst>
          </a:prstGeom>
          <a:solidFill>
            <a:schemeClr val="tx2"/>
          </a:solidFill>
          <a:ln/>
        </p:spPr>
        <p:txBody>
          <a:bodyPr wrap="square" lIns="76200" tIns="76200" rIns="76200" bIns="76200" rtlCol="0" anchor="ctr"/>
          <a:lstStyle/>
          <a:p>
            <a:pPr algn="ctr" indent="0" marL="0">
              <a:buNone/>
            </a:pPr>
            <a:r>
              <a:rPr lang="en-US" sz="1700" b="1" dirty="0">
                <a:solidFill>
                  <a:schemeClr val="accent2"/>
                </a:solidFill>
              </a:rPr>
              <a:t>Golden rule:  </a:t>
            </a:r>
            <a:pPr algn="ctr" indent="0" marL="0">
              <a:buNone/>
            </a:pPr>
            <a:r>
              <a:rPr lang="en-US" sz="1700" dirty="0">
                <a:solidFill>
                  <a:schemeClr val="bg1"/>
                </a:solidFill>
              </a:rPr>
              <a:t>Sites ek parivaar jaisi hain? Multisite. Sirf padosi hain? Alag-alag ghar.</a:t>
            </a:r>
            <a:endParaRPr lang="en-US" sz="1700" dirty="0"/>
          </a:p>
        </p:txBody>
      </p:sp>
      <p:sp>
        <p:nvSpPr>
          <p:cNvPr id="16" name="Back to the menu button"/>
          <p:cNvSpPr txBox="1"/>
          <p:nvPr/>
        </p:nvSpPr>
        <p:spPr>
          <a:xfrm>
            <a:off x="9646920" y="6336792"/>
            <a:ext cx="128016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  Menu</a:t>
            </a:r>
            <a:endParaRPr lang="en-US" sz="1100" dirty="0"/>
          </a:p>
        </p:txBody>
      </p:sp>
      <p:sp>
        <p:nvSpPr>
          <p:cNvPr id="17" name="Link: Back to the menu">
            <a:hlinkClick r:id="rId3"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bg1"/>
                </a:solidFill>
                <a:latin typeface="Arial" pitchFamily="34" charset="0"/>
                <a:ea typeface="Arial" pitchFamily="34" charset="-122"/>
                <a:cs typeface="Arial" pitchFamily="34" charset="-120"/>
              </a:rPr>
              <a:t>Haath Uthao! Multisite ya Single?</a:t>
            </a:r>
            <a:endParaRPr lang="en-US" sz="3400" dirty="0"/>
          </a:p>
        </p:txBody>
      </p:sp>
      <p:sp>
        <p:nvSpPr>
          <p:cNvPr id="3" name="Text 1"/>
          <p:cNvSpPr txBox="1"/>
          <p:nvPr/>
        </p:nvSpPr>
        <p:spPr>
          <a:xfrm>
            <a:off x="548640" y="1143000"/>
            <a:ext cx="10058400" cy="411480"/>
          </a:xfrm>
          <a:prstGeom prst="rect">
            <a:avLst/>
          </a:prstGeom>
          <a:noFill/>
          <a:ln/>
        </p:spPr>
        <p:txBody>
          <a:bodyPr wrap="square" lIns="0" tIns="0" rIns="0" bIns="0" rtlCol="0" anchor="ctr"/>
          <a:lstStyle/>
          <a:p>
            <a:pPr indent="0" marL="0">
              <a:buNone/>
            </a:pPr>
            <a:r>
              <a:rPr lang="en-US" sz="1700" dirty="0">
                <a:solidFill>
                  <a:schemeClr val="accent2"/>
                </a:solidFill>
              </a:rPr>
              <a:t>Har case pe vote karo, phir “Jawab dekho” dabao.</a:t>
            </a:r>
            <a:endParaRPr lang="en-US" sz="1700" dirty="0"/>
          </a:p>
        </p:txBody>
      </p:sp>
      <p:sp>
        <p:nvSpPr>
          <p:cNvPr id="4" name="Quiz card A"/>
          <p:cNvSpPr/>
          <p:nvPr/>
        </p:nvSpPr>
        <p:spPr>
          <a:xfrm>
            <a:off x="548640" y="1828800"/>
            <a:ext cx="2606040" cy="3749040"/>
          </a:xfrm>
          <a:prstGeom prst="roundRect">
            <a:avLst>
              <a:gd name="adj" fmla="val 6316"/>
            </a:avLst>
          </a:prstGeom>
          <a:solidFill>
            <a:schemeClr val="bg2"/>
          </a:solidFill>
          <a:ln w="12700">
            <a:solidFill>
              <a:schemeClr val="bg2"/>
            </a:solidFill>
            <a:prstDash val="solid"/>
          </a:ln>
        </p:spPr>
      </p:sp>
      <p:sp>
        <p:nvSpPr>
          <p:cNvPr id="5" name="Text 3"/>
          <p:cNvSpPr txBox="1"/>
          <p:nvPr/>
        </p:nvSpPr>
        <p:spPr>
          <a:xfrm>
            <a:off x="1417320" y="2057400"/>
            <a:ext cx="868680" cy="868680"/>
          </a:xfrm>
          <a:prstGeom prst="diamond">
            <a:avLst/>
          </a:prstGeom>
          <a:solidFill>
            <a:schemeClr val="accent3"/>
          </a:solidFill>
          <a:ln/>
        </p:spPr>
        <p:txBody>
          <a:bodyPr wrap="square" lIns="0" tIns="0" rIns="0" bIns="0" rtlCol="0" anchor="ctr"/>
          <a:lstStyle/>
          <a:p>
            <a:pPr algn="ctr" indent="0" marL="0">
              <a:buNone/>
            </a:pPr>
            <a:r>
              <a:rPr lang="en-US" sz="2600" b="1" dirty="0">
                <a:solidFill>
                  <a:schemeClr val="bg1"/>
                </a:solidFill>
              </a:rPr>
              <a:t>A</a:t>
            </a:r>
            <a:endParaRPr lang="en-US" sz="2600" dirty="0"/>
          </a:p>
        </p:txBody>
      </p:sp>
      <p:sp>
        <p:nvSpPr>
          <p:cNvPr id="6" name="Text 4"/>
          <p:cNvSpPr txBox="1"/>
          <p:nvPr/>
        </p:nvSpPr>
        <p:spPr>
          <a:xfrm>
            <a:off x="731520" y="3108960"/>
            <a:ext cx="2240280" cy="914400"/>
          </a:xfrm>
          <a:prstGeom prst="rect">
            <a:avLst/>
          </a:prstGeom>
          <a:noFill/>
          <a:ln/>
        </p:spPr>
        <p:txBody>
          <a:bodyPr wrap="square" lIns="0" tIns="0" rIns="0" bIns="0" rtlCol="0" anchor="t"/>
          <a:lstStyle/>
          <a:p>
            <a:pPr algn="ctr" indent="0" marL="0">
              <a:buNone/>
            </a:pPr>
            <a:r>
              <a:rPr lang="en-US" sz="1800" b="1" dirty="0">
                <a:solidFill>
                  <a:schemeClr val="tx2"/>
                </a:solidFill>
              </a:rPr>
              <a:t>University with 400 department sites</a:t>
            </a:r>
            <a:endParaRPr lang="en-US" sz="1800" dirty="0"/>
          </a:p>
        </p:txBody>
      </p:sp>
      <p:sp>
        <p:nvSpPr>
          <p:cNvPr id="7" name="Text 5"/>
          <p:cNvSpPr txBox="1"/>
          <p:nvPr/>
        </p:nvSpPr>
        <p:spPr>
          <a:xfrm>
            <a:off x="731520" y="4069080"/>
            <a:ext cx="2240280" cy="822960"/>
          </a:xfrm>
          <a:prstGeom prst="rect">
            <a:avLst/>
          </a:prstGeom>
          <a:noFill/>
          <a:ln/>
        </p:spPr>
        <p:txBody>
          <a:bodyPr wrap="square" lIns="0" tIns="0" rIns="0" bIns="0" rtlCol="0" anchor="t"/>
          <a:lstStyle/>
          <a:p>
            <a:pPr algn="ctr" indent="0" marL="0">
              <a:buNone/>
            </a:pPr>
            <a:r>
              <a:rPr lang="en-US" sz="1400" dirty="0">
                <a:solidFill>
                  <a:schemeClr val="tx1"/>
                </a:solidFill>
              </a:rPr>
              <a:t>Ek IT team, ek brand, ek login</a:t>
            </a:r>
            <a:endParaRPr lang="en-US" sz="1400" dirty="0"/>
          </a:p>
        </p:txBody>
      </p:sp>
      <p:sp>
        <p:nvSpPr>
          <p:cNvPr id="8" name="Reveal answer A button"/>
          <p:cNvSpPr txBox="1"/>
          <p:nvPr/>
        </p:nvSpPr>
        <p:spPr>
          <a:xfrm>
            <a:off x="822960" y="4892040"/>
            <a:ext cx="2057400" cy="45720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Jawab dekho  →</a:t>
            </a:r>
            <a:endParaRPr lang="en-US" sz="1100" dirty="0"/>
          </a:p>
        </p:txBody>
      </p:sp>
      <p:sp>
        <p:nvSpPr>
          <p:cNvPr id="9" name="Link: Reveal answer A">
            <a:hlinkClick r:id="rId1" tooltip="Reveal answer A" action="ppaction://hlinksldjump"/>
          </p:cNvPr>
          <p:cNvSpPr/>
          <p:nvPr/>
        </p:nvSpPr>
        <p:spPr>
          <a:xfrm>
            <a:off x="822960" y="4892040"/>
            <a:ext cx="2057400" cy="457200"/>
          </a:xfrm>
          <a:prstGeom prst="rect">
            <a:avLst/>
          </a:prstGeom>
          <a:solidFill>
            <a:schemeClr val="bg1">
              <a:alpha val="0"/>
            </a:schemeClr>
          </a:solidFill>
          <a:ln/>
        </p:spPr>
      </p:sp>
      <p:sp>
        <p:nvSpPr>
          <p:cNvPr id="10" name="Quiz card B"/>
          <p:cNvSpPr/>
          <p:nvPr/>
        </p:nvSpPr>
        <p:spPr>
          <a:xfrm>
            <a:off x="3360420" y="1828800"/>
            <a:ext cx="2606040" cy="3749040"/>
          </a:xfrm>
          <a:prstGeom prst="roundRect">
            <a:avLst>
              <a:gd name="adj" fmla="val 6316"/>
            </a:avLst>
          </a:prstGeom>
          <a:solidFill>
            <a:schemeClr val="bg2"/>
          </a:solidFill>
          <a:ln w="12700">
            <a:solidFill>
              <a:schemeClr val="bg2"/>
            </a:solidFill>
            <a:prstDash val="solid"/>
          </a:ln>
        </p:spPr>
      </p:sp>
      <p:sp>
        <p:nvSpPr>
          <p:cNvPr id="11" name="Text 9"/>
          <p:cNvSpPr txBox="1"/>
          <p:nvPr/>
        </p:nvSpPr>
        <p:spPr>
          <a:xfrm>
            <a:off x="4229100" y="2057400"/>
            <a:ext cx="868680" cy="868680"/>
          </a:xfrm>
          <a:prstGeom prst="diamond">
            <a:avLst/>
          </a:prstGeom>
          <a:solidFill>
            <a:schemeClr val="accent4"/>
          </a:solidFill>
          <a:ln/>
        </p:spPr>
        <p:txBody>
          <a:bodyPr wrap="square" lIns="0" tIns="0" rIns="0" bIns="0" rtlCol="0" anchor="ctr"/>
          <a:lstStyle/>
          <a:p>
            <a:pPr algn="ctr" indent="0" marL="0">
              <a:buNone/>
            </a:pPr>
            <a:r>
              <a:rPr lang="en-US" sz="2600" b="1" dirty="0">
                <a:solidFill>
                  <a:schemeClr val="bg1"/>
                </a:solidFill>
              </a:rPr>
              <a:t>B</a:t>
            </a:r>
            <a:endParaRPr lang="en-US" sz="2600" dirty="0"/>
          </a:p>
        </p:txBody>
      </p:sp>
      <p:sp>
        <p:nvSpPr>
          <p:cNvPr id="12" name="Text 10"/>
          <p:cNvSpPr txBox="1"/>
          <p:nvPr/>
        </p:nvSpPr>
        <p:spPr>
          <a:xfrm>
            <a:off x="3543300" y="3108960"/>
            <a:ext cx="2240280" cy="914400"/>
          </a:xfrm>
          <a:prstGeom prst="rect">
            <a:avLst/>
          </a:prstGeom>
          <a:noFill/>
          <a:ln/>
        </p:spPr>
        <p:txBody>
          <a:bodyPr wrap="square" lIns="0" tIns="0" rIns="0" bIns="0" rtlCol="0" anchor="t"/>
          <a:lstStyle/>
          <a:p>
            <a:pPr algn="ctr" indent="0" marL="0">
              <a:buNone/>
            </a:pPr>
            <a:r>
              <a:rPr lang="en-US" sz="1800" b="1" dirty="0">
                <a:solidFill>
                  <a:schemeClr val="tx2"/>
                </a:solidFill>
              </a:rPr>
              <a:t>Agency with 25 clients</a:t>
            </a:r>
            <a:endParaRPr lang="en-US" sz="1800" dirty="0"/>
          </a:p>
        </p:txBody>
      </p:sp>
      <p:sp>
        <p:nvSpPr>
          <p:cNvPr id="13" name="Text 11"/>
          <p:cNvSpPr txBox="1"/>
          <p:nvPr/>
        </p:nvSpPr>
        <p:spPr>
          <a:xfrm>
            <a:off x="3543300" y="4069080"/>
            <a:ext cx="2240280" cy="822960"/>
          </a:xfrm>
          <a:prstGeom prst="rect">
            <a:avLst/>
          </a:prstGeom>
          <a:noFill/>
          <a:ln/>
        </p:spPr>
        <p:txBody>
          <a:bodyPr wrap="square" lIns="0" tIns="0" rIns="0" bIns="0" rtlCol="0" anchor="t"/>
          <a:lstStyle/>
          <a:p>
            <a:pPr algn="ctr" indent="0" marL="0">
              <a:buNone/>
            </a:pPr>
            <a:r>
              <a:rPr lang="en-US" sz="1400" dirty="0">
                <a:solidFill>
                  <a:schemeClr val="tx1"/>
                </a:solidFill>
              </a:rPr>
              <a:t>Har client ka alag host, alag bill</a:t>
            </a:r>
            <a:endParaRPr lang="en-US" sz="1400" dirty="0"/>
          </a:p>
        </p:txBody>
      </p:sp>
      <p:sp>
        <p:nvSpPr>
          <p:cNvPr id="14" name="Reveal answer B button"/>
          <p:cNvSpPr txBox="1"/>
          <p:nvPr/>
        </p:nvSpPr>
        <p:spPr>
          <a:xfrm>
            <a:off x="3634740" y="4892040"/>
            <a:ext cx="2057400" cy="45720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Jawab dekho  →</a:t>
            </a:r>
            <a:endParaRPr lang="en-US" sz="1100" dirty="0"/>
          </a:p>
        </p:txBody>
      </p:sp>
      <p:sp>
        <p:nvSpPr>
          <p:cNvPr id="15" name="Link: Reveal answer B">
            <a:hlinkClick r:id="rId2" tooltip="Reveal answer B" action="ppaction://hlinksldjump"/>
          </p:cNvPr>
          <p:cNvSpPr/>
          <p:nvPr/>
        </p:nvSpPr>
        <p:spPr>
          <a:xfrm>
            <a:off x="3634740" y="4892040"/>
            <a:ext cx="2057400" cy="457200"/>
          </a:xfrm>
          <a:prstGeom prst="rect">
            <a:avLst/>
          </a:prstGeom>
          <a:solidFill>
            <a:schemeClr val="bg1">
              <a:alpha val="0"/>
            </a:schemeClr>
          </a:solidFill>
          <a:ln/>
        </p:spPr>
      </p:sp>
      <p:sp>
        <p:nvSpPr>
          <p:cNvPr id="16" name="Quiz card C"/>
          <p:cNvSpPr/>
          <p:nvPr/>
        </p:nvSpPr>
        <p:spPr>
          <a:xfrm>
            <a:off x="6172200" y="1828800"/>
            <a:ext cx="2606040" cy="3749040"/>
          </a:xfrm>
          <a:prstGeom prst="roundRect">
            <a:avLst>
              <a:gd name="adj" fmla="val 6316"/>
            </a:avLst>
          </a:prstGeom>
          <a:solidFill>
            <a:schemeClr val="bg2"/>
          </a:solidFill>
          <a:ln w="12700">
            <a:solidFill>
              <a:schemeClr val="bg2"/>
            </a:solidFill>
            <a:prstDash val="solid"/>
          </a:ln>
        </p:spPr>
      </p:sp>
      <p:sp>
        <p:nvSpPr>
          <p:cNvPr id="17" name="Text 15"/>
          <p:cNvSpPr txBox="1"/>
          <p:nvPr/>
        </p:nvSpPr>
        <p:spPr>
          <a:xfrm>
            <a:off x="7040880" y="2057400"/>
            <a:ext cx="868680" cy="868680"/>
          </a:xfrm>
          <a:prstGeom prst="diamond">
            <a:avLst/>
          </a:prstGeom>
          <a:solidFill>
            <a:schemeClr val="accent2"/>
          </a:solidFill>
          <a:ln/>
        </p:spPr>
        <p:txBody>
          <a:bodyPr wrap="square" lIns="0" tIns="0" rIns="0" bIns="0" rtlCol="0" anchor="ctr"/>
          <a:lstStyle/>
          <a:p>
            <a:pPr algn="ctr" indent="0" marL="0">
              <a:buNone/>
            </a:pPr>
            <a:r>
              <a:rPr lang="en-US" sz="2600" b="1" dirty="0">
                <a:solidFill>
                  <a:schemeClr val="bg1"/>
                </a:solidFill>
              </a:rPr>
              <a:t>C</a:t>
            </a:r>
            <a:endParaRPr lang="en-US" sz="2600" dirty="0"/>
          </a:p>
        </p:txBody>
      </p:sp>
      <p:sp>
        <p:nvSpPr>
          <p:cNvPr id="18" name="Text 16"/>
          <p:cNvSpPr txBox="1"/>
          <p:nvPr/>
        </p:nvSpPr>
        <p:spPr>
          <a:xfrm>
            <a:off x="6355080" y="3108960"/>
            <a:ext cx="2240280" cy="914400"/>
          </a:xfrm>
          <a:prstGeom prst="rect">
            <a:avLst/>
          </a:prstGeom>
          <a:noFill/>
          <a:ln/>
        </p:spPr>
        <p:txBody>
          <a:bodyPr wrap="square" lIns="0" tIns="0" rIns="0" bIns="0" rtlCol="0" anchor="t"/>
          <a:lstStyle/>
          <a:p>
            <a:pPr algn="ctr" indent="0" marL="0">
              <a:buNone/>
            </a:pPr>
            <a:r>
              <a:rPr lang="en-US" sz="1800" b="1" dirty="0">
                <a:solidFill>
                  <a:schemeClr val="tx2"/>
                </a:solidFill>
              </a:rPr>
              <a:t>Pizza chain with 60 city outlets</a:t>
            </a:r>
            <a:endParaRPr lang="en-US" sz="1800" dirty="0"/>
          </a:p>
        </p:txBody>
      </p:sp>
      <p:sp>
        <p:nvSpPr>
          <p:cNvPr id="19" name="Text 17"/>
          <p:cNvSpPr txBox="1"/>
          <p:nvPr/>
        </p:nvSpPr>
        <p:spPr>
          <a:xfrm>
            <a:off x="6355080" y="4069080"/>
            <a:ext cx="2240280" cy="822960"/>
          </a:xfrm>
          <a:prstGeom prst="rect">
            <a:avLst/>
          </a:prstGeom>
          <a:noFill/>
          <a:ln/>
        </p:spPr>
        <p:txBody>
          <a:bodyPr wrap="square" lIns="0" tIns="0" rIns="0" bIns="0" rtlCol="0" anchor="t"/>
          <a:lstStyle/>
          <a:p>
            <a:pPr algn="ctr" indent="0" marL="0">
              <a:buNone/>
            </a:pPr>
            <a:r>
              <a:rPr lang="en-US" sz="1400" dirty="0">
                <a:solidFill>
                  <a:schemeClr val="tx1"/>
                </a:solidFill>
              </a:rPr>
              <a:t>Same design, local menu &amp; offers</a:t>
            </a:r>
            <a:endParaRPr lang="en-US" sz="1400" dirty="0"/>
          </a:p>
        </p:txBody>
      </p:sp>
      <p:sp>
        <p:nvSpPr>
          <p:cNvPr id="20" name="Reveal answer C button"/>
          <p:cNvSpPr txBox="1"/>
          <p:nvPr/>
        </p:nvSpPr>
        <p:spPr>
          <a:xfrm>
            <a:off x="6446520" y="4892040"/>
            <a:ext cx="2057400" cy="45720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Jawab dekho  →</a:t>
            </a:r>
            <a:endParaRPr lang="en-US" sz="1100" dirty="0"/>
          </a:p>
        </p:txBody>
      </p:sp>
      <p:sp>
        <p:nvSpPr>
          <p:cNvPr id="21" name="Link: Reveal answer C">
            <a:hlinkClick r:id="rId3" tooltip="Reveal answer C" action="ppaction://hlinksldjump"/>
          </p:cNvPr>
          <p:cNvSpPr/>
          <p:nvPr/>
        </p:nvSpPr>
        <p:spPr>
          <a:xfrm>
            <a:off x="6446520" y="4892040"/>
            <a:ext cx="2057400" cy="457200"/>
          </a:xfrm>
          <a:prstGeom prst="rect">
            <a:avLst/>
          </a:prstGeom>
          <a:solidFill>
            <a:schemeClr val="bg1">
              <a:alpha val="0"/>
            </a:schemeClr>
          </a:solidFill>
          <a:ln/>
        </p:spPr>
      </p:sp>
      <p:sp>
        <p:nvSpPr>
          <p:cNvPr id="22" name="Quiz card D"/>
          <p:cNvSpPr/>
          <p:nvPr/>
        </p:nvSpPr>
        <p:spPr>
          <a:xfrm>
            <a:off x="8983980" y="1828800"/>
            <a:ext cx="2606040" cy="3749040"/>
          </a:xfrm>
          <a:prstGeom prst="roundRect">
            <a:avLst>
              <a:gd name="adj" fmla="val 6316"/>
            </a:avLst>
          </a:prstGeom>
          <a:solidFill>
            <a:schemeClr val="bg2"/>
          </a:solidFill>
          <a:ln w="12700">
            <a:solidFill>
              <a:schemeClr val="bg2"/>
            </a:solidFill>
            <a:prstDash val="solid"/>
          </a:ln>
        </p:spPr>
      </p:sp>
      <p:sp>
        <p:nvSpPr>
          <p:cNvPr id="23" name="Text 21"/>
          <p:cNvSpPr txBox="1"/>
          <p:nvPr/>
        </p:nvSpPr>
        <p:spPr>
          <a:xfrm>
            <a:off x="9852660" y="2057400"/>
            <a:ext cx="868680" cy="868680"/>
          </a:xfrm>
          <a:prstGeom prst="diamond">
            <a:avLst/>
          </a:prstGeom>
          <a:solidFill>
            <a:schemeClr val="accent1"/>
          </a:solidFill>
          <a:ln/>
        </p:spPr>
        <p:txBody>
          <a:bodyPr wrap="square" lIns="0" tIns="0" rIns="0" bIns="0" rtlCol="0" anchor="ctr"/>
          <a:lstStyle/>
          <a:p>
            <a:pPr algn="ctr" indent="0" marL="0">
              <a:buNone/>
            </a:pPr>
            <a:r>
              <a:rPr lang="en-US" sz="2600" b="1" dirty="0">
                <a:solidFill>
                  <a:schemeClr val="bg1"/>
                </a:solidFill>
              </a:rPr>
              <a:t>D</a:t>
            </a:r>
            <a:endParaRPr lang="en-US" sz="2600" dirty="0"/>
          </a:p>
        </p:txBody>
      </p:sp>
      <p:sp>
        <p:nvSpPr>
          <p:cNvPr id="24" name="Text 22"/>
          <p:cNvSpPr txBox="1"/>
          <p:nvPr/>
        </p:nvSpPr>
        <p:spPr>
          <a:xfrm>
            <a:off x="9166860" y="3108960"/>
            <a:ext cx="2240280" cy="914400"/>
          </a:xfrm>
          <a:prstGeom prst="rect">
            <a:avLst/>
          </a:prstGeom>
          <a:noFill/>
          <a:ln/>
        </p:spPr>
        <p:txBody>
          <a:bodyPr wrap="square" lIns="0" tIns="0" rIns="0" bIns="0" rtlCol="0" anchor="t"/>
          <a:lstStyle/>
          <a:p>
            <a:pPr algn="ctr" indent="0" marL="0">
              <a:buNone/>
            </a:pPr>
            <a:r>
              <a:rPr lang="en-US" sz="1800" b="1" dirty="0">
                <a:solidFill>
                  <a:schemeClr val="tx2"/>
                </a:solidFill>
              </a:rPr>
              <a:t>Aapka blog + mummy ka recipe blog</a:t>
            </a:r>
            <a:endParaRPr lang="en-US" sz="1800" dirty="0"/>
          </a:p>
        </p:txBody>
      </p:sp>
      <p:sp>
        <p:nvSpPr>
          <p:cNvPr id="25" name="Text 23"/>
          <p:cNvSpPr txBox="1"/>
          <p:nvPr/>
        </p:nvSpPr>
        <p:spPr>
          <a:xfrm>
            <a:off x="9166860" y="4069080"/>
            <a:ext cx="2240280" cy="822960"/>
          </a:xfrm>
          <a:prstGeom prst="rect">
            <a:avLst/>
          </a:prstGeom>
          <a:noFill/>
          <a:ln/>
        </p:spPr>
        <p:txBody>
          <a:bodyPr wrap="square" lIns="0" tIns="0" rIns="0" bIns="0" rtlCol="0" anchor="t"/>
          <a:lstStyle/>
          <a:p>
            <a:pPr algn="ctr" indent="0" marL="0">
              <a:buNone/>
            </a:pPr>
            <a:r>
              <a:rPr lang="en-US" sz="1400" dirty="0">
                <a:solidFill>
                  <a:schemeClr val="tx1"/>
                </a:solidFill>
              </a:rPr>
              <a:t>Do sites, do log, zero IT team</a:t>
            </a:r>
            <a:endParaRPr lang="en-US" sz="1400" dirty="0"/>
          </a:p>
        </p:txBody>
      </p:sp>
      <p:sp>
        <p:nvSpPr>
          <p:cNvPr id="26" name="Reveal answer D button"/>
          <p:cNvSpPr txBox="1"/>
          <p:nvPr/>
        </p:nvSpPr>
        <p:spPr>
          <a:xfrm>
            <a:off x="9258300" y="4892040"/>
            <a:ext cx="2057400" cy="45720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Jawab dekho  →</a:t>
            </a:r>
            <a:endParaRPr lang="en-US" sz="1100" dirty="0"/>
          </a:p>
        </p:txBody>
      </p:sp>
      <p:sp>
        <p:nvSpPr>
          <p:cNvPr id="27" name="Link: Reveal answer D">
            <a:hlinkClick r:id="rId4" tooltip="Reveal answer D" action="ppaction://hlinksldjump"/>
          </p:cNvPr>
          <p:cNvSpPr/>
          <p:nvPr/>
        </p:nvSpPr>
        <p:spPr>
          <a:xfrm>
            <a:off x="9258300" y="4892040"/>
            <a:ext cx="2057400" cy="457200"/>
          </a:xfrm>
          <a:prstGeom prst="rect">
            <a:avLst/>
          </a:prstGeom>
          <a:solidFill>
            <a:schemeClr val="bg1">
              <a:alpha val="0"/>
            </a:schemeClr>
          </a:solidFill>
          <a:ln/>
        </p:spPr>
      </p:sp>
      <p:sp>
        <p:nvSpPr>
          <p:cNvPr id="28" name="Back to the menu button"/>
          <p:cNvSpPr txBox="1"/>
          <p:nvPr/>
        </p:nvSpPr>
        <p:spPr>
          <a:xfrm>
            <a:off x="9646920" y="6336792"/>
            <a:ext cx="128016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2"/>
                </a:solidFill>
              </a:rPr>
              <a:t>☰  Menu</a:t>
            </a:r>
            <a:endParaRPr lang="en-US" sz="1100" dirty="0"/>
          </a:p>
        </p:txBody>
      </p:sp>
      <p:sp>
        <p:nvSpPr>
          <p:cNvPr id="29" name="Link: Back to the menu">
            <a:hlinkClick r:id="rId5"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Arial" pitchFamily="34" charset="0"/>
                <a:ea typeface="Arial" pitchFamily="34" charset="-122"/>
                <a:cs typeface="Arial" pitchFamily="34" charset="-120"/>
              </a:rPr>
              <a:t>Jawab haazir hai</a:t>
            </a:r>
            <a:endParaRPr lang="en-US" sz="3400" dirty="0"/>
          </a:p>
        </p:txBody>
      </p:sp>
      <p:sp>
        <p:nvSpPr>
          <p:cNvPr id="3" name="Answer A"/>
          <p:cNvSpPr/>
          <p:nvPr/>
        </p:nvSpPr>
        <p:spPr>
          <a:xfrm>
            <a:off x="548640" y="1371600"/>
            <a:ext cx="5394960" cy="2057400"/>
          </a:xfrm>
          <a:prstGeom prst="roundRect">
            <a:avLst>
              <a:gd name="adj" fmla="val 8000"/>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4" name="Multisite frame"/>
          <p:cNvSpPr/>
          <p:nvPr/>
        </p:nvSpPr>
        <p:spPr>
          <a:xfrm>
            <a:off x="822960" y="1645920"/>
            <a:ext cx="777240" cy="777240"/>
          </a:xfrm>
          <a:prstGeom prst="diamond">
            <a:avLst/>
          </a:prstGeom>
          <a:solidFill>
            <a:schemeClr val="accent6"/>
          </a:solidFill>
          <a:ln w="12700">
            <a:solidFill>
              <a:schemeClr val="accent6"/>
            </a:solidFill>
            <a:prstDash val="solid"/>
          </a:ln>
        </p:spPr>
      </p:sp>
      <p:pic>
        <p:nvPicPr>
          <p:cNvPr id="5" name="Multisite icon" descr="Multisite">    </p:cNvPr>
          <p:cNvPicPr>
            <a:picLocks noChangeAspect="1"/>
          </p:cNvPicPr>
          <p:nvPr/>
        </p:nvPicPr>
        <p:blipFill>
          <a:blip r:embed="rId1"/>
          <a:stretch>
            <a:fillRect/>
          </a:stretch>
        </p:blipFill>
        <p:spPr>
          <a:xfrm>
            <a:off x="1048360" y="1871320"/>
            <a:ext cx="326441" cy="326441"/>
          </a:xfrm>
          <a:prstGeom prst="rect">
            <a:avLst/>
          </a:prstGeom>
        </p:spPr>
      </p:pic>
      <p:sp>
        <p:nvSpPr>
          <p:cNvPr id="6" name="Text 3"/>
          <p:cNvSpPr txBox="1"/>
          <p:nvPr/>
        </p:nvSpPr>
        <p:spPr>
          <a:xfrm>
            <a:off x="1828800" y="1645920"/>
            <a:ext cx="3931920" cy="777240"/>
          </a:xfrm>
          <a:prstGeom prst="rect">
            <a:avLst/>
          </a:prstGeom>
          <a:noFill/>
          <a:ln/>
        </p:spPr>
        <p:txBody>
          <a:bodyPr wrap="square" lIns="0" tIns="0" rIns="0" bIns="0" rtlCol="0" anchor="ctr"/>
          <a:lstStyle/>
          <a:p>
            <a:pPr indent="0" marL="0">
              <a:buNone/>
            </a:pPr>
            <a:r>
              <a:rPr lang="en-US" sz="2400" b="1" dirty="0">
                <a:solidFill>
                  <a:schemeClr val="accent5"/>
                </a:solidFill>
              </a:rPr>
              <a:t>A  ·  </a:t>
            </a:r>
            <a:pPr indent="0" marL="0">
              <a:buNone/>
            </a:pPr>
            <a:r>
              <a:rPr lang="en-US" sz="2400" b="1" dirty="0">
                <a:solidFill>
                  <a:schemeClr val="accent6"/>
                </a:solidFill>
              </a:rPr>
              <a:t>Multisite</a:t>
            </a:r>
            <a:endParaRPr lang="en-US" sz="2400" dirty="0"/>
          </a:p>
        </p:txBody>
      </p:sp>
      <p:sp>
        <p:nvSpPr>
          <p:cNvPr id="7" name="Text 4"/>
          <p:cNvSpPr txBox="1"/>
          <p:nvPr/>
        </p:nvSpPr>
        <p:spPr>
          <a:xfrm>
            <a:off x="822960" y="2560320"/>
            <a:ext cx="4846320" cy="731520"/>
          </a:xfrm>
          <a:prstGeom prst="rect">
            <a:avLst/>
          </a:prstGeom>
          <a:noFill/>
          <a:ln/>
        </p:spPr>
        <p:txBody>
          <a:bodyPr wrap="square" lIns="0" tIns="0" rIns="0" bIns="0" rtlCol="0" anchor="t"/>
          <a:lstStyle/>
          <a:p>
            <a:pPr indent="0" marL="0">
              <a:buNone/>
            </a:pPr>
            <a:r>
              <a:rPr lang="en-US" sz="1500" dirty="0">
                <a:solidFill>
                  <a:schemeClr val="tx1"/>
                </a:solidFill>
              </a:rPr>
              <a:t>Ek team, ek brand, ek login: textbook case. CampusPress roz yahi karta hai.</a:t>
            </a:r>
            <a:endParaRPr lang="en-US" sz="1500" dirty="0"/>
          </a:p>
        </p:txBody>
      </p:sp>
      <p:sp>
        <p:nvSpPr>
          <p:cNvPr id="8" name="Answer B"/>
          <p:cNvSpPr/>
          <p:nvPr/>
        </p:nvSpPr>
        <p:spPr>
          <a:xfrm>
            <a:off x="6217920" y="1371600"/>
            <a:ext cx="5394960" cy="2057400"/>
          </a:xfrm>
          <a:prstGeom prst="roundRect">
            <a:avLst>
              <a:gd name="adj" fmla="val 8000"/>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9" name="Single sites frame"/>
          <p:cNvSpPr/>
          <p:nvPr/>
        </p:nvSpPr>
        <p:spPr>
          <a:xfrm>
            <a:off x="6492240" y="1645920"/>
            <a:ext cx="777240" cy="777240"/>
          </a:xfrm>
          <a:prstGeom prst="diamond">
            <a:avLst/>
          </a:prstGeom>
          <a:solidFill>
            <a:schemeClr val="accent1"/>
          </a:solidFill>
          <a:ln w="12700">
            <a:solidFill>
              <a:schemeClr val="accent1"/>
            </a:solidFill>
            <a:prstDash val="solid"/>
          </a:ln>
        </p:spPr>
      </p:sp>
      <p:pic>
        <p:nvPicPr>
          <p:cNvPr id="10" name="Single sites icon" descr="Single sites">    </p:cNvPr>
          <p:cNvPicPr>
            <a:picLocks noChangeAspect="1"/>
          </p:cNvPicPr>
          <p:nvPr/>
        </p:nvPicPr>
        <p:blipFill>
          <a:blip r:embed="rId2"/>
          <a:stretch>
            <a:fillRect/>
          </a:stretch>
        </p:blipFill>
        <p:spPr>
          <a:xfrm>
            <a:off x="6717640" y="1871320"/>
            <a:ext cx="326441" cy="326441"/>
          </a:xfrm>
          <a:prstGeom prst="rect">
            <a:avLst/>
          </a:prstGeom>
        </p:spPr>
      </p:pic>
      <p:sp>
        <p:nvSpPr>
          <p:cNvPr id="11" name="Text 7"/>
          <p:cNvSpPr txBox="1"/>
          <p:nvPr/>
        </p:nvSpPr>
        <p:spPr>
          <a:xfrm>
            <a:off x="7498080" y="1645920"/>
            <a:ext cx="3931920" cy="777240"/>
          </a:xfrm>
          <a:prstGeom prst="rect">
            <a:avLst/>
          </a:prstGeom>
          <a:noFill/>
          <a:ln/>
        </p:spPr>
        <p:txBody>
          <a:bodyPr wrap="square" lIns="0" tIns="0" rIns="0" bIns="0" rtlCol="0" anchor="ctr"/>
          <a:lstStyle/>
          <a:p>
            <a:pPr indent="0" marL="0">
              <a:buNone/>
            </a:pPr>
            <a:r>
              <a:rPr lang="en-US" sz="2400" b="1" dirty="0">
                <a:solidFill>
                  <a:schemeClr val="accent5"/>
                </a:solidFill>
              </a:rPr>
              <a:t>B  ·  </a:t>
            </a:r>
            <a:pPr indent="0" marL="0">
              <a:buNone/>
            </a:pPr>
            <a:r>
              <a:rPr lang="en-US" sz="2400" b="1" dirty="0">
                <a:solidFill>
                  <a:schemeClr val="accent1"/>
                </a:solidFill>
              </a:rPr>
              <a:t>Single sites</a:t>
            </a:r>
            <a:endParaRPr lang="en-US" sz="2400" dirty="0"/>
          </a:p>
        </p:txBody>
      </p:sp>
      <p:sp>
        <p:nvSpPr>
          <p:cNvPr id="12" name="Text 8"/>
          <p:cNvSpPr txBox="1"/>
          <p:nvPr/>
        </p:nvSpPr>
        <p:spPr>
          <a:xfrm>
            <a:off x="6492240" y="2560320"/>
            <a:ext cx="4846320" cy="731520"/>
          </a:xfrm>
          <a:prstGeom prst="rect">
            <a:avLst/>
          </a:prstGeom>
          <a:noFill/>
          <a:ln/>
        </p:spPr>
        <p:txBody>
          <a:bodyPr wrap="square" lIns="0" tIns="0" rIns="0" bIns="0" rtlCol="0" anchor="t"/>
          <a:lstStyle/>
          <a:p>
            <a:pPr indent="0" marL="0">
              <a:buNone/>
            </a:pPr>
            <a:r>
              <a:rPr lang="en-US" sz="1500" dirty="0">
                <a:solidFill>
                  <a:schemeClr val="tx1"/>
                </a:solidFill>
              </a:rPr>
              <a:t>Alag clients, alag hosts, alag billing. Ek ki galti sab pe na gire.</a:t>
            </a:r>
            <a:endParaRPr lang="en-US" sz="1500" dirty="0"/>
          </a:p>
        </p:txBody>
      </p:sp>
      <p:sp>
        <p:nvSpPr>
          <p:cNvPr id="13" name="Answer C"/>
          <p:cNvSpPr/>
          <p:nvPr/>
        </p:nvSpPr>
        <p:spPr>
          <a:xfrm>
            <a:off x="548640" y="3703320"/>
            <a:ext cx="5394960" cy="2057400"/>
          </a:xfrm>
          <a:prstGeom prst="roundRect">
            <a:avLst>
              <a:gd name="adj" fmla="val 8000"/>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14" name="Multisite frame"/>
          <p:cNvSpPr/>
          <p:nvPr/>
        </p:nvSpPr>
        <p:spPr>
          <a:xfrm>
            <a:off x="822960" y="3977640"/>
            <a:ext cx="777240" cy="777240"/>
          </a:xfrm>
          <a:prstGeom prst="diamond">
            <a:avLst/>
          </a:prstGeom>
          <a:solidFill>
            <a:schemeClr val="accent6"/>
          </a:solidFill>
          <a:ln w="12700">
            <a:solidFill>
              <a:schemeClr val="accent6"/>
            </a:solidFill>
            <a:prstDash val="solid"/>
          </a:ln>
        </p:spPr>
      </p:sp>
      <p:pic>
        <p:nvPicPr>
          <p:cNvPr id="15" name="Multisite icon" descr="Multisite">    </p:cNvPr>
          <p:cNvPicPr>
            <a:picLocks noChangeAspect="1"/>
          </p:cNvPicPr>
          <p:nvPr/>
        </p:nvPicPr>
        <p:blipFill>
          <a:blip r:embed="rId3"/>
          <a:stretch>
            <a:fillRect/>
          </a:stretch>
        </p:blipFill>
        <p:spPr>
          <a:xfrm>
            <a:off x="1048360" y="4203040"/>
            <a:ext cx="326441" cy="326441"/>
          </a:xfrm>
          <a:prstGeom prst="rect">
            <a:avLst/>
          </a:prstGeom>
        </p:spPr>
      </p:pic>
      <p:sp>
        <p:nvSpPr>
          <p:cNvPr id="16" name="Text 11"/>
          <p:cNvSpPr txBox="1"/>
          <p:nvPr/>
        </p:nvSpPr>
        <p:spPr>
          <a:xfrm>
            <a:off x="1828800" y="3977640"/>
            <a:ext cx="3931920" cy="777240"/>
          </a:xfrm>
          <a:prstGeom prst="rect">
            <a:avLst/>
          </a:prstGeom>
          <a:noFill/>
          <a:ln/>
        </p:spPr>
        <p:txBody>
          <a:bodyPr wrap="square" lIns="0" tIns="0" rIns="0" bIns="0" rtlCol="0" anchor="ctr"/>
          <a:lstStyle/>
          <a:p>
            <a:pPr indent="0" marL="0">
              <a:buNone/>
            </a:pPr>
            <a:r>
              <a:rPr lang="en-US" sz="2400" b="1" dirty="0">
                <a:solidFill>
                  <a:schemeClr val="accent5"/>
                </a:solidFill>
              </a:rPr>
              <a:t>C  ·  </a:t>
            </a:r>
            <a:pPr indent="0" marL="0">
              <a:buNone/>
            </a:pPr>
            <a:r>
              <a:rPr lang="en-US" sz="2400" b="1" dirty="0">
                <a:solidFill>
                  <a:schemeClr val="accent6"/>
                </a:solidFill>
              </a:rPr>
              <a:t>Multisite</a:t>
            </a:r>
            <a:endParaRPr lang="en-US" sz="2400" dirty="0"/>
          </a:p>
        </p:txBody>
      </p:sp>
      <p:sp>
        <p:nvSpPr>
          <p:cNvPr id="17" name="Text 12"/>
          <p:cNvSpPr txBox="1"/>
          <p:nvPr/>
        </p:nvSpPr>
        <p:spPr>
          <a:xfrm>
            <a:off x="822960" y="4892040"/>
            <a:ext cx="4846320" cy="731520"/>
          </a:xfrm>
          <a:prstGeom prst="rect">
            <a:avLst/>
          </a:prstGeom>
          <a:noFill/>
          <a:ln/>
        </p:spPr>
        <p:txBody>
          <a:bodyPr wrap="square" lIns="0" tIns="0" rIns="0" bIns="0" rtlCol="0" anchor="t"/>
          <a:lstStyle/>
          <a:p>
            <a:pPr indent="0" marL="0">
              <a:buNone/>
            </a:pPr>
            <a:r>
              <a:rPr lang="en-US" sz="1500" dirty="0">
                <a:solidFill>
                  <a:schemeClr val="tx1"/>
                </a:solidFill>
              </a:rPr>
              <a:t>Brand central, menu local. Nayi branch = nayi site, 2 minute mein.</a:t>
            </a:r>
            <a:endParaRPr lang="en-US" sz="1500" dirty="0"/>
          </a:p>
        </p:txBody>
      </p:sp>
      <p:sp>
        <p:nvSpPr>
          <p:cNvPr id="18" name="Answer D"/>
          <p:cNvSpPr/>
          <p:nvPr/>
        </p:nvSpPr>
        <p:spPr>
          <a:xfrm>
            <a:off x="6217920" y="3703320"/>
            <a:ext cx="5394960" cy="2057400"/>
          </a:xfrm>
          <a:prstGeom prst="roundRect">
            <a:avLst>
              <a:gd name="adj" fmla="val 8000"/>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19" name="Single site frame"/>
          <p:cNvSpPr/>
          <p:nvPr/>
        </p:nvSpPr>
        <p:spPr>
          <a:xfrm>
            <a:off x="6492240" y="3977640"/>
            <a:ext cx="777240" cy="777240"/>
          </a:xfrm>
          <a:prstGeom prst="diamond">
            <a:avLst/>
          </a:prstGeom>
          <a:solidFill>
            <a:schemeClr val="accent1"/>
          </a:solidFill>
          <a:ln w="12700">
            <a:solidFill>
              <a:schemeClr val="accent1"/>
            </a:solidFill>
            <a:prstDash val="solid"/>
          </a:ln>
        </p:spPr>
      </p:sp>
      <p:pic>
        <p:nvPicPr>
          <p:cNvPr id="20" name="Single site icon" descr="Single site">    </p:cNvPr>
          <p:cNvPicPr>
            <a:picLocks noChangeAspect="1"/>
          </p:cNvPicPr>
          <p:nvPr/>
        </p:nvPicPr>
        <p:blipFill>
          <a:blip r:embed="rId4"/>
          <a:stretch>
            <a:fillRect/>
          </a:stretch>
        </p:blipFill>
        <p:spPr>
          <a:xfrm>
            <a:off x="6717640" y="4203040"/>
            <a:ext cx="326441" cy="326441"/>
          </a:xfrm>
          <a:prstGeom prst="rect">
            <a:avLst/>
          </a:prstGeom>
        </p:spPr>
      </p:pic>
      <p:sp>
        <p:nvSpPr>
          <p:cNvPr id="21" name="Text 15"/>
          <p:cNvSpPr txBox="1"/>
          <p:nvPr/>
        </p:nvSpPr>
        <p:spPr>
          <a:xfrm>
            <a:off x="7498080" y="3977640"/>
            <a:ext cx="3931920" cy="777240"/>
          </a:xfrm>
          <a:prstGeom prst="rect">
            <a:avLst/>
          </a:prstGeom>
          <a:noFill/>
          <a:ln/>
        </p:spPr>
        <p:txBody>
          <a:bodyPr wrap="square" lIns="0" tIns="0" rIns="0" bIns="0" rtlCol="0" anchor="ctr"/>
          <a:lstStyle/>
          <a:p>
            <a:pPr indent="0" marL="0">
              <a:buNone/>
            </a:pPr>
            <a:r>
              <a:rPr lang="en-US" sz="2400" b="1" dirty="0">
                <a:solidFill>
                  <a:schemeClr val="accent5"/>
                </a:solidFill>
              </a:rPr>
              <a:t>D  ·  </a:t>
            </a:r>
            <a:pPr indent="0" marL="0">
              <a:buNone/>
            </a:pPr>
            <a:r>
              <a:rPr lang="en-US" sz="2400" b="1" dirty="0">
                <a:solidFill>
                  <a:schemeClr val="accent1"/>
                </a:solidFill>
              </a:rPr>
              <a:t>Single site</a:t>
            </a:r>
            <a:endParaRPr lang="en-US" sz="2400" dirty="0"/>
          </a:p>
        </p:txBody>
      </p:sp>
      <p:sp>
        <p:nvSpPr>
          <p:cNvPr id="22" name="Text 16"/>
          <p:cNvSpPr txBox="1"/>
          <p:nvPr/>
        </p:nvSpPr>
        <p:spPr>
          <a:xfrm>
            <a:off x="6492240" y="4892040"/>
            <a:ext cx="4846320" cy="731520"/>
          </a:xfrm>
          <a:prstGeom prst="rect">
            <a:avLst/>
          </a:prstGeom>
          <a:noFill/>
          <a:ln/>
        </p:spPr>
        <p:txBody>
          <a:bodyPr wrap="square" lIns="0" tIns="0" rIns="0" bIns="0" rtlCol="0" anchor="t"/>
          <a:lstStyle/>
          <a:p>
            <a:pPr indent="0" marL="0">
              <a:buNone/>
            </a:pPr>
            <a:r>
              <a:rPr lang="en-US" sz="1500" dirty="0">
                <a:solidFill>
                  <a:schemeClr val="tx1"/>
                </a:solidFill>
              </a:rPr>
              <a:t>2 sites ke liye Multisite = 2 mehmaanon ke liye shaadi ka tent.</a:t>
            </a:r>
            <a:endParaRPr lang="en-US" sz="1500" dirty="0"/>
          </a:p>
        </p:txBody>
      </p:sp>
      <p:sp>
        <p:nvSpPr>
          <p:cNvPr id="23" name="Back to quiz button"/>
          <p:cNvSpPr txBox="1"/>
          <p:nvPr/>
        </p:nvSpPr>
        <p:spPr>
          <a:xfrm>
            <a:off x="8092440" y="6336792"/>
            <a:ext cx="141732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2"/>
                </a:solidFill>
              </a:rPr>
              <a:t>←  Quiz pe wapas</a:t>
            </a:r>
            <a:endParaRPr lang="en-US" sz="1100" dirty="0"/>
          </a:p>
        </p:txBody>
      </p:sp>
      <p:sp>
        <p:nvSpPr>
          <p:cNvPr id="24" name="Link: Back to quiz">
            <a:hlinkClick r:id="rId5" tooltip="Back to quiz" action="ppaction://hlinksldjump"/>
          </p:cNvPr>
          <p:cNvSpPr/>
          <p:nvPr/>
        </p:nvSpPr>
        <p:spPr>
          <a:xfrm>
            <a:off x="8092440" y="6336792"/>
            <a:ext cx="1417320" cy="384048"/>
          </a:xfrm>
          <a:prstGeom prst="rect">
            <a:avLst/>
          </a:prstGeom>
          <a:solidFill>
            <a:schemeClr val="bg1">
              <a:alpha val="0"/>
            </a:schemeClr>
          </a:solidFill>
          <a:ln/>
        </p:spPr>
      </p:sp>
      <p:sp>
        <p:nvSpPr>
          <p:cNvPr id="25" name="Back to the menu button"/>
          <p:cNvSpPr txBox="1"/>
          <p:nvPr/>
        </p:nvSpPr>
        <p:spPr>
          <a:xfrm>
            <a:off x="9646920" y="6336792"/>
            <a:ext cx="128016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  Menu</a:t>
            </a:r>
            <a:endParaRPr lang="en-US" sz="1100" dirty="0"/>
          </a:p>
        </p:txBody>
      </p:sp>
      <p:sp>
        <p:nvSpPr>
          <p:cNvPr id="26" name="Link: Back to the menu">
            <a:hlinkClick r:id="rId6"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Arial" pitchFamily="34" charset="0"/>
                <a:ea typeface="Arial" pitchFamily="34" charset="-122"/>
                <a:cs typeface="Arial" pitchFamily="34" charset="-120"/>
              </a:rPr>
              <a:t>Setup ki zaroorat: pehle checklist, phir magic</a:t>
            </a:r>
            <a:endParaRPr lang="en-US" sz="3400" dirty="0"/>
          </a:p>
        </p:txBody>
      </p:sp>
      <p:sp>
        <p:nvSpPr>
          <p:cNvPr id="3" name="Multisite-friendly hosting frame"/>
          <p:cNvSpPr/>
          <p:nvPr/>
        </p:nvSpPr>
        <p:spPr>
          <a:xfrm>
            <a:off x="548640" y="1371600"/>
            <a:ext cx="685800" cy="685800"/>
          </a:xfrm>
          <a:prstGeom prst="diamond">
            <a:avLst/>
          </a:prstGeom>
          <a:solidFill>
            <a:schemeClr val="accent1"/>
          </a:solidFill>
          <a:ln w="12700">
            <a:solidFill>
              <a:schemeClr val="accent1"/>
            </a:solidFill>
            <a:prstDash val="solid"/>
          </a:ln>
        </p:spPr>
      </p:sp>
      <p:pic>
        <p:nvPicPr>
          <p:cNvPr id="4" name="Multisite-friendly hosting icon" descr="Multisite-friendly hosting">    </p:cNvPr>
          <p:cNvPicPr>
            <a:picLocks noChangeAspect="1"/>
          </p:cNvPicPr>
          <p:nvPr/>
        </p:nvPicPr>
        <p:blipFill>
          <a:blip r:embed="rId1"/>
          <a:stretch>
            <a:fillRect/>
          </a:stretch>
        </p:blipFill>
        <p:spPr>
          <a:xfrm>
            <a:off x="747522" y="1570482"/>
            <a:ext cx="288036" cy="288036"/>
          </a:xfrm>
          <a:prstGeom prst="rect">
            <a:avLst/>
          </a:prstGeom>
        </p:spPr>
      </p:pic>
      <p:sp>
        <p:nvSpPr>
          <p:cNvPr id="5" name="Text 2"/>
          <p:cNvSpPr txBox="1"/>
          <p:nvPr/>
        </p:nvSpPr>
        <p:spPr>
          <a:xfrm>
            <a:off x="1417320" y="1325880"/>
            <a:ext cx="4480560" cy="384048"/>
          </a:xfrm>
          <a:prstGeom prst="rect">
            <a:avLst/>
          </a:prstGeom>
          <a:noFill/>
          <a:ln/>
        </p:spPr>
        <p:txBody>
          <a:bodyPr wrap="square" lIns="0" tIns="0" rIns="0" bIns="0" rtlCol="0" anchor="ctr"/>
          <a:lstStyle/>
          <a:p>
            <a:pPr indent="0" marL="0">
              <a:buNone/>
            </a:pPr>
            <a:r>
              <a:rPr lang="en-US" sz="1700" b="1" dirty="0">
                <a:solidFill>
                  <a:schemeClr val="tx2"/>
                </a:solidFill>
              </a:rPr>
              <a:t>Multisite-friendly hosting</a:t>
            </a:r>
            <a:endParaRPr lang="en-US" sz="1700" dirty="0"/>
          </a:p>
        </p:txBody>
      </p:sp>
      <p:sp>
        <p:nvSpPr>
          <p:cNvPr id="6" name="Text 3"/>
          <p:cNvSpPr txBox="1"/>
          <p:nvPr/>
        </p:nvSpPr>
        <p:spPr>
          <a:xfrm>
            <a:off x="1417320" y="1709928"/>
            <a:ext cx="4480560" cy="411480"/>
          </a:xfrm>
          <a:prstGeom prst="rect">
            <a:avLst/>
          </a:prstGeom>
          <a:noFill/>
          <a:ln/>
        </p:spPr>
        <p:txBody>
          <a:bodyPr wrap="square" lIns="0" tIns="0" rIns="0" bIns="0" rtlCol="0" anchor="ctr"/>
          <a:lstStyle/>
          <a:p>
            <a:pPr indent="0" marL="0">
              <a:buNone/>
            </a:pPr>
            <a:r>
              <a:rPr lang="en-US" sz="1400" dirty="0">
                <a:solidFill>
                  <a:schemeClr val="tx1"/>
                </a:solidFill>
              </a:rPr>
              <a:t>Kuch shared hosts mana karte hain, pehle pooch lo</a:t>
            </a:r>
            <a:endParaRPr lang="en-US" sz="1400" dirty="0"/>
          </a:p>
        </p:txBody>
      </p:sp>
      <p:sp>
        <p:nvSpPr>
          <p:cNvPr id="7" name="Pretty permalinks + rewrites frame"/>
          <p:cNvSpPr/>
          <p:nvPr/>
        </p:nvSpPr>
        <p:spPr>
          <a:xfrm>
            <a:off x="548640" y="2331720"/>
            <a:ext cx="685800" cy="685800"/>
          </a:xfrm>
          <a:prstGeom prst="diamond">
            <a:avLst/>
          </a:prstGeom>
          <a:solidFill>
            <a:schemeClr val="accent3"/>
          </a:solidFill>
          <a:ln w="12700">
            <a:solidFill>
              <a:schemeClr val="accent3"/>
            </a:solidFill>
            <a:prstDash val="solid"/>
          </a:ln>
        </p:spPr>
      </p:sp>
      <p:pic>
        <p:nvPicPr>
          <p:cNvPr id="8" name="Pretty permalinks + rewrites icon" descr="Pretty permalinks + rewrites">    </p:cNvPr>
          <p:cNvPicPr>
            <a:picLocks noChangeAspect="1"/>
          </p:cNvPicPr>
          <p:nvPr/>
        </p:nvPicPr>
        <p:blipFill>
          <a:blip r:embed="rId2"/>
          <a:stretch>
            <a:fillRect/>
          </a:stretch>
        </p:blipFill>
        <p:spPr>
          <a:xfrm>
            <a:off x="747522" y="2530602"/>
            <a:ext cx="288036" cy="288036"/>
          </a:xfrm>
          <a:prstGeom prst="rect">
            <a:avLst/>
          </a:prstGeom>
        </p:spPr>
      </p:pic>
      <p:sp>
        <p:nvSpPr>
          <p:cNvPr id="9" name="Text 5"/>
          <p:cNvSpPr txBox="1"/>
          <p:nvPr/>
        </p:nvSpPr>
        <p:spPr>
          <a:xfrm>
            <a:off x="1417320" y="2286000"/>
            <a:ext cx="4480560" cy="384048"/>
          </a:xfrm>
          <a:prstGeom prst="rect">
            <a:avLst/>
          </a:prstGeom>
          <a:noFill/>
          <a:ln/>
        </p:spPr>
        <p:txBody>
          <a:bodyPr wrap="square" lIns="0" tIns="0" rIns="0" bIns="0" rtlCol="0" anchor="ctr"/>
          <a:lstStyle/>
          <a:p>
            <a:pPr indent="0" marL="0">
              <a:buNone/>
            </a:pPr>
            <a:r>
              <a:rPr lang="en-US" sz="1700" b="1" dirty="0">
                <a:solidFill>
                  <a:schemeClr val="tx2"/>
                </a:solidFill>
              </a:rPr>
              <a:t>Pretty permalinks + rewrites</a:t>
            </a:r>
            <a:endParaRPr lang="en-US" sz="1700" dirty="0"/>
          </a:p>
        </p:txBody>
      </p:sp>
      <p:sp>
        <p:nvSpPr>
          <p:cNvPr id="10" name="Text 6"/>
          <p:cNvSpPr txBox="1"/>
          <p:nvPr/>
        </p:nvSpPr>
        <p:spPr>
          <a:xfrm>
            <a:off x="1417320" y="2670048"/>
            <a:ext cx="4480560" cy="411480"/>
          </a:xfrm>
          <a:prstGeom prst="rect">
            <a:avLst/>
          </a:prstGeom>
          <a:noFill/>
          <a:ln/>
        </p:spPr>
        <p:txBody>
          <a:bodyPr wrap="square" lIns="0" tIns="0" rIns="0" bIns="0" rtlCol="0" anchor="ctr"/>
          <a:lstStyle/>
          <a:p>
            <a:pPr indent="0" marL="0">
              <a:buNone/>
            </a:pPr>
            <a:r>
              <a:rPr lang="en-US" sz="1400" dirty="0">
                <a:solidFill>
                  <a:schemeClr val="tx1"/>
                </a:solidFill>
              </a:rPr>
              <a:t>Apache mod_rewrite ya Nginx rules ready</a:t>
            </a:r>
            <a:endParaRPr lang="en-US" sz="1400" dirty="0"/>
          </a:p>
        </p:txBody>
      </p:sp>
      <p:sp>
        <p:nvSpPr>
          <p:cNvPr id="11" name="Subdomain? Wildcard DNS + SSL frame"/>
          <p:cNvSpPr/>
          <p:nvPr/>
        </p:nvSpPr>
        <p:spPr>
          <a:xfrm>
            <a:off x="548640" y="3291840"/>
            <a:ext cx="685800" cy="685800"/>
          </a:xfrm>
          <a:prstGeom prst="diamond">
            <a:avLst/>
          </a:prstGeom>
          <a:solidFill>
            <a:schemeClr val="accent4"/>
          </a:solidFill>
          <a:ln w="12700">
            <a:solidFill>
              <a:schemeClr val="accent4"/>
            </a:solidFill>
            <a:prstDash val="solid"/>
          </a:ln>
        </p:spPr>
      </p:sp>
      <p:pic>
        <p:nvPicPr>
          <p:cNvPr id="12" name="Subdomain? Wildcard DNS + SSL icon" descr="Subdomain? Wildcard DNS + SSL">    </p:cNvPr>
          <p:cNvPicPr>
            <a:picLocks noChangeAspect="1"/>
          </p:cNvPicPr>
          <p:nvPr/>
        </p:nvPicPr>
        <p:blipFill>
          <a:blip r:embed="rId3"/>
          <a:stretch>
            <a:fillRect/>
          </a:stretch>
        </p:blipFill>
        <p:spPr>
          <a:xfrm>
            <a:off x="747522" y="3490722"/>
            <a:ext cx="288036" cy="288036"/>
          </a:xfrm>
          <a:prstGeom prst="rect">
            <a:avLst/>
          </a:prstGeom>
        </p:spPr>
      </p:pic>
      <p:sp>
        <p:nvSpPr>
          <p:cNvPr id="13" name="Text 8"/>
          <p:cNvSpPr txBox="1"/>
          <p:nvPr/>
        </p:nvSpPr>
        <p:spPr>
          <a:xfrm>
            <a:off x="1417320" y="3246120"/>
            <a:ext cx="4480560" cy="384048"/>
          </a:xfrm>
          <a:prstGeom prst="rect">
            <a:avLst/>
          </a:prstGeom>
          <a:noFill/>
          <a:ln/>
        </p:spPr>
        <p:txBody>
          <a:bodyPr wrap="square" lIns="0" tIns="0" rIns="0" bIns="0" rtlCol="0" anchor="ctr"/>
          <a:lstStyle/>
          <a:p>
            <a:pPr indent="0" marL="0">
              <a:buNone/>
            </a:pPr>
            <a:r>
              <a:rPr lang="en-US" sz="1700" b="1" dirty="0">
                <a:solidFill>
                  <a:schemeClr val="tx2"/>
                </a:solidFill>
              </a:rPr>
              <a:t>Subdomain? Wildcard DNS + SSL</a:t>
            </a:r>
            <a:endParaRPr lang="en-US" sz="1700" dirty="0"/>
          </a:p>
        </p:txBody>
      </p:sp>
      <p:sp>
        <p:nvSpPr>
          <p:cNvPr id="14" name="Text 9"/>
          <p:cNvSpPr txBox="1"/>
          <p:nvPr/>
        </p:nvSpPr>
        <p:spPr>
          <a:xfrm>
            <a:off x="1417320" y="3630168"/>
            <a:ext cx="4480560" cy="411480"/>
          </a:xfrm>
          <a:prstGeom prst="rect">
            <a:avLst/>
          </a:prstGeom>
          <a:noFill/>
          <a:ln/>
        </p:spPr>
        <p:txBody>
          <a:bodyPr wrap="square" lIns="0" tIns="0" rIns="0" bIns="0" rtlCol="0" anchor="ctr"/>
          <a:lstStyle/>
          <a:p>
            <a:pPr indent="0" marL="0">
              <a:buNone/>
            </a:pPr>
            <a:r>
              <a:rPr lang="en-US" sz="1400" dirty="0">
                <a:solidFill>
                  <a:schemeClr val="tx1"/>
                </a:solidFill>
              </a:rPr>
              <a:t>*.example.com ka DNS record aur wildcard cert</a:t>
            </a:r>
            <a:endParaRPr lang="en-US" sz="1400" dirty="0"/>
          </a:p>
        </p:txBody>
      </p:sp>
      <p:sp>
        <p:nvSpPr>
          <p:cNvPr id="15" name="Full backup + plugins deactivate frame"/>
          <p:cNvSpPr/>
          <p:nvPr/>
        </p:nvSpPr>
        <p:spPr>
          <a:xfrm>
            <a:off x="548640" y="4251960"/>
            <a:ext cx="685800" cy="685800"/>
          </a:xfrm>
          <a:prstGeom prst="diamond">
            <a:avLst/>
          </a:prstGeom>
          <a:solidFill>
            <a:schemeClr val="accent2"/>
          </a:solidFill>
          <a:ln w="12700">
            <a:solidFill>
              <a:schemeClr val="accent2"/>
            </a:solidFill>
            <a:prstDash val="solid"/>
          </a:ln>
        </p:spPr>
      </p:sp>
      <p:pic>
        <p:nvPicPr>
          <p:cNvPr id="16" name="Full backup + plugins deactivate icon" descr="Full backup + plugins deactivate">    </p:cNvPr>
          <p:cNvPicPr>
            <a:picLocks noChangeAspect="1"/>
          </p:cNvPicPr>
          <p:nvPr/>
        </p:nvPicPr>
        <p:blipFill>
          <a:blip r:embed="rId4"/>
          <a:stretch>
            <a:fillRect/>
          </a:stretch>
        </p:blipFill>
        <p:spPr>
          <a:xfrm>
            <a:off x="747522" y="4450842"/>
            <a:ext cx="288036" cy="288036"/>
          </a:xfrm>
          <a:prstGeom prst="rect">
            <a:avLst/>
          </a:prstGeom>
        </p:spPr>
      </p:pic>
      <p:sp>
        <p:nvSpPr>
          <p:cNvPr id="17" name="Text 11"/>
          <p:cNvSpPr txBox="1"/>
          <p:nvPr/>
        </p:nvSpPr>
        <p:spPr>
          <a:xfrm>
            <a:off x="1417320" y="4206240"/>
            <a:ext cx="4480560" cy="384048"/>
          </a:xfrm>
          <a:prstGeom prst="rect">
            <a:avLst/>
          </a:prstGeom>
          <a:noFill/>
          <a:ln/>
        </p:spPr>
        <p:txBody>
          <a:bodyPr wrap="square" lIns="0" tIns="0" rIns="0" bIns="0" rtlCol="0" anchor="ctr"/>
          <a:lstStyle/>
          <a:p>
            <a:pPr indent="0" marL="0">
              <a:buNone/>
            </a:pPr>
            <a:r>
              <a:rPr lang="en-US" sz="1700" b="1" dirty="0">
                <a:solidFill>
                  <a:schemeClr val="tx2"/>
                </a:solidFill>
              </a:rPr>
              <a:t>Full backup + plugins deactivate</a:t>
            </a:r>
            <a:endParaRPr lang="en-US" sz="1700" dirty="0"/>
          </a:p>
        </p:txBody>
      </p:sp>
      <p:sp>
        <p:nvSpPr>
          <p:cNvPr id="18" name="Text 12"/>
          <p:cNvSpPr txBox="1"/>
          <p:nvPr/>
        </p:nvSpPr>
        <p:spPr>
          <a:xfrm>
            <a:off x="1417320" y="4590288"/>
            <a:ext cx="4480560" cy="411480"/>
          </a:xfrm>
          <a:prstGeom prst="rect">
            <a:avLst/>
          </a:prstGeom>
          <a:noFill/>
          <a:ln/>
        </p:spPr>
        <p:txBody>
          <a:bodyPr wrap="square" lIns="0" tIns="0" rIns="0" bIns="0" rtlCol="0" anchor="ctr"/>
          <a:lstStyle/>
          <a:p>
            <a:pPr indent="0" marL="0">
              <a:buNone/>
            </a:pPr>
            <a:r>
              <a:rPr lang="en-US" sz="1400" dirty="0">
                <a:solidFill>
                  <a:schemeClr val="tx1"/>
                </a:solidFill>
              </a:rPr>
              <a:t>Files aur DB dono. “Backup nahi liya” = horror story</a:t>
            </a:r>
            <a:endParaRPr lang="en-US" sz="1400" dirty="0"/>
          </a:p>
        </p:txBody>
      </p:sp>
      <p:sp>
        <p:nvSpPr>
          <p:cNvPr id="19" name="WP-CLI access frame"/>
          <p:cNvSpPr/>
          <p:nvPr/>
        </p:nvSpPr>
        <p:spPr>
          <a:xfrm>
            <a:off x="548640" y="5212080"/>
            <a:ext cx="685800" cy="685800"/>
          </a:xfrm>
          <a:prstGeom prst="diamond">
            <a:avLst/>
          </a:prstGeom>
          <a:solidFill>
            <a:schemeClr val="tx2"/>
          </a:solidFill>
          <a:ln w="12700">
            <a:solidFill>
              <a:schemeClr val="tx2"/>
            </a:solidFill>
            <a:prstDash val="solid"/>
          </a:ln>
        </p:spPr>
      </p:sp>
      <p:pic>
        <p:nvPicPr>
          <p:cNvPr id="20" name="WP-CLI access icon" descr="WP-CLI access">    </p:cNvPr>
          <p:cNvPicPr>
            <a:picLocks noChangeAspect="1"/>
          </p:cNvPicPr>
          <p:nvPr/>
        </p:nvPicPr>
        <p:blipFill>
          <a:blip r:embed="rId5"/>
          <a:stretch>
            <a:fillRect/>
          </a:stretch>
        </p:blipFill>
        <p:spPr>
          <a:xfrm>
            <a:off x="747522" y="5410962"/>
            <a:ext cx="288036" cy="288036"/>
          </a:xfrm>
          <a:prstGeom prst="rect">
            <a:avLst/>
          </a:prstGeom>
        </p:spPr>
      </p:pic>
      <p:sp>
        <p:nvSpPr>
          <p:cNvPr id="21" name="Text 14"/>
          <p:cNvSpPr txBox="1"/>
          <p:nvPr/>
        </p:nvSpPr>
        <p:spPr>
          <a:xfrm>
            <a:off x="1417320" y="5166360"/>
            <a:ext cx="4480560" cy="384048"/>
          </a:xfrm>
          <a:prstGeom prst="rect">
            <a:avLst/>
          </a:prstGeom>
          <a:noFill/>
          <a:ln/>
        </p:spPr>
        <p:txBody>
          <a:bodyPr wrap="square" lIns="0" tIns="0" rIns="0" bIns="0" rtlCol="0" anchor="ctr"/>
          <a:lstStyle/>
          <a:p>
            <a:pPr indent="0" marL="0">
              <a:buNone/>
            </a:pPr>
            <a:r>
              <a:rPr lang="en-US" sz="1700" b="1" dirty="0">
                <a:solidFill>
                  <a:schemeClr val="tx2"/>
                </a:solidFill>
              </a:rPr>
              <a:t>WP-CLI access</a:t>
            </a:r>
            <a:endParaRPr lang="en-US" sz="1700" dirty="0"/>
          </a:p>
        </p:txBody>
      </p:sp>
      <p:sp>
        <p:nvSpPr>
          <p:cNvPr id="22" name="Text 15"/>
          <p:cNvSpPr txBox="1"/>
          <p:nvPr/>
        </p:nvSpPr>
        <p:spPr>
          <a:xfrm>
            <a:off x="1417320" y="5550408"/>
            <a:ext cx="4480560" cy="411480"/>
          </a:xfrm>
          <a:prstGeom prst="rect">
            <a:avLst/>
          </a:prstGeom>
          <a:noFill/>
          <a:ln/>
        </p:spPr>
        <p:txBody>
          <a:bodyPr wrap="square" lIns="0" tIns="0" rIns="0" bIns="0" rtlCol="0" anchor="ctr"/>
          <a:lstStyle/>
          <a:p>
            <a:pPr indent="0" marL="0">
              <a:buNone/>
            </a:pPr>
            <a:r>
              <a:rPr lang="en-US" sz="1400" dirty="0">
                <a:solidFill>
                  <a:schemeClr val="tx1"/>
                </a:solidFill>
              </a:rPr>
              <a:t>Badi network ka asli jeevan-saathi</a:t>
            </a:r>
            <a:endParaRPr lang="en-US" sz="1400" dirty="0"/>
          </a:p>
        </p:txBody>
      </p:sp>
      <p:sp>
        <p:nvSpPr>
          <p:cNvPr id="23" name="Code card"/>
          <p:cNvSpPr/>
          <p:nvPr/>
        </p:nvSpPr>
        <p:spPr>
          <a:xfrm>
            <a:off x="6172200" y="1325880"/>
            <a:ext cx="5486400" cy="4800600"/>
          </a:xfrm>
          <a:prstGeom prst="roundRect">
            <a:avLst>
              <a:gd name="adj" fmla="val 3429"/>
            </a:avLst>
          </a:prstGeom>
          <a:solidFill>
            <a:schemeClr val="tx2"/>
          </a:solidFill>
          <a:ln w="12700">
            <a:solidFill>
              <a:schemeClr val="tx2"/>
            </a:solidFill>
            <a:prstDash val="solid"/>
          </a:ln>
          <a:effectLst>
            <a:outerShdw sx="100000" sy="100000" kx="0" ky="0" algn="bl" rotWithShape="0" blurRad="152400" dist="38100" dir="5400000">
              <a:srgbClr val="3D2317">
                <a:alpha val="12000"/>
              </a:srgbClr>
            </a:outerShdw>
          </a:effectLst>
        </p:spPr>
      </p:sp>
      <p:sp>
        <p:nvSpPr>
          <p:cNvPr id="24" name="Text 17"/>
          <p:cNvSpPr txBox="1"/>
          <p:nvPr/>
        </p:nvSpPr>
        <p:spPr>
          <a:xfrm>
            <a:off x="6446520" y="1463040"/>
            <a:ext cx="3657600" cy="365760"/>
          </a:xfrm>
          <a:prstGeom prst="rect">
            <a:avLst/>
          </a:prstGeom>
          <a:noFill/>
          <a:ln/>
        </p:spPr>
        <p:txBody>
          <a:bodyPr wrap="square" lIns="0" tIns="0" rIns="0" bIns="0" rtlCol="0" anchor="ctr"/>
          <a:lstStyle/>
          <a:p>
            <a:pPr indent="0" marL="0">
              <a:buNone/>
            </a:pPr>
            <a:r>
              <a:rPr lang="en-US" sz="1400" b="1" dirty="0">
                <a:solidFill>
                  <a:schemeClr val="accent2"/>
                </a:solidFill>
              </a:rPr>
              <a:t>wp-config.php</a:t>
            </a:r>
            <a:endParaRPr lang="en-US" sz="1400" dirty="0"/>
          </a:p>
        </p:txBody>
      </p:sp>
      <p:sp>
        <p:nvSpPr>
          <p:cNvPr id="25" name="wp-config code"/>
          <p:cNvSpPr txBox="1"/>
          <p:nvPr/>
        </p:nvSpPr>
        <p:spPr>
          <a:xfrm>
            <a:off x="6446520" y="1874520"/>
            <a:ext cx="5029200" cy="3383280"/>
          </a:xfrm>
          <a:prstGeom prst="rect">
            <a:avLst/>
          </a:prstGeom>
          <a:noFill/>
          <a:ln/>
        </p:spPr>
        <p:txBody>
          <a:bodyPr wrap="square" lIns="0" tIns="0" rIns="0" bIns="0" rtlCol="0" anchor="t"/>
          <a:lstStyle/>
          <a:p>
            <a:pPr indent="0" marL="0">
              <a:buNone/>
            </a:pPr>
            <a:r>
              <a:rPr lang="en-US" sz="1350" dirty="0">
                <a:solidFill>
                  <a:srgbClr val="8FA3C7"/>
                </a:solidFill>
                <a:latin typeface="Courier New" pitchFamily="34" charset="0"/>
                <a:ea typeface="Courier New" pitchFamily="34" charset="-122"/>
                <a:cs typeface="Courier New" pitchFamily="34" charset="-120"/>
              </a:rPr>
              <a:t>/* Step 1: network ka darwaza kholo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define( 'WP_ALLOW_MULTISITE', true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A3C7"/>
                </a:solidFill>
                <a:latin typeface="Courier New" pitchFamily="34" charset="0"/>
                <a:ea typeface="Courier New" pitchFamily="34" charset="-122"/>
                <a:cs typeface="Courier New" pitchFamily="34" charset="-120"/>
              </a:rPr>
              <a:t>/* Step 2: Tools → Network Setup */</a:t>
            </a:r>
            <a:endParaRPr lang="en-US" sz="1350" dirty="0"/>
          </a:p>
          <a:p>
            <a:pPr indent="0" marL="0">
              <a:buNone/>
            </a:pPr>
            <a:r>
              <a:rPr lang="en-US" sz="1350" dirty="0">
                <a:solidFill>
                  <a:srgbClr val="8FA3C7"/>
                </a:solidFill>
                <a:latin typeface="Courier New" pitchFamily="34" charset="0"/>
                <a:ea typeface="Courier New" pitchFamily="34" charset="-122"/>
                <a:cs typeface="Courier New" pitchFamily="34" charset="-120"/>
              </a:rPr>
              <a:t>/* Step 3: generated code paste karo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define( 'MULTISITE', true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define( 'SUBDOMAIN_INSTALL', false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define( 'DOMAIN_CURRENT_SITE', 'jaipur.test'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define( 'PATH_CURRENT_SITE', '/'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define( 'SITE_ID_CURRENT_SITE', 1 );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define( 'BLOG_ID_CURRENT_SITE', 1 );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A3C7"/>
                </a:solidFill>
                <a:latin typeface="Courier New" pitchFamily="34" charset="0"/>
                <a:ea typeface="Courier New" pitchFamily="34" charset="-122"/>
                <a:cs typeface="Courier New" pitchFamily="34" charset="-120"/>
              </a:rPr>
              <a:t>/* Step 4: dobara login → Network Admin */</a:t>
            </a:r>
            <a:endParaRPr lang="en-US" sz="1350" dirty="0"/>
          </a:p>
        </p:txBody>
      </p:sp>
      <p:sp>
        <p:nvSpPr>
          <p:cNvPr id="26" name="Text 19"/>
          <p:cNvSpPr txBox="1"/>
          <p:nvPr/>
        </p:nvSpPr>
        <p:spPr>
          <a:xfrm>
            <a:off x="6446520" y="5349240"/>
            <a:ext cx="4937760" cy="548640"/>
          </a:xfrm>
          <a:prstGeom prst="roundRect">
            <a:avLst>
              <a:gd name="adj" fmla="val 20000"/>
            </a:avLst>
          </a:prstGeom>
          <a:solidFill>
            <a:schemeClr val="accent2"/>
          </a:solidFill>
          <a:ln/>
        </p:spPr>
        <p:txBody>
          <a:bodyPr wrap="square" lIns="101600" tIns="101600" rIns="101600" bIns="101600" rtlCol="0" anchor="ctr"/>
          <a:lstStyle/>
          <a:p>
            <a:pPr indent="0" marL="0">
              <a:buNone/>
            </a:pPr>
            <a:r>
              <a:rPr lang="en-US" sz="1400" b="1" dirty="0">
                <a:solidFill>
                  <a:schemeClr val="tx2"/>
                </a:solidFill>
              </a:rPr>
              <a:t>Shortcut:  </a:t>
            </a:r>
            <a:pPr indent="0" marL="0">
              <a:buNone/>
            </a:pPr>
            <a:r>
              <a:rPr lang="en-US" sz="1400" dirty="0">
                <a:solidFill>
                  <a:schemeClr val="tx2"/>
                </a:solidFill>
                <a:latin typeface="Courier New" pitchFamily="34" charset="0"/>
                <a:ea typeface="Courier New" pitchFamily="34" charset="-122"/>
                <a:cs typeface="Courier New" pitchFamily="34" charset="-120"/>
              </a:rPr>
              <a:t>wp core multisite-convert</a:t>
            </a:r>
            <a:endParaRPr lang="en-US" sz="1400" dirty="0"/>
          </a:p>
        </p:txBody>
      </p:sp>
      <p:sp>
        <p:nvSpPr>
          <p:cNvPr id="27" name="Back to the menu button"/>
          <p:cNvSpPr txBox="1"/>
          <p:nvPr/>
        </p:nvSpPr>
        <p:spPr>
          <a:xfrm>
            <a:off x="9646920" y="6336792"/>
            <a:ext cx="128016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  Menu</a:t>
            </a:r>
            <a:endParaRPr lang="en-US" sz="1100" dirty="0"/>
          </a:p>
        </p:txBody>
      </p:sp>
      <p:sp>
        <p:nvSpPr>
          <p:cNvPr id="28" name="Link: Back to the menu">
            <a:hlinkClick r:id="rId6"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Arial" pitchFamily="34" charset="0"/>
                <a:ea typeface="Arial" pitchFamily="34" charset="-122"/>
                <a:cs typeface="Arial" pitchFamily="34" charset="-120"/>
              </a:rPr>
              <a:t>Ghar ka pata kya rakhein?</a:t>
            </a:r>
            <a:endParaRPr lang="en-US" sz="3400" dirty="0"/>
          </a:p>
        </p:txBody>
      </p:sp>
      <p:sp>
        <p:nvSpPr>
          <p:cNvPr id="3" name="Text 1"/>
          <p:cNvSpPr txBox="1"/>
          <p:nvPr/>
        </p:nvSpPr>
        <p:spPr>
          <a:xfrm>
            <a:off x="548640" y="1097280"/>
            <a:ext cx="9601200" cy="365760"/>
          </a:xfrm>
          <a:prstGeom prst="rect">
            <a:avLst/>
          </a:prstGeom>
          <a:noFill/>
          <a:ln/>
        </p:spPr>
        <p:txBody>
          <a:bodyPr wrap="square" lIns="0" tIns="0" rIns="0" bIns="0" rtlCol="0" anchor="ctr"/>
          <a:lstStyle/>
          <a:p>
            <a:pPr indent="0" marL="0">
              <a:buNone/>
            </a:pPr>
            <a:r>
              <a:rPr lang="en-US" sz="1500" i="1" dirty="0">
                <a:solidFill>
                  <a:schemeClr val="accent5"/>
                </a:solidFill>
              </a:rPr>
              <a:t>Subdomain, subfolder ya apna domain: network banate waqt hi socho, baad mein badalna dard hai</a:t>
            </a:r>
            <a:endParaRPr lang="en-US" sz="1500" dirty="0"/>
          </a:p>
        </p:txBody>
      </p:sp>
      <p:sp>
        <p:nvSpPr>
          <p:cNvPr id="4" name="Subdomain card"/>
          <p:cNvSpPr/>
          <p:nvPr/>
        </p:nvSpPr>
        <p:spPr>
          <a:xfrm>
            <a:off x="548640" y="1645920"/>
            <a:ext cx="3474720" cy="4480560"/>
          </a:xfrm>
          <a:prstGeom prst="roundRect">
            <a:avLst>
              <a:gd name="adj" fmla="val 4737"/>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5" name="Subdomain frame"/>
          <p:cNvSpPr/>
          <p:nvPr/>
        </p:nvSpPr>
        <p:spPr>
          <a:xfrm>
            <a:off x="822960" y="1828800"/>
            <a:ext cx="731520" cy="731520"/>
          </a:xfrm>
          <a:prstGeom prst="diamond">
            <a:avLst/>
          </a:prstGeom>
          <a:solidFill>
            <a:schemeClr val="accent3"/>
          </a:solidFill>
          <a:ln w="12700">
            <a:solidFill>
              <a:schemeClr val="accent3"/>
            </a:solidFill>
            <a:prstDash val="solid"/>
          </a:ln>
        </p:spPr>
      </p:sp>
      <p:pic>
        <p:nvPicPr>
          <p:cNvPr id="6" name="Subdomain icon" descr="Subdomain">    </p:cNvPr>
          <p:cNvPicPr>
            <a:picLocks noChangeAspect="1"/>
          </p:cNvPicPr>
          <p:nvPr/>
        </p:nvPicPr>
        <p:blipFill>
          <a:blip r:embed="rId1"/>
          <a:stretch>
            <a:fillRect/>
          </a:stretch>
        </p:blipFill>
        <p:spPr>
          <a:xfrm>
            <a:off x="1035101" y="2040941"/>
            <a:ext cx="307238" cy="307238"/>
          </a:xfrm>
          <a:prstGeom prst="rect">
            <a:avLst/>
          </a:prstGeom>
        </p:spPr>
      </p:pic>
      <p:sp>
        <p:nvSpPr>
          <p:cNvPr id="7" name="Text 4"/>
          <p:cNvSpPr txBox="1"/>
          <p:nvPr/>
        </p:nvSpPr>
        <p:spPr>
          <a:xfrm>
            <a:off x="1691640" y="1828800"/>
            <a:ext cx="2194560" cy="731520"/>
          </a:xfrm>
          <a:prstGeom prst="rect">
            <a:avLst/>
          </a:prstGeom>
          <a:noFill/>
          <a:ln/>
        </p:spPr>
        <p:txBody>
          <a:bodyPr wrap="square" lIns="0" tIns="0" rIns="0" bIns="0" rtlCol="0" anchor="ctr"/>
          <a:lstStyle/>
          <a:p>
            <a:pPr indent="0" marL="0">
              <a:buNone/>
            </a:pPr>
            <a:r>
              <a:rPr lang="en-US" sz="2000" b="1" dirty="0">
                <a:solidFill>
                  <a:schemeClr val="tx2"/>
                </a:solidFill>
              </a:rPr>
              <a:t>Subdomain</a:t>
            </a:r>
            <a:endParaRPr lang="en-US" sz="2000" dirty="0"/>
          </a:p>
        </p:txBody>
      </p:sp>
      <p:sp>
        <p:nvSpPr>
          <p:cNvPr id="8" name="Text 5"/>
          <p:cNvSpPr txBox="1"/>
          <p:nvPr/>
        </p:nvSpPr>
        <p:spPr>
          <a:xfrm>
            <a:off x="822960" y="2743200"/>
            <a:ext cx="2926080" cy="502920"/>
          </a:xfrm>
          <a:prstGeom prst="roundRect">
            <a:avLst>
              <a:gd name="adj" fmla="val 18182"/>
            </a:avLst>
          </a:prstGeom>
          <a:solidFill>
            <a:schemeClr val="accent3"/>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jodhpur.example.com</a:t>
            </a:r>
            <a:endParaRPr lang="en-US" sz="1300" dirty="0"/>
          </a:p>
        </p:txBody>
      </p:sp>
      <p:sp>
        <p:nvSpPr>
          <p:cNvPr id="9" name="Text 6"/>
          <p:cNvSpPr txBox="1"/>
          <p:nvPr/>
        </p:nvSpPr>
        <p:spPr>
          <a:xfrm>
            <a:off x="822960" y="3474720"/>
            <a:ext cx="2971800" cy="18288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Har site apni pehchaan wali lagti hai</a:t>
            </a:r>
            <a:endParaRPr lang="en-US" sz="1500" dirty="0"/>
          </a:p>
          <a:p>
            <a:pPr marL="203200" indent="-203200">
              <a:spcAft>
                <a:spcPts val="1000"/>
              </a:spcAft>
              <a:buSzPct val="100000"/>
              <a:buChar char="•"/>
            </a:pPr>
            <a:r>
              <a:rPr lang="en-US" sz="1500" dirty="0">
                <a:solidFill>
                  <a:schemeClr val="tx1"/>
                </a:solidFill>
              </a:rPr>
              <a:t>Wildcard DNS + wildcard SSL chahiye</a:t>
            </a:r>
            <a:endParaRPr lang="en-US" sz="1500" dirty="0"/>
          </a:p>
          <a:p>
            <a:pPr marL="203200" indent="-203200">
              <a:spcAft>
                <a:spcPts val="1000"/>
              </a:spcAft>
              <a:buSzPct val="100000"/>
              <a:buChar char="•"/>
            </a:pPr>
            <a:r>
              <a:rPr lang="en-US" sz="1500" dirty="0">
                <a:solidFill>
                  <a:schemeClr val="tx1"/>
                </a:solidFill>
              </a:rPr>
              <a:t>Badi networks ka favourite</a:t>
            </a:r>
            <a:endParaRPr lang="en-US" sz="1500" dirty="0"/>
          </a:p>
        </p:txBody>
      </p:sp>
      <p:sp>
        <p:nvSpPr>
          <p:cNvPr id="10" name="Text 7"/>
          <p:cNvSpPr txBox="1"/>
          <p:nvPr/>
        </p:nvSpPr>
        <p:spPr>
          <a:xfrm>
            <a:off x="822960" y="5440680"/>
            <a:ext cx="2971800" cy="411480"/>
          </a:xfrm>
          <a:prstGeom prst="rect">
            <a:avLst/>
          </a:prstGeom>
          <a:noFill/>
          <a:ln/>
        </p:spPr>
        <p:txBody>
          <a:bodyPr wrap="square" lIns="0" tIns="0" rIns="0" bIns="0" rtlCol="0" anchor="ctr"/>
          <a:lstStyle/>
          <a:p>
            <a:pPr indent="0" marL="0">
              <a:buNone/>
            </a:pPr>
            <a:r>
              <a:rPr lang="en-US" sz="1400" b="1" i="1" dirty="0">
                <a:solidFill>
                  <a:schemeClr val="accent3"/>
                </a:solidFill>
              </a:rPr>
              <a:t>Best for: schools, cities, brands</a:t>
            </a:r>
            <a:endParaRPr lang="en-US" sz="1400" dirty="0"/>
          </a:p>
        </p:txBody>
      </p:sp>
      <p:sp>
        <p:nvSpPr>
          <p:cNvPr id="11" name="Subdirectory card"/>
          <p:cNvSpPr/>
          <p:nvPr/>
        </p:nvSpPr>
        <p:spPr>
          <a:xfrm>
            <a:off x="4297680" y="1645920"/>
            <a:ext cx="3474720" cy="4480560"/>
          </a:xfrm>
          <a:prstGeom prst="roundRect">
            <a:avLst>
              <a:gd name="adj" fmla="val 4737"/>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12" name="Subdirectory frame"/>
          <p:cNvSpPr/>
          <p:nvPr/>
        </p:nvSpPr>
        <p:spPr>
          <a:xfrm>
            <a:off x="4572000" y="1828800"/>
            <a:ext cx="731520" cy="731520"/>
          </a:xfrm>
          <a:prstGeom prst="diamond">
            <a:avLst/>
          </a:prstGeom>
          <a:solidFill>
            <a:schemeClr val="accent1"/>
          </a:solidFill>
          <a:ln w="12700">
            <a:solidFill>
              <a:schemeClr val="accent1"/>
            </a:solidFill>
            <a:prstDash val="solid"/>
          </a:ln>
        </p:spPr>
      </p:sp>
      <p:pic>
        <p:nvPicPr>
          <p:cNvPr id="13" name="Subdirectory icon" descr="Subdirectory">    </p:cNvPr>
          <p:cNvPicPr>
            <a:picLocks noChangeAspect="1"/>
          </p:cNvPicPr>
          <p:nvPr/>
        </p:nvPicPr>
        <p:blipFill>
          <a:blip r:embed="rId2"/>
          <a:stretch>
            <a:fillRect/>
          </a:stretch>
        </p:blipFill>
        <p:spPr>
          <a:xfrm>
            <a:off x="4784141" y="2040941"/>
            <a:ext cx="307238" cy="307238"/>
          </a:xfrm>
          <a:prstGeom prst="rect">
            <a:avLst/>
          </a:prstGeom>
        </p:spPr>
      </p:pic>
      <p:sp>
        <p:nvSpPr>
          <p:cNvPr id="14" name="Text 10"/>
          <p:cNvSpPr txBox="1"/>
          <p:nvPr/>
        </p:nvSpPr>
        <p:spPr>
          <a:xfrm>
            <a:off x="5440680" y="1828800"/>
            <a:ext cx="2194560" cy="731520"/>
          </a:xfrm>
          <a:prstGeom prst="rect">
            <a:avLst/>
          </a:prstGeom>
          <a:noFill/>
          <a:ln/>
        </p:spPr>
        <p:txBody>
          <a:bodyPr wrap="square" lIns="0" tIns="0" rIns="0" bIns="0" rtlCol="0" anchor="ctr"/>
          <a:lstStyle/>
          <a:p>
            <a:pPr indent="0" marL="0">
              <a:buNone/>
            </a:pPr>
            <a:r>
              <a:rPr lang="en-US" sz="2000" b="1" dirty="0">
                <a:solidFill>
                  <a:schemeClr val="tx2"/>
                </a:solidFill>
              </a:rPr>
              <a:t>Subdirectory</a:t>
            </a:r>
            <a:endParaRPr lang="en-US" sz="2000" dirty="0"/>
          </a:p>
        </p:txBody>
      </p:sp>
      <p:sp>
        <p:nvSpPr>
          <p:cNvPr id="15" name="Text 11"/>
          <p:cNvSpPr txBox="1"/>
          <p:nvPr/>
        </p:nvSpPr>
        <p:spPr>
          <a:xfrm>
            <a:off x="4572000" y="2743200"/>
            <a:ext cx="2926080" cy="502920"/>
          </a:xfrm>
          <a:prstGeom prst="roundRect">
            <a:avLst>
              <a:gd name="adj" fmla="val 18182"/>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example.com/jodhpur</a:t>
            </a:r>
            <a:endParaRPr lang="en-US" sz="1300" dirty="0"/>
          </a:p>
        </p:txBody>
      </p:sp>
      <p:sp>
        <p:nvSpPr>
          <p:cNvPr id="16" name="Text 12"/>
          <p:cNvSpPr txBox="1"/>
          <p:nvPr/>
        </p:nvSpPr>
        <p:spPr>
          <a:xfrm>
            <a:off x="4572000" y="3474720"/>
            <a:ext cx="2971800" cy="18288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Ek domain, ek SSL: sabse simple</a:t>
            </a:r>
            <a:endParaRPr lang="en-US" sz="1500" dirty="0"/>
          </a:p>
          <a:p>
            <a:pPr marL="203200" indent="-203200">
              <a:spcAft>
                <a:spcPts val="1000"/>
              </a:spcAft>
              <a:buSzPct val="100000"/>
              <a:buChar char="•"/>
            </a:pPr>
            <a:r>
              <a:rPr lang="en-US" sz="1500" dirty="0">
                <a:solidFill>
                  <a:schemeClr val="tx1"/>
                </a:solidFill>
              </a:rPr>
              <a:t>SEO authority ek hi domain pe</a:t>
            </a:r>
            <a:endParaRPr lang="en-US" sz="1500" dirty="0"/>
          </a:p>
          <a:p>
            <a:pPr marL="203200" indent="-203200">
              <a:spcAft>
                <a:spcPts val="1000"/>
              </a:spcAft>
              <a:buSzPct val="100000"/>
              <a:buChar char="•"/>
            </a:pPr>
            <a:r>
              <a:rPr lang="en-US" sz="1500" dirty="0">
                <a:solidFill>
                  <a:schemeClr val="tx1"/>
                </a:solidFill>
              </a:rPr>
              <a:t>Purani (1 mahine+) site pe option band milta hai</a:t>
            </a:r>
            <a:endParaRPr lang="en-US" sz="1500" dirty="0"/>
          </a:p>
        </p:txBody>
      </p:sp>
      <p:sp>
        <p:nvSpPr>
          <p:cNvPr id="17" name="Text 13"/>
          <p:cNvSpPr txBox="1"/>
          <p:nvPr/>
        </p:nvSpPr>
        <p:spPr>
          <a:xfrm>
            <a:off x="4572000" y="5440680"/>
            <a:ext cx="2971800" cy="411480"/>
          </a:xfrm>
          <a:prstGeom prst="rect">
            <a:avLst/>
          </a:prstGeom>
          <a:noFill/>
          <a:ln/>
        </p:spPr>
        <p:txBody>
          <a:bodyPr wrap="square" lIns="0" tIns="0" rIns="0" bIns="0" rtlCol="0" anchor="ctr"/>
          <a:lstStyle/>
          <a:p>
            <a:pPr indent="0" marL="0">
              <a:buNone/>
            </a:pPr>
            <a:r>
              <a:rPr lang="en-US" sz="1400" b="1" i="1" dirty="0">
                <a:solidFill>
                  <a:schemeClr val="accent1"/>
                </a:solidFill>
              </a:rPr>
              <a:t>Best for: departments, languages</a:t>
            </a:r>
            <a:endParaRPr lang="en-US" sz="1400" dirty="0"/>
          </a:p>
        </p:txBody>
      </p:sp>
      <p:sp>
        <p:nvSpPr>
          <p:cNvPr id="18" name="Domain mapping card"/>
          <p:cNvSpPr/>
          <p:nvPr/>
        </p:nvSpPr>
        <p:spPr>
          <a:xfrm>
            <a:off x="8046720" y="1645920"/>
            <a:ext cx="3474720" cy="4480560"/>
          </a:xfrm>
          <a:prstGeom prst="roundRect">
            <a:avLst>
              <a:gd name="adj" fmla="val 4737"/>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19" name="Domain mapping frame"/>
          <p:cNvSpPr/>
          <p:nvPr/>
        </p:nvSpPr>
        <p:spPr>
          <a:xfrm>
            <a:off x="8321040" y="1828800"/>
            <a:ext cx="731520" cy="731520"/>
          </a:xfrm>
          <a:prstGeom prst="diamond">
            <a:avLst/>
          </a:prstGeom>
          <a:solidFill>
            <a:schemeClr val="accent4"/>
          </a:solidFill>
          <a:ln w="12700">
            <a:solidFill>
              <a:schemeClr val="accent4"/>
            </a:solidFill>
            <a:prstDash val="solid"/>
          </a:ln>
        </p:spPr>
      </p:sp>
      <p:pic>
        <p:nvPicPr>
          <p:cNvPr id="20" name="Domain mapping icon" descr="Domain mapping">    </p:cNvPr>
          <p:cNvPicPr>
            <a:picLocks noChangeAspect="1"/>
          </p:cNvPicPr>
          <p:nvPr/>
        </p:nvPicPr>
        <p:blipFill>
          <a:blip r:embed="rId3"/>
          <a:stretch>
            <a:fillRect/>
          </a:stretch>
        </p:blipFill>
        <p:spPr>
          <a:xfrm>
            <a:off x="8533181" y="2040941"/>
            <a:ext cx="307238" cy="307238"/>
          </a:xfrm>
          <a:prstGeom prst="rect">
            <a:avLst/>
          </a:prstGeom>
        </p:spPr>
      </p:pic>
      <p:sp>
        <p:nvSpPr>
          <p:cNvPr id="21" name="Text 16"/>
          <p:cNvSpPr txBox="1"/>
          <p:nvPr/>
        </p:nvSpPr>
        <p:spPr>
          <a:xfrm>
            <a:off x="9189720" y="1828800"/>
            <a:ext cx="2194560" cy="731520"/>
          </a:xfrm>
          <a:prstGeom prst="rect">
            <a:avLst/>
          </a:prstGeom>
          <a:noFill/>
          <a:ln/>
        </p:spPr>
        <p:txBody>
          <a:bodyPr wrap="square" lIns="0" tIns="0" rIns="0" bIns="0" rtlCol="0" anchor="ctr"/>
          <a:lstStyle/>
          <a:p>
            <a:pPr indent="0" marL="0">
              <a:buNone/>
            </a:pPr>
            <a:r>
              <a:rPr lang="en-US" sz="2000" b="1" dirty="0">
                <a:solidFill>
                  <a:schemeClr val="tx2"/>
                </a:solidFill>
              </a:rPr>
              <a:t>Domain mapping</a:t>
            </a:r>
            <a:endParaRPr lang="en-US" sz="2000" dirty="0"/>
          </a:p>
        </p:txBody>
      </p:sp>
      <p:sp>
        <p:nvSpPr>
          <p:cNvPr id="22" name="Text 17"/>
          <p:cNvSpPr txBox="1"/>
          <p:nvPr/>
        </p:nvSpPr>
        <p:spPr>
          <a:xfrm>
            <a:off x="8321040" y="2743200"/>
            <a:ext cx="2926080" cy="502920"/>
          </a:xfrm>
          <a:prstGeom prst="roundRect">
            <a:avLst>
              <a:gd name="adj" fmla="val 18182"/>
            </a:avLst>
          </a:prstGeom>
          <a:solidFill>
            <a:schemeClr val="accent4"/>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jodhpur.in</a:t>
            </a:r>
            <a:endParaRPr lang="en-US" sz="1300" dirty="0"/>
          </a:p>
        </p:txBody>
      </p:sp>
      <p:sp>
        <p:nvSpPr>
          <p:cNvPr id="23" name="Text 18"/>
          <p:cNvSpPr txBox="1"/>
          <p:nvPr/>
        </p:nvSpPr>
        <p:spPr>
          <a:xfrm>
            <a:off x="8321040" y="3474720"/>
            <a:ext cx="2971800" cy="18288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Core mein built-in (WP 4.5+)</a:t>
            </a:r>
            <a:endParaRPr lang="en-US" sz="1500" dirty="0"/>
          </a:p>
          <a:p>
            <a:pPr marL="203200" indent="-203200">
              <a:spcAft>
                <a:spcPts val="1000"/>
              </a:spcAft>
              <a:buSzPct val="100000"/>
              <a:buChar char="•"/>
            </a:pPr>
            <a:r>
              <a:rPr lang="en-US" sz="1500" dirty="0">
                <a:solidFill>
                  <a:schemeClr val="tx1"/>
                </a:solidFill>
              </a:rPr>
              <a:t>Site URL network admin se badlo</a:t>
            </a:r>
            <a:endParaRPr lang="en-US" sz="1500" dirty="0"/>
          </a:p>
          <a:p>
            <a:pPr marL="203200" indent="-203200">
              <a:spcAft>
                <a:spcPts val="1000"/>
              </a:spcAft>
              <a:buSzPct val="100000"/>
              <a:buChar char="•"/>
            </a:pPr>
            <a:r>
              <a:rPr lang="en-US" sz="1500" dirty="0">
                <a:solidFill>
                  <a:schemeClr val="tx1"/>
                </a:solidFill>
              </a:rPr>
              <a:t>DNS, SSL aur cookies ka dhyaan rakho</a:t>
            </a:r>
            <a:endParaRPr lang="en-US" sz="1500" dirty="0"/>
          </a:p>
        </p:txBody>
      </p:sp>
      <p:sp>
        <p:nvSpPr>
          <p:cNvPr id="24" name="Text 19"/>
          <p:cNvSpPr txBox="1"/>
          <p:nvPr/>
        </p:nvSpPr>
        <p:spPr>
          <a:xfrm>
            <a:off x="8321040" y="5440680"/>
            <a:ext cx="2971800" cy="411480"/>
          </a:xfrm>
          <a:prstGeom prst="rect">
            <a:avLst/>
          </a:prstGeom>
          <a:noFill/>
          <a:ln/>
        </p:spPr>
        <p:txBody>
          <a:bodyPr wrap="square" lIns="0" tIns="0" rIns="0" bIns="0" rtlCol="0" anchor="ctr"/>
          <a:lstStyle/>
          <a:p>
            <a:pPr indent="0" marL="0">
              <a:buNone/>
            </a:pPr>
            <a:r>
              <a:rPr lang="en-US" sz="1400" b="1" i="1" dirty="0">
                <a:solidFill>
                  <a:schemeClr val="accent4"/>
                </a:solidFill>
              </a:rPr>
              <a:t>Best for: alag brand, apna domain</a:t>
            </a:r>
            <a:endParaRPr lang="en-US" sz="1400" dirty="0"/>
          </a:p>
        </p:txBody>
      </p:sp>
      <p:sp>
        <p:nvSpPr>
          <p:cNvPr id="25" name="Back to the menu button"/>
          <p:cNvSpPr txBox="1"/>
          <p:nvPr/>
        </p:nvSpPr>
        <p:spPr>
          <a:xfrm>
            <a:off x="9646920" y="6336792"/>
            <a:ext cx="128016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  Menu</a:t>
            </a:r>
            <a:endParaRPr lang="en-US" sz="1100" dirty="0"/>
          </a:p>
        </p:txBody>
      </p:sp>
      <p:sp>
        <p:nvSpPr>
          <p:cNvPr id="26" name="Link: Back to the menu">
            <a:hlinkClick r:id="rId4"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Arial" pitchFamily="34" charset="0"/>
                <a:ea typeface="Arial" pitchFamily="34" charset="-122"/>
                <a:cs typeface="Arial" pitchFamily="34" charset="-120"/>
              </a:rPr>
              <a:t>File structure: files ek, tables anek</a:t>
            </a:r>
            <a:endParaRPr lang="en-US" sz="3400" dirty="0"/>
          </a:p>
        </p:txBody>
      </p:sp>
      <p:sp>
        <p:nvSpPr>
          <p:cNvPr id="3" name="Single Site tree"/>
          <p:cNvSpPr/>
          <p:nvPr/>
        </p:nvSpPr>
        <p:spPr>
          <a:xfrm>
            <a:off x="548640" y="1325880"/>
            <a:ext cx="4343400" cy="4800600"/>
          </a:xfrm>
          <a:prstGeom prst="roundRect">
            <a:avLst>
              <a:gd name="adj" fmla="val 3789"/>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4" name="Text 2"/>
          <p:cNvSpPr txBox="1"/>
          <p:nvPr/>
        </p:nvSpPr>
        <p:spPr>
          <a:xfrm>
            <a:off x="822960" y="1463040"/>
            <a:ext cx="3794760" cy="457200"/>
          </a:xfrm>
          <a:prstGeom prst="rect">
            <a:avLst/>
          </a:prstGeom>
          <a:noFill/>
          <a:ln/>
        </p:spPr>
        <p:txBody>
          <a:bodyPr wrap="square" lIns="0" tIns="0" rIns="0" bIns="0" rtlCol="0" anchor="ctr"/>
          <a:lstStyle/>
          <a:p>
            <a:pPr indent="0" marL="0">
              <a:buNone/>
            </a:pPr>
            <a:r>
              <a:rPr lang="en-US" sz="2000" b="1" dirty="0">
                <a:solidFill>
                  <a:schemeClr val="accent3"/>
                </a:solidFill>
              </a:rPr>
              <a:t>Single Site</a:t>
            </a:r>
            <a:pPr indent="0" marL="0">
              <a:buNone/>
            </a:pPr>
            <a:r>
              <a:rPr lang="en-US" sz="1400" i="1" dirty="0">
                <a:solidFill>
                  <a:schemeClr val="accent5"/>
                </a:solidFill>
              </a:rPr>
              <a:t>   1BHK flat</a:t>
            </a:r>
            <a:endParaRPr lang="en-US" sz="2000" dirty="0"/>
          </a:p>
        </p:txBody>
      </p:sp>
      <p:sp>
        <p:nvSpPr>
          <p:cNvPr id="5" name="Single Site file tree"/>
          <p:cNvSpPr txBox="1"/>
          <p:nvPr/>
        </p:nvSpPr>
        <p:spPr>
          <a:xfrm>
            <a:off x="822960" y="2011680"/>
            <a:ext cx="3977640" cy="3429000"/>
          </a:xfrm>
          <a:prstGeom prst="rect">
            <a:avLst/>
          </a:prstGeom>
          <a:noFill/>
          <a:ln/>
        </p:spPr>
        <p:txBody>
          <a:bodyPr wrap="square" lIns="0" tIns="0" rIns="0" bIns="0" rtlCol="0" anchor="t"/>
          <a:lstStyle/>
          <a:p>
            <a:pPr indent="0" marL="0">
              <a:buNone/>
            </a:pPr>
            <a:r>
              <a:rPr lang="en-US" sz="1400" b="1" dirty="0">
                <a:solidFill>
                  <a:srgbClr val="0D2343"/>
                </a:solidFill>
                <a:latin typeface="Courier New" pitchFamily="34" charset="0"/>
                <a:ea typeface="Courier New" pitchFamily="34" charset="-122"/>
                <a:cs typeface="Courier New" pitchFamily="34" charset="-120"/>
              </a:rPr>
              <a:t>wordpress/</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 wp-config.php</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 .htaccess</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 wp-content/</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   ├─ plugins/</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   ├─ themes/</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   └─ uploads/2026/10/</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rgbClr val="0D2343"/>
                </a:solidFill>
                <a:latin typeface="Courier New" pitchFamily="34" charset="0"/>
                <a:ea typeface="Courier New" pitchFamily="34" charset="-122"/>
                <a:cs typeface="Courier New" pitchFamily="34" charset="-120"/>
              </a:rPr>
              <a:t>Database</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wp_posts   wp_postmeta</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wp_options wp_terms …</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wp_users   wp_usermeta</a:t>
            </a:r>
            <a:endParaRPr lang="en-US" sz="1400" dirty="0"/>
          </a:p>
        </p:txBody>
      </p:sp>
      <p:sp>
        <p:nvSpPr>
          <p:cNvPr id="6" name="Text 4"/>
          <p:cNvSpPr txBox="1"/>
          <p:nvPr/>
        </p:nvSpPr>
        <p:spPr>
          <a:xfrm>
            <a:off x="822960" y="5532120"/>
            <a:ext cx="3794760" cy="411480"/>
          </a:xfrm>
          <a:prstGeom prst="rect">
            <a:avLst/>
          </a:prstGeom>
          <a:noFill/>
          <a:ln/>
        </p:spPr>
        <p:txBody>
          <a:bodyPr wrap="square" lIns="0" tIns="0" rIns="0" bIns="0" rtlCol="0" anchor="ctr"/>
          <a:lstStyle/>
          <a:p>
            <a:pPr indent="0" marL="0">
              <a:buNone/>
            </a:pPr>
            <a:r>
              <a:rPr lang="en-US" sz="1500" b="1" i="1" dirty="0">
                <a:solidFill>
                  <a:schemeClr val="accent3"/>
                </a:solidFill>
              </a:rPr>
              <a:t>Sab kuch ek site ka. Simple, seedha.</a:t>
            </a:r>
            <a:endParaRPr lang="en-US" sz="1500" dirty="0"/>
          </a:p>
        </p:txBody>
      </p:sp>
      <p:sp>
        <p:nvSpPr>
          <p:cNvPr id="7" name="Multisite tree"/>
          <p:cNvSpPr/>
          <p:nvPr/>
        </p:nvSpPr>
        <p:spPr>
          <a:xfrm>
            <a:off x="5166360" y="1325880"/>
            <a:ext cx="4892040" cy="4800600"/>
          </a:xfrm>
          <a:prstGeom prst="roundRect">
            <a:avLst>
              <a:gd name="adj" fmla="val 3429"/>
            </a:avLst>
          </a:prstGeom>
          <a:solidFill>
            <a:schemeClr val="bg1"/>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8" name="Text 6"/>
          <p:cNvSpPr txBox="1"/>
          <p:nvPr/>
        </p:nvSpPr>
        <p:spPr>
          <a:xfrm>
            <a:off x="5440680" y="1463040"/>
            <a:ext cx="4343400" cy="457200"/>
          </a:xfrm>
          <a:prstGeom prst="rect">
            <a:avLst/>
          </a:prstGeom>
          <a:noFill/>
          <a:ln/>
        </p:spPr>
        <p:txBody>
          <a:bodyPr wrap="square" lIns="0" tIns="0" rIns="0" bIns="0" rtlCol="0" anchor="ctr"/>
          <a:lstStyle/>
          <a:p>
            <a:pPr indent="0" marL="0">
              <a:buNone/>
            </a:pPr>
            <a:r>
              <a:rPr lang="en-US" sz="2000" b="1" dirty="0">
                <a:solidFill>
                  <a:schemeClr val="accent1"/>
                </a:solidFill>
              </a:rPr>
              <a:t>Multisite</a:t>
            </a:r>
            <a:pPr indent="0" marL="0">
              <a:buNone/>
            </a:pPr>
            <a:r>
              <a:rPr lang="en-US" sz="1400" i="1" dirty="0">
                <a:solidFill>
                  <a:schemeClr val="accent5"/>
                </a:solidFill>
              </a:rPr>
              <a:t>   Poori haveli</a:t>
            </a:r>
            <a:endParaRPr lang="en-US" sz="2000" dirty="0"/>
          </a:p>
        </p:txBody>
      </p:sp>
      <p:sp>
        <p:nvSpPr>
          <p:cNvPr id="9" name="Multisite file tree"/>
          <p:cNvSpPr txBox="1"/>
          <p:nvPr/>
        </p:nvSpPr>
        <p:spPr>
          <a:xfrm>
            <a:off x="5440680" y="2011680"/>
            <a:ext cx="4526280" cy="3429000"/>
          </a:xfrm>
          <a:prstGeom prst="rect">
            <a:avLst/>
          </a:prstGeom>
          <a:noFill/>
          <a:ln/>
        </p:spPr>
        <p:txBody>
          <a:bodyPr wrap="square" lIns="0" tIns="0" rIns="0" bIns="0" rtlCol="0" anchor="t"/>
          <a:lstStyle/>
          <a:p>
            <a:pPr indent="0" marL="0">
              <a:buNone/>
            </a:pPr>
            <a:r>
              <a:rPr lang="en-US" sz="1400" b="1" dirty="0">
                <a:solidFill>
                  <a:srgbClr val="0D2343"/>
                </a:solidFill>
                <a:latin typeface="Courier New" pitchFamily="34" charset="0"/>
                <a:ea typeface="Courier New" pitchFamily="34" charset="-122"/>
                <a:cs typeface="Courier New" pitchFamily="34" charset="-120"/>
              </a:rPr>
              <a:t>wordpress/</a:t>
            </a:r>
            <a:endParaRPr lang="en-US" sz="1400" dirty="0"/>
          </a:p>
          <a:p>
            <a:pPr indent="0" marL="0">
              <a:buNone/>
            </a:pPr>
            <a:r>
              <a:rPr lang="en-US" sz="1400" dirty="0">
                <a:solidFill>
                  <a:srgbClr val="C33A19"/>
                </a:solidFill>
                <a:latin typeface="Courier New" pitchFamily="34" charset="0"/>
                <a:ea typeface="Courier New" pitchFamily="34" charset="-122"/>
                <a:cs typeface="Courier New" pitchFamily="34" charset="-120"/>
              </a:rPr>
              <a:t>├─ wp-config.php  ← + MULTISITE</a:t>
            </a:r>
            <a:endParaRPr lang="en-US" sz="1400" dirty="0"/>
          </a:p>
          <a:p>
            <a:pPr indent="0" marL="0">
              <a:buNone/>
            </a:pPr>
            <a:r>
              <a:rPr lang="en-US" sz="1400" dirty="0">
                <a:solidFill>
                  <a:srgbClr val="C33A19"/>
                </a:solidFill>
                <a:latin typeface="Courier New" pitchFamily="34" charset="0"/>
                <a:ea typeface="Courier New" pitchFamily="34" charset="-122"/>
                <a:cs typeface="Courier New" pitchFamily="34" charset="-120"/>
              </a:rPr>
              <a:t>├─ .htaccess      ← network rules</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 wp-content/</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   ├─ plugins/    ← sab ke liye</a:t>
            </a:r>
            <a:endParaRPr lang="en-US" sz="1400" dirty="0"/>
          </a:p>
          <a:p>
            <a:pPr indent="0" marL="0">
              <a:buNone/>
            </a:pPr>
            <a:r>
              <a:rPr lang="en-US" sz="1400" dirty="0">
                <a:solidFill>
                  <a:srgbClr val="C33A19"/>
                </a:solidFill>
                <a:latin typeface="Courier New" pitchFamily="34" charset="0"/>
                <a:ea typeface="Courier New" pitchFamily="34" charset="-122"/>
                <a:cs typeface="Courier New" pitchFamily="34" charset="-120"/>
              </a:rPr>
              <a:t>   ├─ mu-plugins/ ← network-wide</a:t>
            </a:r>
            <a:endParaRPr lang="en-US" sz="1400" dirty="0"/>
          </a:p>
          <a:p>
            <a:pPr indent="0" marL="0">
              <a:buNone/>
            </a:pPr>
            <a:r>
              <a:rPr lang="en-US" sz="1400" dirty="0">
                <a:solidFill>
                  <a:srgbClr val="C33A19"/>
                </a:solidFill>
                <a:latin typeface="Courier New" pitchFamily="34" charset="0"/>
                <a:ea typeface="Courier New" pitchFamily="34" charset="-122"/>
                <a:cs typeface="Courier New" pitchFamily="34" charset="-120"/>
              </a:rPr>
              <a:t>   ├─ sunrise.php ← optional</a:t>
            </a:r>
            <a:endParaRPr lang="en-US" sz="1400" dirty="0"/>
          </a:p>
          <a:p>
            <a:pPr indent="0" marL="0">
              <a:buNone/>
            </a:pPr>
            <a:r>
              <a:rPr lang="en-US" sz="1400" dirty="0">
                <a:solidFill>
                  <a:srgbClr val="C33A19"/>
                </a:solidFill>
                <a:latin typeface="Courier New" pitchFamily="34" charset="0"/>
                <a:ea typeface="Courier New" pitchFamily="34" charset="-122"/>
                <a:cs typeface="Courier New" pitchFamily="34" charset="-120"/>
              </a:rPr>
              <a:t>   └─ uploads/sites/2/2026/10/</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rgbClr val="0D2343"/>
                </a:solidFill>
                <a:latin typeface="Courier New" pitchFamily="34" charset="0"/>
                <a:ea typeface="Courier New" pitchFamily="34" charset="-122"/>
                <a:cs typeface="Courier New" pitchFamily="34" charset="-120"/>
              </a:rPr>
              <a:t>Database</a:t>
            </a:r>
            <a:endParaRPr lang="en-US" sz="1400" dirty="0"/>
          </a:p>
          <a:p>
            <a:pPr indent="0" marL="0">
              <a:buNone/>
            </a:pPr>
            <a:r>
              <a:rPr lang="en-US" sz="1400" dirty="0">
                <a:solidFill>
                  <a:srgbClr val="C33A19"/>
                </a:solidFill>
                <a:latin typeface="Courier New" pitchFamily="34" charset="0"/>
                <a:ea typeface="Courier New" pitchFamily="34" charset="-122"/>
                <a:cs typeface="Courier New" pitchFamily="34" charset="-120"/>
              </a:rPr>
              <a:t>wp_posts → wp_2_posts, wp_3_posts …</a:t>
            </a:r>
            <a:endParaRPr lang="en-US" sz="1400" dirty="0"/>
          </a:p>
          <a:p>
            <a:pPr indent="0" marL="0">
              <a:buNone/>
            </a:pPr>
            <a:r>
              <a:rPr lang="en-US" sz="1400" dirty="0">
                <a:solidFill>
                  <a:srgbClr val="C33A19"/>
                </a:solidFill>
                <a:latin typeface="Courier New" pitchFamily="34" charset="0"/>
                <a:ea typeface="Courier New" pitchFamily="34" charset="-122"/>
                <a:cs typeface="Courier New" pitchFamily="34" charset="-120"/>
              </a:rPr>
              <a:t>Global: wp_blogs wp_site wp_sitemeta</a:t>
            </a:r>
            <a:endParaRPr lang="en-US" sz="1400" dirty="0"/>
          </a:p>
          <a:p>
            <a:pPr indent="0" marL="0">
              <a:buNone/>
            </a:pPr>
            <a:r>
              <a:rPr lang="en-US" sz="1400" dirty="0">
                <a:solidFill>
                  <a:srgbClr val="C33A19"/>
                </a:solidFill>
                <a:latin typeface="Courier New" pitchFamily="34" charset="0"/>
                <a:ea typeface="Courier New" pitchFamily="34" charset="-122"/>
                <a:cs typeface="Courier New" pitchFamily="34" charset="-120"/>
              </a:rPr>
              <a:t>        wp_blogmeta wp_signups</a:t>
            </a:r>
            <a:endParaRPr lang="en-US" sz="1400" dirty="0"/>
          </a:p>
          <a:p>
            <a:pPr indent="0" marL="0">
              <a:buNone/>
            </a:pPr>
            <a:r>
              <a:rPr lang="en-US" sz="1400" dirty="0">
                <a:solidFill>
                  <a:srgbClr val="231F20"/>
                </a:solidFill>
                <a:latin typeface="Courier New" pitchFamily="34" charset="0"/>
                <a:ea typeface="Courier New" pitchFamily="34" charset="-122"/>
                <a:cs typeface="Courier New" pitchFamily="34" charset="-120"/>
              </a:rPr>
              <a:t>Shared: wp_users wp_usermeta</a:t>
            </a:r>
            <a:endParaRPr lang="en-US" sz="1400" dirty="0"/>
          </a:p>
        </p:txBody>
      </p:sp>
      <p:sp>
        <p:nvSpPr>
          <p:cNvPr id="10" name="Text 8"/>
          <p:cNvSpPr txBox="1"/>
          <p:nvPr/>
        </p:nvSpPr>
        <p:spPr>
          <a:xfrm>
            <a:off x="5440680" y="5532120"/>
            <a:ext cx="4343400" cy="411480"/>
          </a:xfrm>
          <a:prstGeom prst="rect">
            <a:avLst/>
          </a:prstGeom>
          <a:noFill/>
          <a:ln/>
        </p:spPr>
        <p:txBody>
          <a:bodyPr wrap="square" lIns="0" tIns="0" rIns="0" bIns="0" rtlCol="0" anchor="ctr"/>
          <a:lstStyle/>
          <a:p>
            <a:pPr indent="0" marL="0">
              <a:buNone/>
            </a:pPr>
            <a:r>
              <a:rPr lang="en-US" sz="1500" b="1" i="1" dirty="0">
                <a:solidFill>
                  <a:schemeClr val="accent1"/>
                </a:solidFill>
              </a:rPr>
              <a:t>Code shared, content alag-alag kamron mein.</a:t>
            </a:r>
            <a:endParaRPr lang="en-US" sz="1500" dirty="0"/>
          </a:p>
        </p:txBody>
      </p:sp>
      <p:sp>
        <p:nvSpPr>
          <p:cNvPr id="11" name="Legend"/>
          <p:cNvSpPr/>
          <p:nvPr/>
        </p:nvSpPr>
        <p:spPr>
          <a:xfrm>
            <a:off x="10287000" y="1325880"/>
            <a:ext cx="1371600" cy="4800600"/>
          </a:xfrm>
          <a:prstGeom prst="roundRect">
            <a:avLst>
              <a:gd name="adj" fmla="val 12000"/>
            </a:avLst>
          </a:prstGeom>
          <a:solidFill>
            <a:schemeClr val="tx2"/>
          </a:solidFill>
          <a:ln w="9525">
            <a:solidFill>
              <a:srgbClr val="EADFD6"/>
            </a:solidFill>
            <a:prstDash val="solid"/>
          </a:ln>
          <a:effectLst>
            <a:outerShdw sx="100000" sy="100000" kx="0" ky="0" algn="bl" rotWithShape="0" blurRad="152400" dist="38100" dir="5400000">
              <a:srgbClr val="3D2317">
                <a:alpha val="12000"/>
              </a:srgbClr>
            </a:outerShdw>
          </a:effectLst>
        </p:spPr>
      </p:sp>
      <p:sp>
        <p:nvSpPr>
          <p:cNvPr id="12" name="Text 10"/>
          <p:cNvSpPr txBox="1"/>
          <p:nvPr/>
        </p:nvSpPr>
        <p:spPr>
          <a:xfrm>
            <a:off x="10378440" y="1554480"/>
            <a:ext cx="1188720" cy="4389120"/>
          </a:xfrm>
          <a:prstGeom prst="rect">
            <a:avLst/>
          </a:prstGeom>
          <a:noFill/>
          <a:ln/>
        </p:spPr>
        <p:txBody>
          <a:bodyPr wrap="square" lIns="0" tIns="0" rIns="0" bIns="0" rtlCol="0" anchor="t"/>
          <a:lstStyle/>
          <a:p>
            <a:pPr indent="0" marL="0">
              <a:buNone/>
            </a:pPr>
            <a:r>
              <a:rPr lang="en-US" sz="1300" b="1" dirty="0">
                <a:solidFill>
                  <a:schemeClr val="accent2"/>
                </a:solidFill>
              </a:rPr>
              <a:t>Maroon</a:t>
            </a:r>
            <a:endParaRPr lang="en-US" sz="1300" dirty="0"/>
          </a:p>
          <a:p>
            <a:pPr indent="0" marL="0">
              <a:buNone/>
            </a:pPr>
            <a:r>
              <a:rPr lang="en-US" sz="1300" dirty="0">
                <a:solidFill>
                  <a:schemeClr val="bg1"/>
                </a:solidFill>
              </a:rPr>
              <a:t>= Multisite mein naya ya badla hua</a:t>
            </a:r>
            <a:endParaRPr lang="en-US" sz="1300" dirty="0"/>
          </a:p>
          <a:p>
            <a:pPr indent="0" marL="0">
              <a:buNone/>
            </a:pPr>
            <a:r>
              <a:rPr lang="en-US" sz="1300" dirty="0">
                <a:solidFill>
                  <a:srgbClr val="000000"/>
                </a:solidFill>
              </a:rPr>
              <a:t> </a:t>
            </a:r>
            <a:endParaRPr lang="en-US" sz="1300" dirty="0"/>
          </a:p>
          <a:p>
            <a:pPr indent="0" marL="0">
              <a:buNone/>
            </a:pPr>
            <a:r>
              <a:rPr lang="en-US" sz="2800" b="1" dirty="0">
                <a:solidFill>
                  <a:schemeClr val="accent2"/>
                </a:solidFill>
              </a:rPr>
              <a:t>~10</a:t>
            </a:r>
            <a:endParaRPr lang="en-US" sz="1300" dirty="0"/>
          </a:p>
          <a:p>
            <a:pPr indent="0" marL="0">
              <a:buNone/>
            </a:pPr>
            <a:r>
              <a:rPr lang="en-US" sz="1300" dirty="0">
                <a:solidFill>
                  <a:schemeClr val="bg1"/>
                </a:solidFill>
              </a:rPr>
              <a:t>nayi tables har nayi site pe</a:t>
            </a:r>
            <a:endParaRPr lang="en-US" sz="1300" dirty="0"/>
          </a:p>
        </p:txBody>
      </p:sp>
      <p:sp>
        <p:nvSpPr>
          <p:cNvPr id="13" name="Back to the menu button"/>
          <p:cNvSpPr txBox="1"/>
          <p:nvPr/>
        </p:nvSpPr>
        <p:spPr>
          <a:xfrm>
            <a:off x="9646920" y="6336792"/>
            <a:ext cx="128016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  Menu</a:t>
            </a:r>
            <a:endParaRPr lang="en-US" sz="1100" dirty="0"/>
          </a:p>
        </p:txBody>
      </p:sp>
      <p:sp>
        <p:nvSpPr>
          <p:cNvPr id="14" name="Link: Back to the menu">
            <a:hlinkClick r:id="rId1"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Arial" pitchFamily="34" charset="0"/>
                <a:ea typeface="Arial" pitchFamily="34" charset="-122"/>
                <a:cs typeface="Arial" pitchFamily="34" charset="-120"/>
              </a:rPr>
              <a:t>Dard aur Dawa #1: performance &amp; scale</a:t>
            </a:r>
            <a:endParaRPr lang="en-US" sz="3400" dirty="0"/>
          </a:p>
        </p:txBody>
      </p:sp>
      <p:sp>
        <p:nvSpPr>
          <p:cNvPr id="3" name="Text 1"/>
          <p:cNvSpPr txBox="1"/>
          <p:nvPr/>
        </p:nvSpPr>
        <p:spPr>
          <a:xfrm>
            <a:off x="548640" y="1097280"/>
            <a:ext cx="9601200" cy="365760"/>
          </a:xfrm>
          <a:prstGeom prst="rect">
            <a:avLst/>
          </a:prstGeom>
          <a:noFill/>
          <a:ln/>
        </p:spPr>
        <p:txBody>
          <a:bodyPr wrap="square" lIns="0" tIns="0" rIns="0" bIns="0" rtlCol="0" anchor="ctr"/>
          <a:lstStyle/>
          <a:p>
            <a:pPr indent="0" marL="0">
              <a:buNone/>
            </a:pPr>
            <a:r>
              <a:rPr lang="en-US" sz="1500" i="1" dirty="0">
                <a:solidFill>
                  <a:schemeClr val="accent5"/>
                </a:solidFill>
              </a:rPr>
              <a:t>Haveli badi ho to bijli ka bill bhi bada aata hai</a:t>
            </a:r>
            <a:endParaRPr lang="en-US" sz="1500" dirty="0"/>
          </a:p>
        </p:txBody>
      </p:sp>
      <p:sp>
        <p:nvSpPr>
          <p:cNvPr id="4" name="Text 2"/>
          <p:cNvSpPr txBox="1"/>
          <p:nvPr/>
        </p:nvSpPr>
        <p:spPr>
          <a:xfrm>
            <a:off x="1463040" y="1554480"/>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DARD (problem)</a:t>
            </a:r>
            <a:endParaRPr lang="en-US" sz="1200" dirty="0"/>
          </a:p>
        </p:txBody>
      </p:sp>
      <p:sp>
        <p:nvSpPr>
          <p:cNvPr id="5" name="Text 3"/>
          <p:cNvSpPr txBox="1"/>
          <p:nvPr/>
        </p:nvSpPr>
        <p:spPr>
          <a:xfrm>
            <a:off x="6537960" y="1554480"/>
            <a:ext cx="3657600" cy="274320"/>
          </a:xfrm>
          <a:prstGeom prst="rect">
            <a:avLst/>
          </a:prstGeom>
          <a:noFill/>
          <a:ln/>
        </p:spPr>
        <p:txBody>
          <a:bodyPr wrap="square" lIns="0" tIns="0" rIns="0" bIns="0" rtlCol="0" anchor="ctr"/>
          <a:lstStyle/>
          <a:p>
            <a:pPr indent="0" marL="0">
              <a:buNone/>
            </a:pPr>
            <a:r>
              <a:rPr lang="en-US" sz="1200" b="1" dirty="0">
                <a:solidFill>
                  <a:schemeClr val="accent3"/>
                </a:solidFill>
              </a:rPr>
              <a:t>DAWA (solution)</a:t>
            </a:r>
            <a:endParaRPr lang="en-US" sz="1200" dirty="0"/>
          </a:p>
        </p:txBody>
      </p:sp>
      <p:sp>
        <p:nvSpPr>
          <p:cNvPr id="6" name="Problem 1"/>
          <p:cNvSpPr/>
          <p:nvPr/>
        </p:nvSpPr>
        <p:spPr>
          <a:xfrm>
            <a:off x="548640" y="1920240"/>
            <a:ext cx="5120640" cy="941832"/>
          </a:xfrm>
          <a:prstGeom prst="roundRect">
            <a:avLst>
              <a:gd name="adj" fmla="val 13592"/>
            </a:avLst>
          </a:prstGeom>
          <a:solidFill>
            <a:srgbClr val="FBE5DF"/>
          </a:solidFill>
          <a:ln w="12700">
            <a:solidFill>
              <a:srgbClr val="FBE5DF"/>
            </a:solidFill>
            <a:prstDash val="solid"/>
          </a:ln>
        </p:spPr>
      </p:sp>
      <p:sp>
        <p:nvSpPr>
          <p:cNvPr id="7" name="Database bloat frame"/>
          <p:cNvSpPr/>
          <p:nvPr/>
        </p:nvSpPr>
        <p:spPr>
          <a:xfrm>
            <a:off x="685800" y="2066544"/>
            <a:ext cx="640080" cy="640080"/>
          </a:xfrm>
          <a:prstGeom prst="diamond">
            <a:avLst/>
          </a:prstGeom>
          <a:solidFill>
            <a:schemeClr val="accent1"/>
          </a:solidFill>
          <a:ln w="12700">
            <a:solidFill>
              <a:schemeClr val="accent1"/>
            </a:solidFill>
            <a:prstDash val="solid"/>
          </a:ln>
        </p:spPr>
      </p:sp>
      <p:pic>
        <p:nvPicPr>
          <p:cNvPr id="8" name="Database bloat icon" descr="Database bloat">    </p:cNvPr>
          <p:cNvPicPr>
            <a:picLocks noChangeAspect="1"/>
          </p:cNvPicPr>
          <p:nvPr/>
        </p:nvPicPr>
        <p:blipFill>
          <a:blip r:embed="rId1"/>
          <a:stretch>
            <a:fillRect/>
          </a:stretch>
        </p:blipFill>
        <p:spPr>
          <a:xfrm>
            <a:off x="871423" y="2252167"/>
            <a:ext cx="268834" cy="268834"/>
          </a:xfrm>
          <a:prstGeom prst="rect">
            <a:avLst/>
          </a:prstGeom>
        </p:spPr>
      </p:pic>
      <p:sp>
        <p:nvSpPr>
          <p:cNvPr id="9" name="Text 6"/>
          <p:cNvSpPr txBox="1"/>
          <p:nvPr/>
        </p:nvSpPr>
        <p:spPr>
          <a:xfrm>
            <a:off x="1463040" y="1965960"/>
            <a:ext cx="4114800" cy="850392"/>
          </a:xfrm>
          <a:prstGeom prst="rect">
            <a:avLst/>
          </a:prstGeom>
          <a:noFill/>
          <a:ln/>
        </p:spPr>
        <p:txBody>
          <a:bodyPr wrap="square" lIns="0" tIns="0" rIns="0" bIns="0" rtlCol="0" anchor="ctr"/>
          <a:lstStyle/>
          <a:p>
            <a:pPr indent="0" marL="0">
              <a:buNone/>
            </a:pPr>
            <a:r>
              <a:rPr lang="en-US" sz="1600" b="1" dirty="0">
                <a:solidFill>
                  <a:schemeClr val="tx2"/>
                </a:solidFill>
              </a:rPr>
              <a:t>Database bloat</a:t>
            </a:r>
            <a:endParaRPr lang="en-US" sz="1600" dirty="0"/>
          </a:p>
          <a:p>
            <a:pPr indent="0" marL="0">
              <a:buNone/>
            </a:pPr>
            <a:r>
              <a:rPr lang="en-US" sz="1400" dirty="0">
                <a:solidFill>
                  <a:schemeClr val="tx1"/>
                </a:solidFill>
              </a:rPr>
              <a:t>1,000 sites × ~10 tables = 10,000+ tables</a:t>
            </a:r>
            <a:endParaRPr lang="en-US" sz="1600" dirty="0"/>
          </a:p>
        </p:txBody>
      </p:sp>
      <p:pic>
        <p:nvPicPr>
          <p:cNvPr id="10" name="Arrow 1" descr="leads to">    </p:cNvPr>
          <p:cNvPicPr>
            <a:picLocks noChangeAspect="1"/>
          </p:cNvPicPr>
          <p:nvPr/>
        </p:nvPicPr>
        <p:blipFill>
          <a:blip r:embed="rId2"/>
          <a:stretch>
            <a:fillRect/>
          </a:stretch>
        </p:blipFill>
        <p:spPr>
          <a:xfrm>
            <a:off x="5852160" y="2221992"/>
            <a:ext cx="338328" cy="338328"/>
          </a:xfrm>
          <a:prstGeom prst="rect">
            <a:avLst/>
          </a:prstGeom>
        </p:spPr>
      </p:pic>
      <p:sp>
        <p:nvSpPr>
          <p:cNvPr id="11" name="Solution 1"/>
          <p:cNvSpPr/>
          <p:nvPr/>
        </p:nvSpPr>
        <p:spPr>
          <a:xfrm>
            <a:off x="6355080" y="1920240"/>
            <a:ext cx="5303520" cy="941832"/>
          </a:xfrm>
          <a:prstGeom prst="roundRect">
            <a:avLst>
              <a:gd name="adj" fmla="val 13592"/>
            </a:avLst>
          </a:prstGeom>
          <a:solidFill>
            <a:srgbClr val="DDF1EF"/>
          </a:solidFill>
          <a:ln w="12700">
            <a:solidFill>
              <a:srgbClr val="DDF1EF"/>
            </a:solidFill>
            <a:prstDash val="solid"/>
          </a:ln>
        </p:spPr>
      </p:sp>
      <p:sp>
        <p:nvSpPr>
          <p:cNvPr id="12" name="Text 8"/>
          <p:cNvSpPr txBox="1"/>
          <p:nvPr/>
        </p:nvSpPr>
        <p:spPr>
          <a:xfrm>
            <a:off x="6537960" y="1965960"/>
            <a:ext cx="5029200" cy="850392"/>
          </a:xfrm>
          <a:prstGeom prst="rect">
            <a:avLst/>
          </a:prstGeom>
          <a:noFill/>
          <a:ln/>
        </p:spPr>
        <p:txBody>
          <a:bodyPr wrap="square" lIns="0" tIns="0" rIns="0" bIns="0" rtlCol="0" anchor="ctr"/>
          <a:lstStyle/>
          <a:p>
            <a:pPr indent="0" marL="0">
              <a:buNone/>
            </a:pPr>
            <a:r>
              <a:rPr lang="en-US" sz="1600" b="1" dirty="0">
                <a:solidFill>
                  <a:schemeClr val="accent3"/>
                </a:solidFill>
              </a:rPr>
              <a:t>Object cache + DB sharding</a:t>
            </a:r>
            <a:endParaRPr lang="en-US" sz="1600" dirty="0"/>
          </a:p>
          <a:p>
            <a:pPr indent="0" marL="0">
              <a:buNone/>
            </a:pPr>
            <a:r>
              <a:rPr lang="en-US" sz="1400" dirty="0">
                <a:solidFill>
                  <a:schemeClr val="tx1"/>
                </a:solidFill>
              </a:rPr>
              <a:t>Redis/Memcached; HyperDB ya LudicrousDB se DB split</a:t>
            </a:r>
            <a:endParaRPr lang="en-US" sz="1600" dirty="0"/>
          </a:p>
        </p:txBody>
      </p:sp>
      <p:sp>
        <p:nvSpPr>
          <p:cNvPr id="13" name="Problem 2"/>
          <p:cNvSpPr/>
          <p:nvPr/>
        </p:nvSpPr>
        <p:spPr>
          <a:xfrm>
            <a:off x="548640" y="2999232"/>
            <a:ext cx="5120640" cy="941832"/>
          </a:xfrm>
          <a:prstGeom prst="roundRect">
            <a:avLst>
              <a:gd name="adj" fmla="val 13592"/>
            </a:avLst>
          </a:prstGeom>
          <a:solidFill>
            <a:srgbClr val="FBE5DF"/>
          </a:solidFill>
          <a:ln w="12700">
            <a:solidFill>
              <a:srgbClr val="FBE5DF"/>
            </a:solidFill>
            <a:prstDash val="solid"/>
          </a:ln>
        </p:spPr>
      </p:sp>
      <p:sp>
        <p:nvSpPr>
          <p:cNvPr id="14" name="Ek plugin, poora network down frame"/>
          <p:cNvSpPr/>
          <p:nvPr/>
        </p:nvSpPr>
        <p:spPr>
          <a:xfrm>
            <a:off x="685800" y="3145536"/>
            <a:ext cx="640080" cy="640080"/>
          </a:xfrm>
          <a:prstGeom prst="diamond">
            <a:avLst/>
          </a:prstGeom>
          <a:solidFill>
            <a:schemeClr val="accent1"/>
          </a:solidFill>
          <a:ln w="12700">
            <a:solidFill>
              <a:schemeClr val="accent1"/>
            </a:solidFill>
            <a:prstDash val="solid"/>
          </a:ln>
        </p:spPr>
      </p:sp>
      <p:pic>
        <p:nvPicPr>
          <p:cNvPr id="15" name="Ek plugin, poora network down icon" descr="Ek plugin, poora network down">    </p:cNvPr>
          <p:cNvPicPr>
            <a:picLocks noChangeAspect="1"/>
          </p:cNvPicPr>
          <p:nvPr/>
        </p:nvPicPr>
        <p:blipFill>
          <a:blip r:embed="rId3"/>
          <a:stretch>
            <a:fillRect/>
          </a:stretch>
        </p:blipFill>
        <p:spPr>
          <a:xfrm>
            <a:off x="871423" y="3331159"/>
            <a:ext cx="268834" cy="268834"/>
          </a:xfrm>
          <a:prstGeom prst="rect">
            <a:avLst/>
          </a:prstGeom>
        </p:spPr>
      </p:pic>
      <p:sp>
        <p:nvSpPr>
          <p:cNvPr id="16" name="Text 11"/>
          <p:cNvSpPr txBox="1"/>
          <p:nvPr/>
        </p:nvSpPr>
        <p:spPr>
          <a:xfrm>
            <a:off x="1463040" y="3044952"/>
            <a:ext cx="4114800" cy="850392"/>
          </a:xfrm>
          <a:prstGeom prst="rect">
            <a:avLst/>
          </a:prstGeom>
          <a:noFill/>
          <a:ln/>
        </p:spPr>
        <p:txBody>
          <a:bodyPr wrap="square" lIns="0" tIns="0" rIns="0" bIns="0" rtlCol="0" anchor="ctr"/>
          <a:lstStyle/>
          <a:p>
            <a:pPr indent="0" marL="0">
              <a:buNone/>
            </a:pPr>
            <a:r>
              <a:rPr lang="en-US" sz="1600" b="1" dirty="0">
                <a:solidFill>
                  <a:schemeClr val="tx2"/>
                </a:solidFill>
              </a:rPr>
              <a:t>Ek plugin, poora network down</a:t>
            </a:r>
            <a:endParaRPr lang="en-US" sz="1600" dirty="0"/>
          </a:p>
          <a:p>
            <a:pPr indent="0" marL="0">
              <a:buNone/>
            </a:pPr>
            <a:r>
              <a:rPr lang="en-US" sz="1400" dirty="0">
                <a:solidFill>
                  <a:schemeClr val="tx1"/>
                </a:solidFill>
              </a:rPr>
              <a:t>Network-activate kiya, sab sites ka jhatka</a:t>
            </a:r>
            <a:endParaRPr lang="en-US" sz="1600" dirty="0"/>
          </a:p>
        </p:txBody>
      </p:sp>
      <p:pic>
        <p:nvPicPr>
          <p:cNvPr id="17" name="Arrow 2" descr="leads to">    </p:cNvPr>
          <p:cNvPicPr>
            <a:picLocks noChangeAspect="1"/>
          </p:cNvPicPr>
          <p:nvPr/>
        </p:nvPicPr>
        <p:blipFill>
          <a:blip r:embed="rId4"/>
          <a:stretch>
            <a:fillRect/>
          </a:stretch>
        </p:blipFill>
        <p:spPr>
          <a:xfrm>
            <a:off x="5852160" y="3300984"/>
            <a:ext cx="338328" cy="338328"/>
          </a:xfrm>
          <a:prstGeom prst="rect">
            <a:avLst/>
          </a:prstGeom>
        </p:spPr>
      </p:pic>
      <p:sp>
        <p:nvSpPr>
          <p:cNvPr id="18" name="Solution 2"/>
          <p:cNvSpPr/>
          <p:nvPr/>
        </p:nvSpPr>
        <p:spPr>
          <a:xfrm>
            <a:off x="6355080" y="2999232"/>
            <a:ext cx="5303520" cy="941832"/>
          </a:xfrm>
          <a:prstGeom prst="roundRect">
            <a:avLst>
              <a:gd name="adj" fmla="val 13592"/>
            </a:avLst>
          </a:prstGeom>
          <a:solidFill>
            <a:srgbClr val="DDF1EF"/>
          </a:solidFill>
          <a:ln w="12700">
            <a:solidFill>
              <a:srgbClr val="DDF1EF"/>
            </a:solidFill>
            <a:prstDash val="solid"/>
          </a:ln>
        </p:spPr>
      </p:sp>
      <p:sp>
        <p:nvSpPr>
          <p:cNvPr id="19" name="Text 13"/>
          <p:cNvSpPr txBox="1"/>
          <p:nvPr/>
        </p:nvSpPr>
        <p:spPr>
          <a:xfrm>
            <a:off x="6537960" y="3044952"/>
            <a:ext cx="5029200" cy="850392"/>
          </a:xfrm>
          <a:prstGeom prst="rect">
            <a:avLst/>
          </a:prstGeom>
          <a:noFill/>
          <a:ln/>
        </p:spPr>
        <p:txBody>
          <a:bodyPr wrap="square" lIns="0" tIns="0" rIns="0" bIns="0" rtlCol="0" anchor="ctr"/>
          <a:lstStyle/>
          <a:p>
            <a:pPr indent="0" marL="0">
              <a:buNone/>
            </a:pPr>
            <a:r>
              <a:rPr lang="en-US" sz="1600" b="1" dirty="0">
                <a:solidFill>
                  <a:schemeClr val="accent3"/>
                </a:solidFill>
              </a:rPr>
              <a:t>Staging + plugin governance</a:t>
            </a:r>
            <a:endParaRPr lang="en-US" sz="1600" dirty="0"/>
          </a:p>
          <a:p>
            <a:pPr indent="0" marL="0">
              <a:buNone/>
            </a:pPr>
            <a:r>
              <a:rPr lang="en-US" sz="1400" dirty="0">
                <a:solidFill>
                  <a:schemeClr val="tx1"/>
                </a:solidFill>
              </a:rPr>
              <a:t>Pehle staging network, approved list, rollback plan</a:t>
            </a:r>
            <a:endParaRPr lang="en-US" sz="1600" dirty="0"/>
          </a:p>
        </p:txBody>
      </p:sp>
      <p:sp>
        <p:nvSpPr>
          <p:cNvPr id="20" name="Problem 3"/>
          <p:cNvSpPr/>
          <p:nvPr/>
        </p:nvSpPr>
        <p:spPr>
          <a:xfrm>
            <a:off x="548640" y="4078224"/>
            <a:ext cx="5120640" cy="941832"/>
          </a:xfrm>
          <a:prstGeom prst="roundRect">
            <a:avLst>
              <a:gd name="adj" fmla="val 13592"/>
            </a:avLst>
          </a:prstGeom>
          <a:solidFill>
            <a:srgbClr val="FBE5DF"/>
          </a:solidFill>
          <a:ln w="12700">
            <a:solidFill>
              <a:srgbClr val="FBE5DF"/>
            </a:solidFill>
            <a:prstDash val="solid"/>
          </a:ln>
        </p:spPr>
      </p:sp>
      <p:sp>
        <p:nvSpPr>
          <p:cNvPr id="21" name="WP-Cron ki laziness frame"/>
          <p:cNvSpPr/>
          <p:nvPr/>
        </p:nvSpPr>
        <p:spPr>
          <a:xfrm>
            <a:off x="685800" y="4224528"/>
            <a:ext cx="640080" cy="640080"/>
          </a:xfrm>
          <a:prstGeom prst="diamond">
            <a:avLst/>
          </a:prstGeom>
          <a:solidFill>
            <a:schemeClr val="accent1"/>
          </a:solidFill>
          <a:ln w="12700">
            <a:solidFill>
              <a:schemeClr val="accent1"/>
            </a:solidFill>
            <a:prstDash val="solid"/>
          </a:ln>
        </p:spPr>
      </p:sp>
      <p:pic>
        <p:nvPicPr>
          <p:cNvPr id="22" name="WP-Cron ki laziness icon" descr="WP-Cron ki laziness">    </p:cNvPr>
          <p:cNvPicPr>
            <a:picLocks noChangeAspect="1"/>
          </p:cNvPicPr>
          <p:nvPr/>
        </p:nvPicPr>
        <p:blipFill>
          <a:blip r:embed="rId5"/>
          <a:stretch>
            <a:fillRect/>
          </a:stretch>
        </p:blipFill>
        <p:spPr>
          <a:xfrm>
            <a:off x="871423" y="4410151"/>
            <a:ext cx="268834" cy="268834"/>
          </a:xfrm>
          <a:prstGeom prst="rect">
            <a:avLst/>
          </a:prstGeom>
        </p:spPr>
      </p:pic>
      <p:sp>
        <p:nvSpPr>
          <p:cNvPr id="23" name="Text 16"/>
          <p:cNvSpPr txBox="1"/>
          <p:nvPr/>
        </p:nvSpPr>
        <p:spPr>
          <a:xfrm>
            <a:off x="1463040" y="4123944"/>
            <a:ext cx="4114800" cy="850392"/>
          </a:xfrm>
          <a:prstGeom prst="rect">
            <a:avLst/>
          </a:prstGeom>
          <a:noFill/>
          <a:ln/>
        </p:spPr>
        <p:txBody>
          <a:bodyPr wrap="square" lIns="0" tIns="0" rIns="0" bIns="0" rtlCol="0" anchor="ctr"/>
          <a:lstStyle/>
          <a:p>
            <a:pPr indent="0" marL="0">
              <a:buNone/>
            </a:pPr>
            <a:r>
              <a:rPr lang="en-US" sz="1600" b="1" dirty="0">
                <a:solidFill>
                  <a:schemeClr val="tx2"/>
                </a:solidFill>
              </a:rPr>
              <a:t>WP-Cron ki laziness</a:t>
            </a:r>
            <a:endParaRPr lang="en-US" sz="1600" dirty="0"/>
          </a:p>
          <a:p>
            <a:pPr indent="0" marL="0">
              <a:buNone/>
            </a:pPr>
            <a:r>
              <a:rPr lang="en-US" sz="1400" dirty="0">
                <a:solidFill>
                  <a:schemeClr val="tx1"/>
                </a:solidFill>
              </a:rPr>
              <a:t>Cron sirf visit pe chalta hai, so rahi sites miss</a:t>
            </a:r>
            <a:endParaRPr lang="en-US" sz="1600" dirty="0"/>
          </a:p>
        </p:txBody>
      </p:sp>
      <p:pic>
        <p:nvPicPr>
          <p:cNvPr id="24" name="Arrow 3" descr="leads to">    </p:cNvPr>
          <p:cNvPicPr>
            <a:picLocks noChangeAspect="1"/>
          </p:cNvPicPr>
          <p:nvPr/>
        </p:nvPicPr>
        <p:blipFill>
          <a:blip r:embed="rId6"/>
          <a:stretch>
            <a:fillRect/>
          </a:stretch>
        </p:blipFill>
        <p:spPr>
          <a:xfrm>
            <a:off x="5852160" y="4379976"/>
            <a:ext cx="338328" cy="338328"/>
          </a:xfrm>
          <a:prstGeom prst="rect">
            <a:avLst/>
          </a:prstGeom>
        </p:spPr>
      </p:pic>
      <p:sp>
        <p:nvSpPr>
          <p:cNvPr id="25" name="Solution 3"/>
          <p:cNvSpPr/>
          <p:nvPr/>
        </p:nvSpPr>
        <p:spPr>
          <a:xfrm>
            <a:off x="6355080" y="4078224"/>
            <a:ext cx="5303520" cy="941832"/>
          </a:xfrm>
          <a:prstGeom prst="roundRect">
            <a:avLst>
              <a:gd name="adj" fmla="val 13592"/>
            </a:avLst>
          </a:prstGeom>
          <a:solidFill>
            <a:srgbClr val="DDF1EF"/>
          </a:solidFill>
          <a:ln w="12700">
            <a:solidFill>
              <a:srgbClr val="DDF1EF"/>
            </a:solidFill>
            <a:prstDash val="solid"/>
          </a:ln>
        </p:spPr>
      </p:sp>
      <p:sp>
        <p:nvSpPr>
          <p:cNvPr id="26" name="Text 18"/>
          <p:cNvSpPr txBox="1"/>
          <p:nvPr/>
        </p:nvSpPr>
        <p:spPr>
          <a:xfrm>
            <a:off x="6537960" y="4123944"/>
            <a:ext cx="5029200" cy="850392"/>
          </a:xfrm>
          <a:prstGeom prst="rect">
            <a:avLst/>
          </a:prstGeom>
          <a:noFill/>
          <a:ln/>
        </p:spPr>
        <p:txBody>
          <a:bodyPr wrap="square" lIns="0" tIns="0" rIns="0" bIns="0" rtlCol="0" anchor="ctr"/>
          <a:lstStyle/>
          <a:p>
            <a:pPr indent="0" marL="0">
              <a:buNone/>
            </a:pPr>
            <a:r>
              <a:rPr lang="en-US" sz="1600" b="1" dirty="0">
                <a:solidFill>
                  <a:schemeClr val="accent3"/>
                </a:solidFill>
              </a:rPr>
              <a:t>Real server cron</a:t>
            </a:r>
            <a:endParaRPr lang="en-US" sz="1600" dirty="0"/>
          </a:p>
          <a:p>
            <a:pPr indent="0" marL="0">
              <a:buNone/>
            </a:pPr>
            <a:r>
              <a:rPr lang="en-US" sz="1400" dirty="0">
                <a:solidFill>
                  <a:schemeClr val="tx1"/>
                </a:solidFill>
              </a:rPr>
              <a:t>DISABLE_WP_CRON + har site pe wp cron event run --due-now</a:t>
            </a:r>
            <a:endParaRPr lang="en-US" sz="1600" dirty="0"/>
          </a:p>
        </p:txBody>
      </p:sp>
      <p:sp>
        <p:nvSpPr>
          <p:cNvPr id="27" name="Problem 4"/>
          <p:cNvSpPr/>
          <p:nvPr/>
        </p:nvSpPr>
        <p:spPr>
          <a:xfrm>
            <a:off x="548640" y="5157216"/>
            <a:ext cx="5120640" cy="941832"/>
          </a:xfrm>
          <a:prstGeom prst="roundRect">
            <a:avLst>
              <a:gd name="adj" fmla="val 13592"/>
            </a:avLst>
          </a:prstGeom>
          <a:solidFill>
            <a:srgbClr val="FBE5DF"/>
          </a:solidFill>
          <a:ln w="12700">
            <a:solidFill>
              <a:srgbClr val="FBE5DF"/>
            </a:solidFill>
            <a:prstDash val="solid"/>
          </a:ln>
        </p:spPr>
      </p:sp>
      <p:sp>
        <p:nvSpPr>
          <p:cNvPr id="28" name="Uploads ka pahaad frame"/>
          <p:cNvSpPr/>
          <p:nvPr/>
        </p:nvSpPr>
        <p:spPr>
          <a:xfrm>
            <a:off x="685800" y="5303520"/>
            <a:ext cx="640080" cy="640080"/>
          </a:xfrm>
          <a:prstGeom prst="diamond">
            <a:avLst/>
          </a:prstGeom>
          <a:solidFill>
            <a:schemeClr val="accent1"/>
          </a:solidFill>
          <a:ln w="12700">
            <a:solidFill>
              <a:schemeClr val="accent1"/>
            </a:solidFill>
            <a:prstDash val="solid"/>
          </a:ln>
        </p:spPr>
      </p:sp>
      <p:pic>
        <p:nvPicPr>
          <p:cNvPr id="29" name="Uploads ka pahaad icon" descr="Uploads ka pahaad">    </p:cNvPr>
          <p:cNvPicPr>
            <a:picLocks noChangeAspect="1"/>
          </p:cNvPicPr>
          <p:nvPr/>
        </p:nvPicPr>
        <p:blipFill>
          <a:blip r:embed="rId7"/>
          <a:stretch>
            <a:fillRect/>
          </a:stretch>
        </p:blipFill>
        <p:spPr>
          <a:xfrm>
            <a:off x="871423" y="5489143"/>
            <a:ext cx="268834" cy="268834"/>
          </a:xfrm>
          <a:prstGeom prst="rect">
            <a:avLst/>
          </a:prstGeom>
        </p:spPr>
      </p:pic>
      <p:sp>
        <p:nvSpPr>
          <p:cNvPr id="30" name="Text 21"/>
          <p:cNvSpPr txBox="1"/>
          <p:nvPr/>
        </p:nvSpPr>
        <p:spPr>
          <a:xfrm>
            <a:off x="1463040" y="5202936"/>
            <a:ext cx="4114800" cy="850392"/>
          </a:xfrm>
          <a:prstGeom prst="rect">
            <a:avLst/>
          </a:prstGeom>
          <a:noFill/>
          <a:ln/>
        </p:spPr>
        <p:txBody>
          <a:bodyPr wrap="square" lIns="0" tIns="0" rIns="0" bIns="0" rtlCol="0" anchor="ctr"/>
          <a:lstStyle/>
          <a:p>
            <a:pPr indent="0" marL="0">
              <a:buNone/>
            </a:pPr>
            <a:r>
              <a:rPr lang="en-US" sz="1600" b="1" dirty="0">
                <a:solidFill>
                  <a:schemeClr val="tx2"/>
                </a:solidFill>
              </a:rPr>
              <a:t>Uploads ka pahaad</a:t>
            </a:r>
            <a:endParaRPr lang="en-US" sz="1600" dirty="0"/>
          </a:p>
          <a:p>
            <a:pPr indent="0" marL="0">
              <a:buNone/>
            </a:pPr>
            <a:r>
              <a:rPr lang="en-US" sz="1400" dirty="0">
                <a:solidFill>
                  <a:schemeClr val="tx1"/>
                </a:solidFill>
              </a:rPr>
              <a:t>uploads/sites/* chupchaap TBs tak pahunch jaata hai</a:t>
            </a:r>
            <a:endParaRPr lang="en-US" sz="1600" dirty="0"/>
          </a:p>
        </p:txBody>
      </p:sp>
      <p:pic>
        <p:nvPicPr>
          <p:cNvPr id="31" name="Arrow 4" descr="leads to">    </p:cNvPr>
          <p:cNvPicPr>
            <a:picLocks noChangeAspect="1"/>
          </p:cNvPicPr>
          <p:nvPr/>
        </p:nvPicPr>
        <p:blipFill>
          <a:blip r:embed="rId8"/>
          <a:stretch>
            <a:fillRect/>
          </a:stretch>
        </p:blipFill>
        <p:spPr>
          <a:xfrm>
            <a:off x="5852160" y="5458968"/>
            <a:ext cx="338328" cy="338328"/>
          </a:xfrm>
          <a:prstGeom prst="rect">
            <a:avLst/>
          </a:prstGeom>
        </p:spPr>
      </p:pic>
      <p:sp>
        <p:nvSpPr>
          <p:cNvPr id="32" name="Solution 4"/>
          <p:cNvSpPr/>
          <p:nvPr/>
        </p:nvSpPr>
        <p:spPr>
          <a:xfrm>
            <a:off x="6355080" y="5157216"/>
            <a:ext cx="5303520" cy="941832"/>
          </a:xfrm>
          <a:prstGeom prst="roundRect">
            <a:avLst>
              <a:gd name="adj" fmla="val 13592"/>
            </a:avLst>
          </a:prstGeom>
          <a:solidFill>
            <a:srgbClr val="DDF1EF"/>
          </a:solidFill>
          <a:ln w="12700">
            <a:solidFill>
              <a:srgbClr val="DDF1EF"/>
            </a:solidFill>
            <a:prstDash val="solid"/>
          </a:ln>
        </p:spPr>
      </p:sp>
      <p:sp>
        <p:nvSpPr>
          <p:cNvPr id="33" name="Text 23"/>
          <p:cNvSpPr txBox="1"/>
          <p:nvPr/>
        </p:nvSpPr>
        <p:spPr>
          <a:xfrm>
            <a:off x="6537960" y="5202936"/>
            <a:ext cx="5029200" cy="850392"/>
          </a:xfrm>
          <a:prstGeom prst="rect">
            <a:avLst/>
          </a:prstGeom>
          <a:noFill/>
          <a:ln/>
        </p:spPr>
        <p:txBody>
          <a:bodyPr wrap="square" lIns="0" tIns="0" rIns="0" bIns="0" rtlCol="0" anchor="ctr"/>
          <a:lstStyle/>
          <a:p>
            <a:pPr indent="0" marL="0">
              <a:buNone/>
            </a:pPr>
            <a:r>
              <a:rPr lang="en-US" sz="1600" b="1" dirty="0">
                <a:solidFill>
                  <a:schemeClr val="accent3"/>
                </a:solidFill>
              </a:rPr>
              <a:t>Offload + quotas</a:t>
            </a:r>
            <a:endParaRPr lang="en-US" sz="1600" dirty="0"/>
          </a:p>
          <a:p>
            <a:pPr indent="0" marL="0">
              <a:buNone/>
            </a:pPr>
            <a:r>
              <a:rPr lang="en-US" sz="1400" dirty="0">
                <a:solidFill>
                  <a:schemeClr val="tx1"/>
                </a:solidFill>
              </a:rPr>
              <a:t>Media S3/CDN pe; Network Settings mein upload space limit</a:t>
            </a:r>
            <a:endParaRPr lang="en-US" sz="1600" dirty="0"/>
          </a:p>
        </p:txBody>
      </p:sp>
      <p:sp>
        <p:nvSpPr>
          <p:cNvPr id="34" name="Back to the menu button"/>
          <p:cNvSpPr txBox="1"/>
          <p:nvPr/>
        </p:nvSpPr>
        <p:spPr>
          <a:xfrm>
            <a:off x="9646920" y="6336792"/>
            <a:ext cx="128016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  Menu</a:t>
            </a:r>
            <a:endParaRPr lang="en-US" sz="1100" dirty="0"/>
          </a:p>
        </p:txBody>
      </p:sp>
      <p:sp>
        <p:nvSpPr>
          <p:cNvPr id="35" name="Link: Back to the menu">
            <a:hlinkClick r:id="rId9"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Arial" pitchFamily="34" charset="0"/>
                <a:ea typeface="Arial" pitchFamily="34" charset="-122"/>
                <a:cs typeface="Arial" pitchFamily="34" charset="-120"/>
              </a:rPr>
              <a:t>Dard aur Dawa #2: operations &amp; people</a:t>
            </a:r>
            <a:endParaRPr lang="en-US" sz="3400" dirty="0"/>
          </a:p>
        </p:txBody>
      </p:sp>
      <p:sp>
        <p:nvSpPr>
          <p:cNvPr id="3" name="Text 1"/>
          <p:cNvSpPr txBox="1"/>
          <p:nvPr/>
        </p:nvSpPr>
        <p:spPr>
          <a:xfrm>
            <a:off x="548640" y="1097280"/>
            <a:ext cx="9601200" cy="365760"/>
          </a:xfrm>
          <a:prstGeom prst="rect">
            <a:avLst/>
          </a:prstGeom>
          <a:noFill/>
          <a:ln/>
        </p:spPr>
        <p:txBody>
          <a:bodyPr wrap="square" lIns="0" tIns="0" rIns="0" bIns="0" rtlCol="0" anchor="ctr"/>
          <a:lstStyle/>
          <a:p>
            <a:pPr indent="0" marL="0">
              <a:buNone/>
            </a:pPr>
            <a:r>
              <a:rPr lang="en-US" sz="1500" i="1" dirty="0">
                <a:solidFill>
                  <a:schemeClr val="accent5"/>
                </a:solidFill>
              </a:rPr>
              <a:t>Joint family mein asli jhagde log aur kaagaz-patr ke hote hain</a:t>
            </a:r>
            <a:endParaRPr lang="en-US" sz="1500" dirty="0"/>
          </a:p>
        </p:txBody>
      </p:sp>
      <p:sp>
        <p:nvSpPr>
          <p:cNvPr id="4" name="Text 2"/>
          <p:cNvSpPr txBox="1"/>
          <p:nvPr/>
        </p:nvSpPr>
        <p:spPr>
          <a:xfrm>
            <a:off x="1463040" y="1554480"/>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DARD (problem)</a:t>
            </a:r>
            <a:endParaRPr lang="en-US" sz="1200" dirty="0"/>
          </a:p>
        </p:txBody>
      </p:sp>
      <p:sp>
        <p:nvSpPr>
          <p:cNvPr id="5" name="Text 3"/>
          <p:cNvSpPr txBox="1"/>
          <p:nvPr/>
        </p:nvSpPr>
        <p:spPr>
          <a:xfrm>
            <a:off x="6537960" y="1554480"/>
            <a:ext cx="3657600" cy="274320"/>
          </a:xfrm>
          <a:prstGeom prst="rect">
            <a:avLst/>
          </a:prstGeom>
          <a:noFill/>
          <a:ln/>
        </p:spPr>
        <p:txBody>
          <a:bodyPr wrap="square" lIns="0" tIns="0" rIns="0" bIns="0" rtlCol="0" anchor="ctr"/>
          <a:lstStyle/>
          <a:p>
            <a:pPr indent="0" marL="0">
              <a:buNone/>
            </a:pPr>
            <a:r>
              <a:rPr lang="en-US" sz="1200" b="1" dirty="0">
                <a:solidFill>
                  <a:schemeClr val="accent3"/>
                </a:solidFill>
              </a:rPr>
              <a:t>DAWA (solution)</a:t>
            </a:r>
            <a:endParaRPr lang="en-US" sz="1200" dirty="0"/>
          </a:p>
        </p:txBody>
      </p:sp>
      <p:sp>
        <p:nvSpPr>
          <p:cNvPr id="6" name="Problem 1"/>
          <p:cNvSpPr/>
          <p:nvPr/>
        </p:nvSpPr>
        <p:spPr>
          <a:xfrm>
            <a:off x="548640" y="1920240"/>
            <a:ext cx="5120640" cy="941832"/>
          </a:xfrm>
          <a:prstGeom prst="roundRect">
            <a:avLst>
              <a:gd name="adj" fmla="val 13592"/>
            </a:avLst>
          </a:prstGeom>
          <a:solidFill>
            <a:srgbClr val="FBE5DF"/>
          </a:solidFill>
          <a:ln w="12700">
            <a:solidFill>
              <a:srgbClr val="FBE5DF"/>
            </a:solidFill>
            <a:prstDash val="solid"/>
          </a:ln>
        </p:spPr>
      </p:sp>
      <p:sp>
        <p:nvSpPr>
          <p:cNvPr id="7" name="Ek site andar/bahar migrate karna frame"/>
          <p:cNvSpPr/>
          <p:nvPr/>
        </p:nvSpPr>
        <p:spPr>
          <a:xfrm>
            <a:off x="685800" y="2066544"/>
            <a:ext cx="640080" cy="640080"/>
          </a:xfrm>
          <a:prstGeom prst="diamond">
            <a:avLst/>
          </a:prstGeom>
          <a:solidFill>
            <a:schemeClr val="accent1"/>
          </a:solidFill>
          <a:ln w="12700">
            <a:solidFill>
              <a:schemeClr val="accent1"/>
            </a:solidFill>
            <a:prstDash val="solid"/>
          </a:ln>
        </p:spPr>
      </p:sp>
      <p:pic>
        <p:nvPicPr>
          <p:cNvPr id="8" name="Ek site andar/bahar migrate karna icon" descr="Ek site andar/bahar migrate karna">    </p:cNvPr>
          <p:cNvPicPr>
            <a:picLocks noChangeAspect="1"/>
          </p:cNvPicPr>
          <p:nvPr/>
        </p:nvPicPr>
        <p:blipFill>
          <a:blip r:embed="rId1"/>
          <a:stretch>
            <a:fillRect/>
          </a:stretch>
        </p:blipFill>
        <p:spPr>
          <a:xfrm>
            <a:off x="871423" y="2252167"/>
            <a:ext cx="268834" cy="268834"/>
          </a:xfrm>
          <a:prstGeom prst="rect">
            <a:avLst/>
          </a:prstGeom>
        </p:spPr>
      </p:pic>
      <p:sp>
        <p:nvSpPr>
          <p:cNvPr id="9" name="Text 6"/>
          <p:cNvSpPr txBox="1"/>
          <p:nvPr/>
        </p:nvSpPr>
        <p:spPr>
          <a:xfrm>
            <a:off x="1463040" y="1965960"/>
            <a:ext cx="4114800" cy="850392"/>
          </a:xfrm>
          <a:prstGeom prst="rect">
            <a:avLst/>
          </a:prstGeom>
          <a:noFill/>
          <a:ln/>
        </p:spPr>
        <p:txBody>
          <a:bodyPr wrap="square" lIns="0" tIns="0" rIns="0" bIns="0" rtlCol="0" anchor="ctr"/>
          <a:lstStyle/>
          <a:p>
            <a:pPr indent="0" marL="0">
              <a:buNone/>
            </a:pPr>
            <a:r>
              <a:rPr lang="en-US" sz="1600" b="1" dirty="0">
                <a:solidFill>
                  <a:schemeClr val="tx2"/>
                </a:solidFill>
              </a:rPr>
              <a:t>Ek site andar/bahar migrate karna</a:t>
            </a:r>
            <a:endParaRPr lang="en-US" sz="1600" dirty="0"/>
          </a:p>
          <a:p>
            <a:pPr indent="0" marL="0">
              <a:buNone/>
            </a:pPr>
            <a:r>
              <a:rPr lang="en-US" sz="1400" dirty="0">
                <a:solidFill>
                  <a:schemeClr val="tx1"/>
                </a:solidFill>
              </a:rPr>
              <a:t>IDs, prefixes, uploads/sites/N paths sab badalte hain</a:t>
            </a:r>
            <a:endParaRPr lang="en-US" sz="1600" dirty="0"/>
          </a:p>
        </p:txBody>
      </p:sp>
      <p:pic>
        <p:nvPicPr>
          <p:cNvPr id="10" name="Arrow 1" descr="leads to">    </p:cNvPr>
          <p:cNvPicPr>
            <a:picLocks noChangeAspect="1"/>
          </p:cNvPicPr>
          <p:nvPr/>
        </p:nvPicPr>
        <p:blipFill>
          <a:blip r:embed="rId2"/>
          <a:stretch>
            <a:fillRect/>
          </a:stretch>
        </p:blipFill>
        <p:spPr>
          <a:xfrm>
            <a:off x="5852160" y="2221992"/>
            <a:ext cx="338328" cy="338328"/>
          </a:xfrm>
          <a:prstGeom prst="rect">
            <a:avLst/>
          </a:prstGeom>
        </p:spPr>
      </p:pic>
      <p:sp>
        <p:nvSpPr>
          <p:cNvPr id="11" name="Solution 1"/>
          <p:cNvSpPr/>
          <p:nvPr/>
        </p:nvSpPr>
        <p:spPr>
          <a:xfrm>
            <a:off x="6355080" y="1920240"/>
            <a:ext cx="5303520" cy="941832"/>
          </a:xfrm>
          <a:prstGeom prst="roundRect">
            <a:avLst>
              <a:gd name="adj" fmla="val 13592"/>
            </a:avLst>
          </a:prstGeom>
          <a:solidFill>
            <a:srgbClr val="DDF1EF"/>
          </a:solidFill>
          <a:ln w="12700">
            <a:solidFill>
              <a:srgbClr val="DDF1EF"/>
            </a:solidFill>
            <a:prstDash val="solid"/>
          </a:ln>
        </p:spPr>
      </p:sp>
      <p:sp>
        <p:nvSpPr>
          <p:cNvPr id="12" name="Text 8"/>
          <p:cNvSpPr txBox="1"/>
          <p:nvPr/>
        </p:nvSpPr>
        <p:spPr>
          <a:xfrm>
            <a:off x="6537960" y="1965960"/>
            <a:ext cx="5029200" cy="850392"/>
          </a:xfrm>
          <a:prstGeom prst="rect">
            <a:avLst/>
          </a:prstGeom>
          <a:noFill/>
          <a:ln/>
        </p:spPr>
        <p:txBody>
          <a:bodyPr wrap="square" lIns="0" tIns="0" rIns="0" bIns="0" rtlCol="0" anchor="ctr"/>
          <a:lstStyle/>
          <a:p>
            <a:pPr indent="0" marL="0">
              <a:buNone/>
            </a:pPr>
            <a:r>
              <a:rPr lang="en-US" sz="1600" b="1" dirty="0">
                <a:solidFill>
                  <a:schemeClr val="accent3"/>
                </a:solidFill>
              </a:rPr>
              <a:t>WP-CLI + Multisite-aware tools</a:t>
            </a:r>
            <a:endParaRPr lang="en-US" sz="1600" dirty="0"/>
          </a:p>
          <a:p>
            <a:pPr indent="0" marL="0">
              <a:buNone/>
            </a:pPr>
            <a:r>
              <a:rPr lang="en-US" sz="1400" dirty="0">
                <a:solidFill>
                  <a:schemeClr val="tx1"/>
                </a:solidFill>
              </a:rPr>
              <a:t>wp search-replace --url / --network, per-site export &amp; backups</a:t>
            </a:r>
            <a:endParaRPr lang="en-US" sz="1600" dirty="0"/>
          </a:p>
        </p:txBody>
      </p:sp>
      <p:sp>
        <p:nvSpPr>
          <p:cNvPr id="13" name="Problem 2"/>
          <p:cNvSpPr/>
          <p:nvPr/>
        </p:nvSpPr>
        <p:spPr>
          <a:xfrm>
            <a:off x="548640" y="2999232"/>
            <a:ext cx="5120640" cy="941832"/>
          </a:xfrm>
          <a:prstGeom prst="roundRect">
            <a:avLst>
              <a:gd name="adj" fmla="val 13592"/>
            </a:avLst>
          </a:prstGeom>
          <a:solidFill>
            <a:srgbClr val="FBE5DF"/>
          </a:solidFill>
          <a:ln w="12700">
            <a:solidFill>
              <a:srgbClr val="FBE5DF"/>
            </a:solidFill>
            <a:prstDash val="solid"/>
          </a:ln>
        </p:spPr>
      </p:sp>
      <p:sp>
        <p:nvSpPr>
          <p:cNvPr id="14" name="Domain mapping &amp; SSL frame"/>
          <p:cNvSpPr/>
          <p:nvPr/>
        </p:nvSpPr>
        <p:spPr>
          <a:xfrm>
            <a:off x="685800" y="3145536"/>
            <a:ext cx="640080" cy="640080"/>
          </a:xfrm>
          <a:prstGeom prst="diamond">
            <a:avLst/>
          </a:prstGeom>
          <a:solidFill>
            <a:schemeClr val="accent1"/>
          </a:solidFill>
          <a:ln w="12700">
            <a:solidFill>
              <a:schemeClr val="accent1"/>
            </a:solidFill>
            <a:prstDash val="solid"/>
          </a:ln>
        </p:spPr>
      </p:sp>
      <p:pic>
        <p:nvPicPr>
          <p:cNvPr id="15" name="Domain mapping &amp; SSL icon" descr="Domain mapping &amp; SSL">    </p:cNvPr>
          <p:cNvPicPr>
            <a:picLocks noChangeAspect="1"/>
          </p:cNvPicPr>
          <p:nvPr/>
        </p:nvPicPr>
        <p:blipFill>
          <a:blip r:embed="rId3"/>
          <a:stretch>
            <a:fillRect/>
          </a:stretch>
        </p:blipFill>
        <p:spPr>
          <a:xfrm>
            <a:off x="871423" y="3331159"/>
            <a:ext cx="268834" cy="268834"/>
          </a:xfrm>
          <a:prstGeom prst="rect">
            <a:avLst/>
          </a:prstGeom>
        </p:spPr>
      </p:pic>
      <p:sp>
        <p:nvSpPr>
          <p:cNvPr id="16" name="Text 11"/>
          <p:cNvSpPr txBox="1"/>
          <p:nvPr/>
        </p:nvSpPr>
        <p:spPr>
          <a:xfrm>
            <a:off x="1463040" y="3044952"/>
            <a:ext cx="4114800" cy="850392"/>
          </a:xfrm>
          <a:prstGeom prst="rect">
            <a:avLst/>
          </a:prstGeom>
          <a:noFill/>
          <a:ln/>
        </p:spPr>
        <p:txBody>
          <a:bodyPr wrap="square" lIns="0" tIns="0" rIns="0" bIns="0" rtlCol="0" anchor="ctr"/>
          <a:lstStyle/>
          <a:p>
            <a:pPr indent="0" marL="0">
              <a:buNone/>
            </a:pPr>
            <a:r>
              <a:rPr lang="en-US" sz="1600" b="1" dirty="0">
                <a:solidFill>
                  <a:schemeClr val="tx2"/>
                </a:solidFill>
              </a:rPr>
              <a:t>Domain mapping &amp; SSL</a:t>
            </a:r>
            <a:endParaRPr lang="en-US" sz="1600" dirty="0"/>
          </a:p>
          <a:p>
            <a:pPr indent="0" marL="0">
              <a:buNone/>
            </a:pPr>
            <a:r>
              <a:rPr lang="en-US" sz="1400" dirty="0">
                <a:solidFill>
                  <a:schemeClr val="tx1"/>
                </a:solidFill>
              </a:rPr>
              <a:t>Cookie errors, redirect loops, “Not secure” warning</a:t>
            </a:r>
            <a:endParaRPr lang="en-US" sz="1600" dirty="0"/>
          </a:p>
        </p:txBody>
      </p:sp>
      <p:pic>
        <p:nvPicPr>
          <p:cNvPr id="17" name="Arrow 2" descr="leads to">    </p:cNvPr>
          <p:cNvPicPr>
            <a:picLocks noChangeAspect="1"/>
          </p:cNvPicPr>
          <p:nvPr/>
        </p:nvPicPr>
        <p:blipFill>
          <a:blip r:embed="rId4"/>
          <a:stretch>
            <a:fillRect/>
          </a:stretch>
        </p:blipFill>
        <p:spPr>
          <a:xfrm>
            <a:off x="5852160" y="3300984"/>
            <a:ext cx="338328" cy="338328"/>
          </a:xfrm>
          <a:prstGeom prst="rect">
            <a:avLst/>
          </a:prstGeom>
        </p:spPr>
      </p:pic>
      <p:sp>
        <p:nvSpPr>
          <p:cNvPr id="18" name="Solution 2"/>
          <p:cNvSpPr/>
          <p:nvPr/>
        </p:nvSpPr>
        <p:spPr>
          <a:xfrm>
            <a:off x="6355080" y="2999232"/>
            <a:ext cx="5303520" cy="941832"/>
          </a:xfrm>
          <a:prstGeom prst="roundRect">
            <a:avLst>
              <a:gd name="adj" fmla="val 13592"/>
            </a:avLst>
          </a:prstGeom>
          <a:solidFill>
            <a:srgbClr val="DDF1EF"/>
          </a:solidFill>
          <a:ln w="12700">
            <a:solidFill>
              <a:srgbClr val="DDF1EF"/>
            </a:solidFill>
            <a:prstDash val="solid"/>
          </a:ln>
        </p:spPr>
      </p:sp>
      <p:sp>
        <p:nvSpPr>
          <p:cNvPr id="19" name="Text 13"/>
          <p:cNvSpPr txBox="1"/>
          <p:nvPr/>
        </p:nvSpPr>
        <p:spPr>
          <a:xfrm>
            <a:off x="6537960" y="3044952"/>
            <a:ext cx="5029200" cy="850392"/>
          </a:xfrm>
          <a:prstGeom prst="rect">
            <a:avLst/>
          </a:prstGeom>
          <a:noFill/>
          <a:ln/>
        </p:spPr>
        <p:txBody>
          <a:bodyPr wrap="square" lIns="0" tIns="0" rIns="0" bIns="0" rtlCol="0" anchor="ctr"/>
          <a:lstStyle/>
          <a:p>
            <a:pPr indent="0" marL="0">
              <a:buNone/>
            </a:pPr>
            <a:r>
              <a:rPr lang="en-US" sz="1600" b="1" dirty="0">
                <a:solidFill>
                  <a:schemeClr val="accent3"/>
                </a:solidFill>
              </a:rPr>
              <a:t>Core domain mapping + auto SSL</a:t>
            </a:r>
            <a:endParaRPr lang="en-US" sz="1600" dirty="0"/>
          </a:p>
          <a:p>
            <a:pPr indent="0" marL="0">
              <a:buNone/>
            </a:pPr>
            <a:r>
              <a:rPr lang="en-US" sz="1400" dirty="0">
                <a:solidFill>
                  <a:schemeClr val="tx1"/>
                </a:solidFill>
              </a:rPr>
              <a:t>Har domain ka cert automate; COOKIE_DOMAIN sambhal ke</a:t>
            </a:r>
            <a:endParaRPr lang="en-US" sz="1600" dirty="0"/>
          </a:p>
        </p:txBody>
      </p:sp>
      <p:sp>
        <p:nvSpPr>
          <p:cNvPr id="20" name="Problem 3"/>
          <p:cNvSpPr/>
          <p:nvPr/>
        </p:nvSpPr>
        <p:spPr>
          <a:xfrm>
            <a:off x="548640" y="4078224"/>
            <a:ext cx="5120640" cy="941832"/>
          </a:xfrm>
          <a:prstGeom prst="roundRect">
            <a:avLst>
              <a:gd name="adj" fmla="val 13592"/>
            </a:avLst>
          </a:prstGeom>
          <a:solidFill>
            <a:srgbClr val="FBE5DF"/>
          </a:solidFill>
          <a:ln w="12700">
            <a:solidFill>
              <a:srgbClr val="FBE5DF"/>
            </a:solidFill>
            <a:prstDash val="solid"/>
          </a:ln>
        </p:spPr>
      </p:sp>
      <p:sp>
        <p:nvSpPr>
          <p:cNvPr id="21" name="Plugin compatibility frame"/>
          <p:cNvSpPr/>
          <p:nvPr/>
        </p:nvSpPr>
        <p:spPr>
          <a:xfrm>
            <a:off x="685800" y="4224528"/>
            <a:ext cx="640080" cy="640080"/>
          </a:xfrm>
          <a:prstGeom prst="diamond">
            <a:avLst/>
          </a:prstGeom>
          <a:solidFill>
            <a:schemeClr val="accent1"/>
          </a:solidFill>
          <a:ln w="12700">
            <a:solidFill>
              <a:schemeClr val="accent1"/>
            </a:solidFill>
            <a:prstDash val="solid"/>
          </a:ln>
        </p:spPr>
      </p:sp>
      <p:pic>
        <p:nvPicPr>
          <p:cNvPr id="22" name="Plugin compatibility icon" descr="Plugin compatibility">    </p:cNvPr>
          <p:cNvPicPr>
            <a:picLocks noChangeAspect="1"/>
          </p:cNvPicPr>
          <p:nvPr/>
        </p:nvPicPr>
        <p:blipFill>
          <a:blip r:embed="rId5"/>
          <a:stretch>
            <a:fillRect/>
          </a:stretch>
        </p:blipFill>
        <p:spPr>
          <a:xfrm>
            <a:off x="871423" y="4410151"/>
            <a:ext cx="268834" cy="268834"/>
          </a:xfrm>
          <a:prstGeom prst="rect">
            <a:avLst/>
          </a:prstGeom>
        </p:spPr>
      </p:pic>
      <p:sp>
        <p:nvSpPr>
          <p:cNvPr id="23" name="Text 16"/>
          <p:cNvSpPr txBox="1"/>
          <p:nvPr/>
        </p:nvSpPr>
        <p:spPr>
          <a:xfrm>
            <a:off x="1463040" y="4123944"/>
            <a:ext cx="4114800" cy="850392"/>
          </a:xfrm>
          <a:prstGeom prst="rect">
            <a:avLst/>
          </a:prstGeom>
          <a:noFill/>
          <a:ln/>
        </p:spPr>
        <p:txBody>
          <a:bodyPr wrap="square" lIns="0" tIns="0" rIns="0" bIns="0" rtlCol="0" anchor="ctr"/>
          <a:lstStyle/>
          <a:p>
            <a:pPr indent="0" marL="0">
              <a:buNone/>
            </a:pPr>
            <a:r>
              <a:rPr lang="en-US" sz="1600" b="1" dirty="0">
                <a:solidFill>
                  <a:schemeClr val="tx2"/>
                </a:solidFill>
              </a:rPr>
              <a:t>Plugin compatibility</a:t>
            </a:r>
            <a:endParaRPr lang="en-US" sz="1600" dirty="0"/>
          </a:p>
          <a:p>
            <a:pPr indent="0" marL="0">
              <a:buNone/>
            </a:pPr>
            <a:r>
              <a:rPr lang="en-US" sz="1400" dirty="0">
                <a:solidFill>
                  <a:schemeClr val="tx1"/>
                </a:solidFill>
              </a:rPr>
              <a:t>get_option vs get_site_option, switch_to_blog() bhool gaye</a:t>
            </a:r>
            <a:endParaRPr lang="en-US" sz="1600" dirty="0"/>
          </a:p>
        </p:txBody>
      </p:sp>
      <p:pic>
        <p:nvPicPr>
          <p:cNvPr id="24" name="Arrow 3" descr="leads to">    </p:cNvPr>
          <p:cNvPicPr>
            <a:picLocks noChangeAspect="1"/>
          </p:cNvPicPr>
          <p:nvPr/>
        </p:nvPicPr>
        <p:blipFill>
          <a:blip r:embed="rId6"/>
          <a:stretch>
            <a:fillRect/>
          </a:stretch>
        </p:blipFill>
        <p:spPr>
          <a:xfrm>
            <a:off x="5852160" y="4379976"/>
            <a:ext cx="338328" cy="338328"/>
          </a:xfrm>
          <a:prstGeom prst="rect">
            <a:avLst/>
          </a:prstGeom>
        </p:spPr>
      </p:pic>
      <p:sp>
        <p:nvSpPr>
          <p:cNvPr id="25" name="Solution 3"/>
          <p:cNvSpPr/>
          <p:nvPr/>
        </p:nvSpPr>
        <p:spPr>
          <a:xfrm>
            <a:off x="6355080" y="4078224"/>
            <a:ext cx="5303520" cy="941832"/>
          </a:xfrm>
          <a:prstGeom prst="roundRect">
            <a:avLst>
              <a:gd name="adj" fmla="val 13592"/>
            </a:avLst>
          </a:prstGeom>
          <a:solidFill>
            <a:srgbClr val="DDF1EF"/>
          </a:solidFill>
          <a:ln w="12700">
            <a:solidFill>
              <a:srgbClr val="DDF1EF"/>
            </a:solidFill>
            <a:prstDash val="solid"/>
          </a:ln>
        </p:spPr>
      </p:sp>
      <p:sp>
        <p:nvSpPr>
          <p:cNvPr id="26" name="Text 18"/>
          <p:cNvSpPr txBox="1"/>
          <p:nvPr/>
        </p:nvSpPr>
        <p:spPr>
          <a:xfrm>
            <a:off x="6537960" y="4123944"/>
            <a:ext cx="5029200" cy="850392"/>
          </a:xfrm>
          <a:prstGeom prst="rect">
            <a:avLst/>
          </a:prstGeom>
          <a:noFill/>
          <a:ln/>
        </p:spPr>
        <p:txBody>
          <a:bodyPr wrap="square" lIns="0" tIns="0" rIns="0" bIns="0" rtlCol="0" anchor="ctr"/>
          <a:lstStyle/>
          <a:p>
            <a:pPr indent="0" marL="0">
              <a:buNone/>
            </a:pPr>
            <a:r>
              <a:rPr lang="en-US" sz="1600" b="1" dirty="0">
                <a:solidFill>
                  <a:schemeClr val="accent3"/>
                </a:solidFill>
              </a:rPr>
              <a:t>Multisite pe test karo</a:t>
            </a:r>
            <a:endParaRPr lang="en-US" sz="1600" dirty="0"/>
          </a:p>
          <a:p>
            <a:pPr indent="0" marL="0">
              <a:buNone/>
            </a:pPr>
            <a:r>
              <a:rPr lang="en-US" sz="1400" dirty="0">
                <a:solidFill>
                  <a:schemeClr val="tx1"/>
                </a:solidFill>
              </a:rPr>
              <a:t>Network vs site settings alag; “Network: true” header samjho</a:t>
            </a:r>
            <a:endParaRPr lang="en-US" sz="1600" dirty="0"/>
          </a:p>
        </p:txBody>
      </p:sp>
      <p:sp>
        <p:nvSpPr>
          <p:cNvPr id="27" name="Problem 4"/>
          <p:cNvSpPr/>
          <p:nvPr/>
        </p:nvSpPr>
        <p:spPr>
          <a:xfrm>
            <a:off x="548640" y="5157216"/>
            <a:ext cx="5120640" cy="941832"/>
          </a:xfrm>
          <a:prstGeom prst="roundRect">
            <a:avLst>
              <a:gd name="adj" fmla="val 13592"/>
            </a:avLst>
          </a:prstGeom>
          <a:solidFill>
            <a:srgbClr val="FBE5DF"/>
          </a:solidFill>
          <a:ln w="12700">
            <a:solidFill>
              <a:srgbClr val="FBE5DF"/>
            </a:solidFill>
            <a:prstDash val="solid"/>
          </a:ln>
        </p:spPr>
      </p:sp>
      <p:sp>
        <p:nvSpPr>
          <p:cNvPr id="28" name="Roles ka confusion frame"/>
          <p:cNvSpPr/>
          <p:nvPr/>
        </p:nvSpPr>
        <p:spPr>
          <a:xfrm>
            <a:off x="685800" y="5303520"/>
            <a:ext cx="640080" cy="640080"/>
          </a:xfrm>
          <a:prstGeom prst="diamond">
            <a:avLst/>
          </a:prstGeom>
          <a:solidFill>
            <a:schemeClr val="accent1"/>
          </a:solidFill>
          <a:ln w="12700">
            <a:solidFill>
              <a:schemeClr val="accent1"/>
            </a:solidFill>
            <a:prstDash val="solid"/>
          </a:ln>
        </p:spPr>
      </p:sp>
      <p:pic>
        <p:nvPicPr>
          <p:cNvPr id="29" name="Roles ka confusion icon" descr="Roles ka confusion">    </p:cNvPr>
          <p:cNvPicPr>
            <a:picLocks noChangeAspect="1"/>
          </p:cNvPicPr>
          <p:nvPr/>
        </p:nvPicPr>
        <p:blipFill>
          <a:blip r:embed="rId7"/>
          <a:stretch>
            <a:fillRect/>
          </a:stretch>
        </p:blipFill>
        <p:spPr>
          <a:xfrm>
            <a:off x="871423" y="5489143"/>
            <a:ext cx="268834" cy="268834"/>
          </a:xfrm>
          <a:prstGeom prst="rect">
            <a:avLst/>
          </a:prstGeom>
        </p:spPr>
      </p:pic>
      <p:sp>
        <p:nvSpPr>
          <p:cNvPr id="30" name="Text 21"/>
          <p:cNvSpPr txBox="1"/>
          <p:nvPr/>
        </p:nvSpPr>
        <p:spPr>
          <a:xfrm>
            <a:off x="1463040" y="5202936"/>
            <a:ext cx="4114800" cy="850392"/>
          </a:xfrm>
          <a:prstGeom prst="rect">
            <a:avLst/>
          </a:prstGeom>
          <a:noFill/>
          <a:ln/>
        </p:spPr>
        <p:txBody>
          <a:bodyPr wrap="square" lIns="0" tIns="0" rIns="0" bIns="0" rtlCol="0" anchor="ctr"/>
          <a:lstStyle/>
          <a:p>
            <a:pPr indent="0" marL="0">
              <a:buNone/>
            </a:pPr>
            <a:r>
              <a:rPr lang="en-US" sz="1600" b="1" dirty="0">
                <a:solidFill>
                  <a:schemeClr val="tx2"/>
                </a:solidFill>
              </a:rPr>
              <a:t>Roles ka confusion</a:t>
            </a:r>
            <a:endParaRPr lang="en-US" sz="1600" dirty="0"/>
          </a:p>
          <a:p>
            <a:pPr indent="0" marL="0">
              <a:buNone/>
            </a:pPr>
            <a:r>
              <a:rPr lang="en-US" sz="1400" dirty="0">
                <a:solidFill>
                  <a:schemeClr val="tx1"/>
                </a:solidFill>
              </a:rPr>
              <a:t>Site admin plugin install nahi kar sakta, unfiltered_html band</a:t>
            </a:r>
            <a:endParaRPr lang="en-US" sz="1600" dirty="0"/>
          </a:p>
        </p:txBody>
      </p:sp>
      <p:pic>
        <p:nvPicPr>
          <p:cNvPr id="31" name="Arrow 4" descr="leads to">    </p:cNvPr>
          <p:cNvPicPr>
            <a:picLocks noChangeAspect="1"/>
          </p:cNvPicPr>
          <p:nvPr/>
        </p:nvPicPr>
        <p:blipFill>
          <a:blip r:embed="rId8"/>
          <a:stretch>
            <a:fillRect/>
          </a:stretch>
        </p:blipFill>
        <p:spPr>
          <a:xfrm>
            <a:off x="5852160" y="5458968"/>
            <a:ext cx="338328" cy="338328"/>
          </a:xfrm>
          <a:prstGeom prst="rect">
            <a:avLst/>
          </a:prstGeom>
        </p:spPr>
      </p:pic>
      <p:sp>
        <p:nvSpPr>
          <p:cNvPr id="32" name="Solution 4"/>
          <p:cNvSpPr/>
          <p:nvPr/>
        </p:nvSpPr>
        <p:spPr>
          <a:xfrm>
            <a:off x="6355080" y="5157216"/>
            <a:ext cx="5303520" cy="941832"/>
          </a:xfrm>
          <a:prstGeom prst="roundRect">
            <a:avLst>
              <a:gd name="adj" fmla="val 13592"/>
            </a:avLst>
          </a:prstGeom>
          <a:solidFill>
            <a:srgbClr val="DDF1EF"/>
          </a:solidFill>
          <a:ln w="12700">
            <a:solidFill>
              <a:srgbClr val="DDF1EF"/>
            </a:solidFill>
            <a:prstDash val="solid"/>
          </a:ln>
        </p:spPr>
      </p:sp>
      <p:sp>
        <p:nvSpPr>
          <p:cNvPr id="33" name="Text 23"/>
          <p:cNvSpPr txBox="1"/>
          <p:nvPr/>
        </p:nvSpPr>
        <p:spPr>
          <a:xfrm>
            <a:off x="6537960" y="5202936"/>
            <a:ext cx="5029200" cy="850392"/>
          </a:xfrm>
          <a:prstGeom prst="rect">
            <a:avLst/>
          </a:prstGeom>
          <a:noFill/>
          <a:ln/>
        </p:spPr>
        <p:txBody>
          <a:bodyPr wrap="square" lIns="0" tIns="0" rIns="0" bIns="0" rtlCol="0" anchor="ctr"/>
          <a:lstStyle/>
          <a:p>
            <a:pPr indent="0" marL="0">
              <a:buNone/>
            </a:pPr>
            <a:r>
              <a:rPr lang="en-US" sz="1600" b="1" dirty="0">
                <a:solidFill>
                  <a:schemeClr val="accent3"/>
                </a:solidFill>
              </a:rPr>
              <a:t>Clear roles + kam Super Admins</a:t>
            </a:r>
            <a:endParaRPr lang="en-US" sz="1600" dirty="0"/>
          </a:p>
          <a:p>
            <a:pPr indent="0" marL="0">
              <a:buNone/>
            </a:pPr>
            <a:r>
              <a:rPr lang="en-US" sz="1400" dirty="0">
                <a:solidFill>
                  <a:schemeClr val="tx1"/>
                </a:solidFill>
              </a:rPr>
              <a:t>Role guide likho, onboarding karo, Super Admin VIP pass rakho</a:t>
            </a:r>
            <a:endParaRPr lang="en-US" sz="1600" dirty="0"/>
          </a:p>
        </p:txBody>
      </p:sp>
      <p:sp>
        <p:nvSpPr>
          <p:cNvPr id="34" name="Back to the menu button"/>
          <p:cNvSpPr txBox="1"/>
          <p:nvPr/>
        </p:nvSpPr>
        <p:spPr>
          <a:xfrm>
            <a:off x="9646920" y="6336792"/>
            <a:ext cx="128016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  Menu</a:t>
            </a:r>
            <a:endParaRPr lang="en-US" sz="1100" dirty="0"/>
          </a:p>
        </p:txBody>
      </p:sp>
      <p:sp>
        <p:nvSpPr>
          <p:cNvPr id="35" name="Link: Back to the menu">
            <a:hlinkClick r:id="rId9"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601200" cy="777240"/>
          </a:xfrm>
          <a:prstGeom prst="rect">
            <a:avLst/>
          </a:prstGeom>
          <a:noFill/>
          <a:ln/>
        </p:spPr>
        <p:txBody>
          <a:bodyPr wrap="square" lIns="0" tIns="0" rIns="0" bIns="0" rtlCol="0" anchor="ctr"/>
          <a:lstStyle/>
          <a:p>
            <a:pPr algn="l" indent="0" marL="0">
              <a:buNone/>
            </a:pPr>
            <a:r>
              <a:rPr lang="en-US" sz="3400" b="1" dirty="0">
                <a:solidFill>
                  <a:schemeClr val="bg1"/>
                </a:solidFill>
                <a:latin typeface="Arial" pitchFamily="34" charset="0"/>
                <a:ea typeface="Arial" pitchFamily="34" charset="-122"/>
                <a:cs typeface="Arial" pitchFamily="34" charset="-120"/>
              </a:rPr>
              <a:t>Jugaad nahi, WP-CLI: survival kit</a:t>
            </a:r>
            <a:endParaRPr lang="en-US" sz="3400" dirty="0"/>
          </a:p>
        </p:txBody>
      </p:sp>
      <p:sp>
        <p:nvSpPr>
          <p:cNvPr id="3" name="Text 1"/>
          <p:cNvSpPr txBox="1"/>
          <p:nvPr/>
        </p:nvSpPr>
        <p:spPr>
          <a:xfrm>
            <a:off x="548640" y="1143000"/>
            <a:ext cx="10058400" cy="411480"/>
          </a:xfrm>
          <a:prstGeom prst="rect">
            <a:avLst/>
          </a:prstGeom>
          <a:noFill/>
          <a:ln/>
        </p:spPr>
        <p:txBody>
          <a:bodyPr wrap="square" lIns="0" tIns="0" rIns="0" bIns="0" rtlCol="0" anchor="ctr"/>
          <a:lstStyle/>
          <a:p>
            <a:pPr indent="0" marL="0">
              <a:buNone/>
            </a:pPr>
            <a:r>
              <a:rPr lang="en-US" sz="1700" i="1" dirty="0">
                <a:solidFill>
                  <a:schemeClr val="accent2"/>
                </a:solidFill>
              </a:rPr>
              <a:t>1,000 sites pe click-click karoge to Diwali se Holi aa jaayegi</a:t>
            </a:r>
            <a:endParaRPr lang="en-US" sz="1700" dirty="0"/>
          </a:p>
        </p:txBody>
      </p:sp>
      <p:sp>
        <p:nvSpPr>
          <p:cNvPr id="4" name="CLI row 1"/>
          <p:cNvSpPr/>
          <p:nvPr/>
        </p:nvSpPr>
        <p:spPr>
          <a:xfrm>
            <a:off x="548640" y="1783080"/>
            <a:ext cx="11109960" cy="594360"/>
          </a:xfrm>
          <a:prstGeom prst="roundRect">
            <a:avLst>
              <a:gd name="adj" fmla="val 18462"/>
            </a:avLst>
          </a:prstGeom>
          <a:solidFill>
            <a:srgbClr val="1A3460"/>
          </a:solidFill>
          <a:ln w="12700">
            <a:solidFill>
              <a:srgbClr val="1A3460"/>
            </a:solidFill>
            <a:prstDash val="solid"/>
          </a:ln>
        </p:spPr>
      </p:sp>
      <p:sp>
        <p:nvSpPr>
          <p:cNvPr id="5" name="Text 3"/>
          <p:cNvSpPr txBox="1"/>
          <p:nvPr/>
        </p:nvSpPr>
        <p:spPr>
          <a:xfrm>
            <a:off x="777240" y="1783080"/>
            <a:ext cx="67665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wp site list --fields=blog_id,url</a:t>
            </a:r>
            <a:endParaRPr lang="en-US" sz="1400" dirty="0"/>
          </a:p>
        </p:txBody>
      </p:sp>
      <p:sp>
        <p:nvSpPr>
          <p:cNvPr id="6" name="Text 4"/>
          <p:cNvSpPr txBox="1"/>
          <p:nvPr/>
        </p:nvSpPr>
        <p:spPr>
          <a:xfrm>
            <a:off x="7680960" y="1783080"/>
            <a:ext cx="3840480" cy="594360"/>
          </a:xfrm>
          <a:prstGeom prst="rect">
            <a:avLst/>
          </a:prstGeom>
          <a:noFill/>
          <a:ln/>
        </p:spPr>
        <p:txBody>
          <a:bodyPr wrap="square" lIns="0" tIns="0" rIns="0" bIns="0" rtlCol="0" anchor="ctr"/>
          <a:lstStyle/>
          <a:p>
            <a:pPr indent="0" marL="0">
              <a:buNone/>
            </a:pPr>
            <a:r>
              <a:rPr lang="en-US" sz="1500" dirty="0">
                <a:solidFill>
                  <a:schemeClr val="bg2"/>
                </a:solidFill>
              </a:rPr>
              <a:t>Network ki saari sites ki list</a:t>
            </a:r>
            <a:endParaRPr lang="en-US" sz="1500" dirty="0"/>
          </a:p>
        </p:txBody>
      </p:sp>
      <p:sp>
        <p:nvSpPr>
          <p:cNvPr id="7" name="CLI row 2"/>
          <p:cNvSpPr/>
          <p:nvPr/>
        </p:nvSpPr>
        <p:spPr>
          <a:xfrm>
            <a:off x="548640" y="2496312"/>
            <a:ext cx="11109960" cy="594360"/>
          </a:xfrm>
          <a:prstGeom prst="roundRect">
            <a:avLst>
              <a:gd name="adj" fmla="val 18462"/>
            </a:avLst>
          </a:prstGeom>
          <a:solidFill>
            <a:srgbClr val="1A3460"/>
          </a:solidFill>
          <a:ln w="12700">
            <a:solidFill>
              <a:srgbClr val="1A3460"/>
            </a:solidFill>
            <a:prstDash val="solid"/>
          </a:ln>
        </p:spPr>
      </p:sp>
      <p:sp>
        <p:nvSpPr>
          <p:cNvPr id="8" name="Text 6"/>
          <p:cNvSpPr txBox="1"/>
          <p:nvPr/>
        </p:nvSpPr>
        <p:spPr>
          <a:xfrm>
            <a:off x="777240" y="2496312"/>
            <a:ext cx="67665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wp site create --slug=jodhpur --title="Jodhpur"</a:t>
            </a:r>
            <a:endParaRPr lang="en-US" sz="1400" dirty="0"/>
          </a:p>
        </p:txBody>
      </p:sp>
      <p:sp>
        <p:nvSpPr>
          <p:cNvPr id="9" name="Text 7"/>
          <p:cNvSpPr txBox="1"/>
          <p:nvPr/>
        </p:nvSpPr>
        <p:spPr>
          <a:xfrm>
            <a:off x="7680960" y="2496312"/>
            <a:ext cx="3840480" cy="594360"/>
          </a:xfrm>
          <a:prstGeom prst="rect">
            <a:avLst/>
          </a:prstGeom>
          <a:noFill/>
          <a:ln/>
        </p:spPr>
        <p:txBody>
          <a:bodyPr wrap="square" lIns="0" tIns="0" rIns="0" bIns="0" rtlCol="0" anchor="ctr"/>
          <a:lstStyle/>
          <a:p>
            <a:pPr indent="0" marL="0">
              <a:buNone/>
            </a:pPr>
            <a:r>
              <a:rPr lang="en-US" sz="1500" dirty="0">
                <a:solidFill>
                  <a:schemeClr val="bg2"/>
                </a:solidFill>
              </a:rPr>
              <a:t>Nayi site, 2 second mein</a:t>
            </a:r>
            <a:endParaRPr lang="en-US" sz="1500" dirty="0"/>
          </a:p>
        </p:txBody>
      </p:sp>
      <p:sp>
        <p:nvSpPr>
          <p:cNvPr id="10" name="CLI row 3"/>
          <p:cNvSpPr/>
          <p:nvPr/>
        </p:nvSpPr>
        <p:spPr>
          <a:xfrm>
            <a:off x="548640" y="3209544"/>
            <a:ext cx="11109960" cy="594360"/>
          </a:xfrm>
          <a:prstGeom prst="roundRect">
            <a:avLst>
              <a:gd name="adj" fmla="val 18462"/>
            </a:avLst>
          </a:prstGeom>
          <a:solidFill>
            <a:srgbClr val="1A3460"/>
          </a:solidFill>
          <a:ln w="12700">
            <a:solidFill>
              <a:srgbClr val="1A3460"/>
            </a:solidFill>
            <a:prstDash val="solid"/>
          </a:ln>
        </p:spPr>
      </p:sp>
      <p:sp>
        <p:nvSpPr>
          <p:cNvPr id="11" name="Text 9"/>
          <p:cNvSpPr txBox="1"/>
          <p:nvPr/>
        </p:nvSpPr>
        <p:spPr>
          <a:xfrm>
            <a:off x="777240" y="3209544"/>
            <a:ext cx="67665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wp plugin activate my-plugin --network</a:t>
            </a:r>
            <a:endParaRPr lang="en-US" sz="1400" dirty="0"/>
          </a:p>
        </p:txBody>
      </p:sp>
      <p:sp>
        <p:nvSpPr>
          <p:cNvPr id="12" name="Text 10"/>
          <p:cNvSpPr txBox="1"/>
          <p:nvPr/>
        </p:nvSpPr>
        <p:spPr>
          <a:xfrm>
            <a:off x="7680960" y="3209544"/>
            <a:ext cx="3840480" cy="594360"/>
          </a:xfrm>
          <a:prstGeom prst="rect">
            <a:avLst/>
          </a:prstGeom>
          <a:noFill/>
          <a:ln/>
        </p:spPr>
        <p:txBody>
          <a:bodyPr wrap="square" lIns="0" tIns="0" rIns="0" bIns="0" rtlCol="0" anchor="ctr"/>
          <a:lstStyle/>
          <a:p>
            <a:pPr indent="0" marL="0">
              <a:buNone/>
            </a:pPr>
            <a:r>
              <a:rPr lang="en-US" sz="1500" dirty="0">
                <a:solidFill>
                  <a:schemeClr val="bg2"/>
                </a:solidFill>
              </a:rPr>
              <a:t>Plugin poore network pe on</a:t>
            </a:r>
            <a:endParaRPr lang="en-US" sz="1500" dirty="0"/>
          </a:p>
        </p:txBody>
      </p:sp>
      <p:sp>
        <p:nvSpPr>
          <p:cNvPr id="13" name="CLI row 4"/>
          <p:cNvSpPr/>
          <p:nvPr/>
        </p:nvSpPr>
        <p:spPr>
          <a:xfrm>
            <a:off x="548640" y="3922776"/>
            <a:ext cx="11109960" cy="594360"/>
          </a:xfrm>
          <a:prstGeom prst="roundRect">
            <a:avLst>
              <a:gd name="adj" fmla="val 18462"/>
            </a:avLst>
          </a:prstGeom>
          <a:solidFill>
            <a:srgbClr val="1A3460"/>
          </a:solidFill>
          <a:ln w="12700">
            <a:solidFill>
              <a:srgbClr val="1A3460"/>
            </a:solidFill>
            <a:prstDash val="solid"/>
          </a:ln>
        </p:spPr>
      </p:sp>
      <p:sp>
        <p:nvSpPr>
          <p:cNvPr id="14" name="Text 12"/>
          <p:cNvSpPr txBox="1"/>
          <p:nvPr/>
        </p:nvSpPr>
        <p:spPr>
          <a:xfrm>
            <a:off x="777240" y="3922776"/>
            <a:ext cx="67665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wp search-replace old.test new.test --network</a:t>
            </a:r>
            <a:endParaRPr lang="en-US" sz="1400" dirty="0"/>
          </a:p>
        </p:txBody>
      </p:sp>
      <p:sp>
        <p:nvSpPr>
          <p:cNvPr id="15" name="Text 13"/>
          <p:cNvSpPr txBox="1"/>
          <p:nvPr/>
        </p:nvSpPr>
        <p:spPr>
          <a:xfrm>
            <a:off x="7680960" y="3922776"/>
            <a:ext cx="3840480" cy="594360"/>
          </a:xfrm>
          <a:prstGeom prst="rect">
            <a:avLst/>
          </a:prstGeom>
          <a:noFill/>
          <a:ln/>
        </p:spPr>
        <p:txBody>
          <a:bodyPr wrap="square" lIns="0" tIns="0" rIns="0" bIns="0" rtlCol="0" anchor="ctr"/>
          <a:lstStyle/>
          <a:p>
            <a:pPr indent="0" marL="0">
              <a:buNone/>
            </a:pPr>
            <a:r>
              <a:rPr lang="en-US" sz="1500" dirty="0">
                <a:solidFill>
                  <a:schemeClr val="bg2"/>
                </a:solidFill>
              </a:rPr>
              <a:t>Saari site tables mein URL badlo</a:t>
            </a:r>
            <a:endParaRPr lang="en-US" sz="1500" dirty="0"/>
          </a:p>
        </p:txBody>
      </p:sp>
      <p:sp>
        <p:nvSpPr>
          <p:cNvPr id="16" name="CLI row 5"/>
          <p:cNvSpPr/>
          <p:nvPr/>
        </p:nvSpPr>
        <p:spPr>
          <a:xfrm>
            <a:off x="548640" y="4636008"/>
            <a:ext cx="11109960" cy="594360"/>
          </a:xfrm>
          <a:prstGeom prst="roundRect">
            <a:avLst>
              <a:gd name="adj" fmla="val 18462"/>
            </a:avLst>
          </a:prstGeom>
          <a:solidFill>
            <a:srgbClr val="1A3460"/>
          </a:solidFill>
          <a:ln w="12700">
            <a:solidFill>
              <a:srgbClr val="1A3460"/>
            </a:solidFill>
            <a:prstDash val="solid"/>
          </a:ln>
        </p:spPr>
      </p:sp>
      <p:sp>
        <p:nvSpPr>
          <p:cNvPr id="17" name="Text 15"/>
          <p:cNvSpPr txBox="1"/>
          <p:nvPr/>
        </p:nvSpPr>
        <p:spPr>
          <a:xfrm>
            <a:off x="777240" y="4636008"/>
            <a:ext cx="67665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wp --url=jodhpur.example.com cache flush</a:t>
            </a:r>
            <a:endParaRPr lang="en-US" sz="1400" dirty="0"/>
          </a:p>
        </p:txBody>
      </p:sp>
      <p:sp>
        <p:nvSpPr>
          <p:cNvPr id="18" name="Text 16"/>
          <p:cNvSpPr txBox="1"/>
          <p:nvPr/>
        </p:nvSpPr>
        <p:spPr>
          <a:xfrm>
            <a:off x="7680960" y="4636008"/>
            <a:ext cx="3840480" cy="594360"/>
          </a:xfrm>
          <a:prstGeom prst="rect">
            <a:avLst/>
          </a:prstGeom>
          <a:noFill/>
          <a:ln/>
        </p:spPr>
        <p:txBody>
          <a:bodyPr wrap="square" lIns="0" tIns="0" rIns="0" bIns="0" rtlCol="0" anchor="ctr"/>
          <a:lstStyle/>
          <a:p>
            <a:pPr indent="0" marL="0">
              <a:buNone/>
            </a:pPr>
            <a:r>
              <a:rPr lang="en-US" sz="1500" dirty="0">
                <a:solidFill>
                  <a:schemeClr val="bg2"/>
                </a:solidFill>
              </a:rPr>
              <a:t>Kisi ek site pe command chalao</a:t>
            </a:r>
            <a:endParaRPr lang="en-US" sz="1500" dirty="0"/>
          </a:p>
        </p:txBody>
      </p:sp>
      <p:sp>
        <p:nvSpPr>
          <p:cNvPr id="19" name="CLI row 6"/>
          <p:cNvSpPr/>
          <p:nvPr/>
        </p:nvSpPr>
        <p:spPr>
          <a:xfrm>
            <a:off x="548640" y="5349240"/>
            <a:ext cx="11109960" cy="594360"/>
          </a:xfrm>
          <a:prstGeom prst="roundRect">
            <a:avLst>
              <a:gd name="adj" fmla="val 18462"/>
            </a:avLst>
          </a:prstGeom>
          <a:solidFill>
            <a:srgbClr val="1A3460"/>
          </a:solidFill>
          <a:ln w="12700">
            <a:solidFill>
              <a:srgbClr val="1A3460"/>
            </a:solidFill>
            <a:prstDash val="solid"/>
          </a:ln>
        </p:spPr>
      </p:sp>
      <p:sp>
        <p:nvSpPr>
          <p:cNvPr id="20" name="Text 18"/>
          <p:cNvSpPr txBox="1"/>
          <p:nvPr/>
        </p:nvSpPr>
        <p:spPr>
          <a:xfrm>
            <a:off x="777240" y="5349240"/>
            <a:ext cx="67665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wp super-admin list</a:t>
            </a:r>
            <a:endParaRPr lang="en-US" sz="1400" dirty="0"/>
          </a:p>
        </p:txBody>
      </p:sp>
      <p:sp>
        <p:nvSpPr>
          <p:cNvPr id="21" name="Text 19"/>
          <p:cNvSpPr txBox="1"/>
          <p:nvPr/>
        </p:nvSpPr>
        <p:spPr>
          <a:xfrm>
            <a:off x="7680960" y="5349240"/>
            <a:ext cx="3840480" cy="594360"/>
          </a:xfrm>
          <a:prstGeom prst="rect">
            <a:avLst/>
          </a:prstGeom>
          <a:noFill/>
          <a:ln/>
        </p:spPr>
        <p:txBody>
          <a:bodyPr wrap="square" lIns="0" tIns="0" rIns="0" bIns="0" rtlCol="0" anchor="ctr"/>
          <a:lstStyle/>
          <a:p>
            <a:pPr indent="0" marL="0">
              <a:buNone/>
            </a:pPr>
            <a:r>
              <a:rPr lang="en-US" sz="1500" dirty="0">
                <a:solidFill>
                  <a:schemeClr val="bg2"/>
                </a:solidFill>
              </a:rPr>
              <a:t>Dekho Thakur Sa kaun-kaun hain</a:t>
            </a:r>
            <a:endParaRPr lang="en-US" sz="1500" dirty="0"/>
          </a:p>
        </p:txBody>
      </p:sp>
      <p:sp>
        <p:nvSpPr>
          <p:cNvPr id="22" name="Back to the menu button"/>
          <p:cNvSpPr txBox="1"/>
          <p:nvPr/>
        </p:nvSpPr>
        <p:spPr>
          <a:xfrm>
            <a:off x="9646920" y="6336792"/>
            <a:ext cx="128016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2"/>
                </a:solidFill>
              </a:rPr>
              <a:t>☰  Menu</a:t>
            </a:r>
            <a:endParaRPr lang="en-US" sz="1100" dirty="0"/>
          </a:p>
        </p:txBody>
      </p:sp>
      <p:sp>
        <p:nvSpPr>
          <p:cNvPr id="23" name="Link: Back to the menu">
            <a:hlinkClick r:id="rId1" tooltip="Back to the menu" action="ppaction://hlinksldjump"/>
          </p:cNvPr>
          <p:cNvSpPr/>
          <p:nvPr/>
        </p:nvSpPr>
        <p:spPr>
          <a:xfrm>
            <a:off x="9646920" y="6336792"/>
            <a:ext cx="1280160" cy="384048"/>
          </a:xfrm>
          <a:prstGeom prst="rect">
            <a:avLst/>
          </a:prstGeom>
          <a:solidFill>
            <a:schemeClr val="bg1">
              <a:alpha val="0"/>
            </a:schemeClr>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ream circle"/>
          <p:cNvSpPr/>
          <p:nvPr/>
        </p:nvSpPr>
        <p:spPr>
          <a:xfrm>
            <a:off x="7406640" y="1554480"/>
            <a:ext cx="4206240" cy="4206240"/>
          </a:xfrm>
          <a:prstGeom prst="ellipse">
            <a:avLst/>
          </a:prstGeom>
          <a:solidFill>
            <a:schemeClr val="bg2"/>
          </a:solidFill>
          <a:ln w="38100">
            <a:solidFill>
              <a:schemeClr val="accent2"/>
            </a:solidFill>
            <a:prstDash val="dash"/>
          </a:ln>
        </p:spPr>
      </p:sp>
      <p:pic>
        <p:nvPicPr>
          <p:cNvPr id="3" name="Mascot" descr="Rajasthani mascot with folded hands">    </p:cNvPr>
          <p:cNvPicPr>
            <a:picLocks noChangeAspect="1"/>
          </p:cNvPicPr>
          <p:nvPr/>
        </p:nvPicPr>
        <p:blipFill>
          <a:blip r:embed="rId1"/>
          <a:stretch>
            <a:fillRect/>
          </a:stretch>
        </p:blipFill>
        <p:spPr>
          <a:xfrm>
            <a:off x="7680960" y="1828800"/>
            <a:ext cx="3657600" cy="3657600"/>
          </a:xfrm>
          <a:prstGeom prst="rect">
            <a:avLst/>
          </a:prstGeom>
        </p:spPr>
      </p:pic>
      <p:sp>
        <p:nvSpPr>
          <p:cNvPr id="4" name="Speech bubble"/>
          <p:cNvSpPr txBox="1"/>
          <p:nvPr/>
        </p:nvSpPr>
        <p:spPr>
          <a:xfrm>
            <a:off x="7863840" y="502920"/>
            <a:ext cx="3291840" cy="914400"/>
          </a:xfrm>
          <a:prstGeom prst="wedgeRoundRectCallout">
            <a:avLst/>
          </a:prstGeom>
          <a:solidFill>
            <a:schemeClr val="accent2"/>
          </a:solidFill>
          <a:ln/>
        </p:spPr>
        <p:txBody>
          <a:bodyPr wrap="square" lIns="101600" tIns="101600" rIns="101600" bIns="101600" rtlCol="0" anchor="ctr"/>
          <a:lstStyle/>
          <a:p>
            <a:pPr algn="ctr" indent="0" marL="0">
              <a:buNone/>
            </a:pPr>
            <a:r>
              <a:rPr lang="en-US" sz="1700" b="1" i="1" dirty="0">
                <a:solidFill>
                  <a:schemeClr val="tx2"/>
                </a:solidFill>
              </a:rPr>
              <a:t>Padharo mhare network!</a:t>
            </a:r>
            <a:endParaRPr lang="en-US" sz="1700" dirty="0"/>
          </a:p>
        </p:txBody>
      </p:sp>
      <p:sp>
        <p:nvSpPr>
          <p:cNvPr id="5" name="Text 2"/>
          <p:cNvSpPr txBox="1"/>
          <p:nvPr/>
        </p:nvSpPr>
        <p:spPr>
          <a:xfrm>
            <a:off x="548640" y="548640"/>
            <a:ext cx="6400800" cy="54864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Teen baatein ghar le jao</a:t>
            </a:r>
            <a:endParaRPr lang="en-US" sz="3200" dirty="0"/>
          </a:p>
        </p:txBody>
      </p:sp>
      <p:sp>
        <p:nvSpPr>
          <p:cNvPr id="6" name="Text 3"/>
          <p:cNvSpPr txBox="1"/>
          <p:nvPr/>
        </p:nvSpPr>
        <p:spPr>
          <a:xfrm>
            <a:off x="548640" y="1417320"/>
            <a:ext cx="731520" cy="731520"/>
          </a:xfrm>
          <a:prstGeom prst="diamond">
            <a:avLst/>
          </a:prstGeom>
          <a:solidFill>
            <a:schemeClr val="accent2"/>
          </a:solid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7" name="Text 4"/>
          <p:cNvSpPr txBox="1"/>
          <p:nvPr/>
        </p:nvSpPr>
        <p:spPr>
          <a:xfrm>
            <a:off x="1508760" y="1325880"/>
            <a:ext cx="5669280" cy="914400"/>
          </a:xfrm>
          <a:prstGeom prst="rect">
            <a:avLst/>
          </a:prstGeom>
          <a:noFill/>
          <a:ln/>
        </p:spPr>
        <p:txBody>
          <a:bodyPr wrap="square" lIns="0" tIns="0" rIns="0" bIns="0" rtlCol="0" anchor="ctr"/>
          <a:lstStyle/>
          <a:p>
            <a:pPr indent="0" marL="0">
              <a:buNone/>
            </a:pPr>
            <a:r>
              <a:rPr lang="en-US" sz="1800" b="1" dirty="0">
                <a:solidFill>
                  <a:schemeClr val="bg1"/>
                </a:solidFill>
              </a:rPr>
              <a:t>Multisite parivaar ke liye hai, padosiyon ke liye nahi</a:t>
            </a:r>
            <a:endParaRPr lang="en-US" sz="1800" dirty="0"/>
          </a:p>
          <a:p>
            <a:pPr indent="0" marL="0">
              <a:buNone/>
            </a:pPr>
            <a:r>
              <a:rPr lang="en-US" sz="1400" dirty="0">
                <a:solidFill>
                  <a:schemeClr val="bg2"/>
                </a:solidFill>
              </a:rPr>
              <a:t>Same stack + same team = haan. Warna alag ghar.</a:t>
            </a:r>
            <a:endParaRPr lang="en-US" sz="1800" dirty="0"/>
          </a:p>
        </p:txBody>
      </p:sp>
      <p:sp>
        <p:nvSpPr>
          <p:cNvPr id="8" name="Text 5"/>
          <p:cNvSpPr txBox="1"/>
          <p:nvPr/>
        </p:nvSpPr>
        <p:spPr>
          <a:xfrm>
            <a:off x="548640" y="2606040"/>
            <a:ext cx="731520" cy="731520"/>
          </a:xfrm>
          <a:prstGeom prst="diamond">
            <a:avLst/>
          </a:prstGeom>
          <a:solidFill>
            <a:schemeClr val="accent2"/>
          </a:solidFill>
          <a:ln/>
        </p:spPr>
        <p:txBody>
          <a:bodyPr wrap="square" lIns="0" tIns="0" rIns="0" bIns="0" rtlCol="0" anchor="ctr"/>
          <a:lstStyle/>
          <a:p>
            <a:pPr algn="ctr" indent="0" marL="0">
              <a:buNone/>
            </a:pPr>
            <a:r>
              <a:rPr lang="en-US" sz="2200" b="1" dirty="0">
                <a:solidFill>
                  <a:schemeClr val="tx2"/>
                </a:solidFill>
              </a:rPr>
              <a:t>2</a:t>
            </a:r>
            <a:endParaRPr lang="en-US" sz="2200" dirty="0"/>
          </a:p>
        </p:txBody>
      </p:sp>
      <p:sp>
        <p:nvSpPr>
          <p:cNvPr id="9" name="Text 6"/>
          <p:cNvSpPr txBox="1"/>
          <p:nvPr/>
        </p:nvSpPr>
        <p:spPr>
          <a:xfrm>
            <a:off x="1508760" y="2514600"/>
            <a:ext cx="5669280" cy="914400"/>
          </a:xfrm>
          <a:prstGeom prst="rect">
            <a:avLst/>
          </a:prstGeom>
          <a:noFill/>
          <a:ln/>
        </p:spPr>
        <p:txBody>
          <a:bodyPr wrap="square" lIns="0" tIns="0" rIns="0" bIns="0" rtlCol="0" anchor="ctr"/>
          <a:lstStyle/>
          <a:p>
            <a:pPr indent="0" marL="0">
              <a:buNone/>
            </a:pPr>
            <a:r>
              <a:rPr lang="en-US" sz="1800" b="1" dirty="0">
                <a:solidFill>
                  <a:schemeClr val="bg1"/>
                </a:solidFill>
              </a:rPr>
              <a:t>Setup 10 minute, governance zindagi bhar</a:t>
            </a:r>
            <a:endParaRPr lang="en-US" sz="1800" dirty="0"/>
          </a:p>
          <a:p>
            <a:pPr indent="0" marL="0">
              <a:buNone/>
            </a:pPr>
            <a:r>
              <a:rPr lang="en-US" sz="1400" dirty="0">
                <a:solidFill>
                  <a:schemeClr val="bg2"/>
                </a:solidFill>
              </a:rPr>
              <a:t>Staging, plugin policy, roles, backups: pehle din se.</a:t>
            </a:r>
            <a:endParaRPr lang="en-US" sz="1800" dirty="0"/>
          </a:p>
        </p:txBody>
      </p:sp>
      <p:sp>
        <p:nvSpPr>
          <p:cNvPr id="10" name="Text 7"/>
          <p:cNvSpPr txBox="1"/>
          <p:nvPr/>
        </p:nvSpPr>
        <p:spPr>
          <a:xfrm>
            <a:off x="548640" y="3794760"/>
            <a:ext cx="731520" cy="731520"/>
          </a:xfrm>
          <a:prstGeom prst="diamond">
            <a:avLst/>
          </a:prstGeom>
          <a:solidFill>
            <a:schemeClr val="accent2"/>
          </a:solidFill>
          <a:ln/>
        </p:spPr>
        <p:txBody>
          <a:bodyPr wrap="square" lIns="0" tIns="0" rIns="0" bIns="0" rtlCol="0" anchor="ctr"/>
          <a:lstStyle/>
          <a:p>
            <a:pPr algn="ctr" indent="0" marL="0">
              <a:buNone/>
            </a:pPr>
            <a:r>
              <a:rPr lang="en-US" sz="2200" b="1" dirty="0">
                <a:solidFill>
                  <a:schemeClr val="tx2"/>
                </a:solidFill>
              </a:rPr>
              <a:t>3</a:t>
            </a:r>
            <a:endParaRPr lang="en-US" sz="2200" dirty="0"/>
          </a:p>
        </p:txBody>
      </p:sp>
      <p:sp>
        <p:nvSpPr>
          <p:cNvPr id="11" name="Text 8"/>
          <p:cNvSpPr txBox="1"/>
          <p:nvPr/>
        </p:nvSpPr>
        <p:spPr>
          <a:xfrm>
            <a:off x="1508760" y="3703320"/>
            <a:ext cx="5669280" cy="914400"/>
          </a:xfrm>
          <a:prstGeom prst="rect">
            <a:avLst/>
          </a:prstGeom>
          <a:noFill/>
          <a:ln/>
        </p:spPr>
        <p:txBody>
          <a:bodyPr wrap="square" lIns="0" tIns="0" rIns="0" bIns="0" rtlCol="0" anchor="ctr"/>
          <a:lstStyle/>
          <a:p>
            <a:pPr indent="0" marL="0">
              <a:buNone/>
            </a:pPr>
            <a:r>
              <a:rPr lang="en-US" sz="1800" b="1" dirty="0">
                <a:solidFill>
                  <a:schemeClr val="bg1"/>
                </a:solidFill>
              </a:rPr>
              <a:t>Scale pe cache, cron aur WP-CLI hi asli dost</a:t>
            </a:r>
            <a:endParaRPr lang="en-US" sz="1800" dirty="0"/>
          </a:p>
          <a:p>
            <a:pPr indent="0" marL="0">
              <a:buNone/>
            </a:pPr>
            <a:r>
              <a:rPr lang="en-US" sz="1400" dirty="0">
                <a:solidFill>
                  <a:schemeClr val="bg2"/>
                </a:solidFill>
              </a:rPr>
              <a:t>Object cache, real cron, --network &amp; --url.</a:t>
            </a:r>
            <a:endParaRPr lang="en-US" sz="1800" dirty="0"/>
          </a:p>
        </p:txBody>
      </p:sp>
      <p:sp>
        <p:nvSpPr>
          <p:cNvPr id="12" name="Text 9"/>
          <p:cNvSpPr txBox="1"/>
          <p:nvPr/>
        </p:nvSpPr>
        <p:spPr>
          <a:xfrm>
            <a:off x="548640" y="4983480"/>
            <a:ext cx="6675120" cy="502920"/>
          </a:xfrm>
          <a:prstGeom prst="rect">
            <a:avLst/>
          </a:prstGeom>
          <a:noFill/>
          <a:ln/>
        </p:spPr>
        <p:txBody>
          <a:bodyPr wrap="square" lIns="0" tIns="0" rIns="0" bIns="0" rtlCol="0" anchor="ctr"/>
          <a:lstStyle/>
          <a:p>
            <a:pPr indent="0" marL="0">
              <a:buNone/>
            </a:pPr>
            <a:r>
              <a:rPr lang="en-US" sz="2400" b="1" dirty="0">
                <a:solidFill>
                  <a:schemeClr val="accent2"/>
                </a:solidFill>
              </a:rPr>
              <a:t>Dhanyavaad! Sawaal poochho, sharmao mat.</a:t>
            </a:r>
            <a:endParaRPr lang="en-US" sz="2400" dirty="0"/>
          </a:p>
        </p:txBody>
      </p:sp>
      <p:sp>
        <p:nvSpPr>
          <p:cNvPr id="13" name="Text 10"/>
          <p:cNvSpPr txBox="1"/>
          <p:nvPr/>
        </p:nvSpPr>
        <p:spPr>
          <a:xfrm>
            <a:off x="548640" y="5532120"/>
            <a:ext cx="6675120" cy="685800"/>
          </a:xfrm>
          <a:prstGeom prst="rect">
            <a:avLst/>
          </a:prstGeom>
          <a:noFill/>
          <a:ln/>
        </p:spPr>
        <p:txBody>
          <a:bodyPr wrap="square" lIns="0" tIns="0" rIns="0" bIns="0" rtlCol="0" anchor="ctr"/>
          <a:lstStyle/>
          <a:p>
            <a:pPr indent="0" marL="0">
              <a:buNone/>
            </a:pPr>
            <a:r>
              <a:rPr lang="en-US" sz="15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profiles.wordpress.org/prathameshp</a:t>
            </a:r>
            <a:endParaRPr lang="en-US" sz="1500" dirty="0"/>
          </a:p>
          <a:p>
            <a:pPr indent="0" marL="0">
              <a:buNone/>
            </a:pPr>
            <a:r>
              <a:rPr lang="en-US" sz="1500"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rajasthan.wordcamp.org/2026</a:t>
            </a:r>
            <a:endParaRPr lang="en-US" sz="1500" dirty="0"/>
          </a:p>
        </p:txBody>
      </p:sp>
      <p:sp>
        <p:nvSpPr>
          <p:cNvPr id="14" name="Text 11"/>
          <p:cNvSpPr txBox="1"/>
          <p:nvPr/>
        </p:nvSpPr>
        <p:spPr>
          <a:xfrm>
            <a:off x="8503920" y="5989320"/>
            <a:ext cx="2011680" cy="365760"/>
          </a:xfrm>
          <a:prstGeom prst="rect">
            <a:avLst/>
          </a:prstGeom>
          <a:noFill/>
          <a:ln/>
        </p:spPr>
        <p:txBody>
          <a:bodyPr wrap="square" lIns="0" tIns="0" rIns="0" bIns="0" rtlCol="0" anchor="ctr"/>
          <a:lstStyle/>
          <a:p>
            <a:pPr algn="ctr" indent="0" marL="0">
              <a:buNone/>
            </a:pPr>
            <a:r>
              <a:rPr lang="en-US" sz="1600" b="1" dirty="0">
                <a:solidFill>
                  <a:schemeClr val="accent2"/>
                </a:solidFill>
              </a:rPr>
              <a:t>#wcrajasthan</a:t>
            </a:r>
            <a:endParaRPr lang="en-US" sz="1600" dirty="0"/>
          </a:p>
        </p:txBody>
      </p:sp>
      <p:sp>
        <p:nvSpPr>
          <p:cNvPr id="15" name="Back to the menu button"/>
          <p:cNvSpPr txBox="1"/>
          <p:nvPr/>
        </p:nvSpPr>
        <p:spPr>
          <a:xfrm>
            <a:off x="10378440" y="6336792"/>
            <a:ext cx="128016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2"/>
                </a:solidFill>
              </a:rPr>
              <a:t>☰  Menu</a:t>
            </a:r>
            <a:endParaRPr lang="en-US" sz="1100" dirty="0"/>
          </a:p>
        </p:txBody>
      </p:sp>
      <p:sp>
        <p:nvSpPr>
          <p:cNvPr id="16" name="Link: Back to the menu">
            <a:hlinkClick r:id="rId4" tooltip="Back to the menu" action="ppaction://hlinksldjump"/>
          </p:cNvPr>
          <p:cNvSpPr/>
          <p:nvPr/>
        </p:nvSpPr>
        <p:spPr>
          <a:xfrm>
            <a:off x="10378440" y="6336792"/>
            <a:ext cx="1280160" cy="384048"/>
          </a:xfrm>
          <a:prstGeom prst="rect">
            <a:avLst/>
          </a:prstGeom>
          <a:solidFill>
            <a:schemeClr val="bg1">
              <a:alpha val="0"/>
            </a:schemeClr>
          </a:solidFill>
          <a:ln/>
        </p:spPr>
      </p:sp>
    </p:spTree>
  </p:cSld>
  <p:clrMapOvr>
    <a:masterClrMapping/>
  </p:clrMapOvr>
</p:sld>
</file>

<file path=ppt/theme/theme1.xml><?xml version="1.0" encoding="utf-8"?>
<a:theme xmlns:a="http://schemas.openxmlformats.org/drawingml/2006/main" name="WordCamp Rajasthan 2026">
  <a:themeElements>
    <a:clrScheme name="WordCamp Rajasthan 2026">
      <a:dk1>
        <a:srgbClr val="231F20"/>
      </a:dk1>
      <a:lt1>
        <a:srgbClr val="FFFFFF"/>
      </a:lt1>
      <a:dk2>
        <a:srgbClr val="0D2343"/>
      </a:dk2>
      <a:lt2>
        <a:srgbClr val="FFFAF4"/>
      </a:lt2>
      <a:accent1>
        <a:srgbClr val="C33A19"/>
      </a:accent1>
      <a:accent2>
        <a:srgbClr val="E39D1C"/>
      </a:accent2>
      <a:accent3>
        <a:srgbClr val="049395"/>
      </a:accent3>
      <a:accent4>
        <a:srgbClr val="CE185B"/>
      </a:accent4>
      <a:accent5>
        <a:srgbClr val="6B625E"/>
      </a:accent5>
      <a:accent6>
        <a:srgbClr val="166534"/>
      </a:accent6>
      <a:hlink>
        <a:srgbClr val="049395"/>
      </a:hlink>
      <a:folHlink>
        <a:srgbClr val="CE185B"/>
      </a:folHlink>
    </a:clrScheme>
    <a:fontScheme name="WordCamp Rajasthan 2026">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WordCamp Rajasthan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 WordPress, Hazaar Sites — WordPress Multisite</dc:title>
  <dc:subject>WordCamp Rajasthan 2026</dc:subject>
  <dc:creator>Prathamesh Palve</dc:creator>
  <cp:lastModifiedBy>Prathamesh Palve</cp:lastModifiedBy>
  <cp:revision>1</cp:revision>
  <dcterms:created xsi:type="dcterms:W3CDTF">2026-10-03T12:46:16Z</dcterms:created>
  <dcterms:modified xsi:type="dcterms:W3CDTF">2026-10-03T12:46:16Z</dcterms:modified>
</cp:coreProperties>
</file>